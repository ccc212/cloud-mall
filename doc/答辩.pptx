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2"/>
    <p:sldId id="271" r:id="rId3"/>
    <p:sldId id="258" r:id="rId4"/>
    <p:sldId id="274" r:id="rId5"/>
    <p:sldId id="275" r:id="rId6"/>
    <p:sldId id="276" r:id="rId7"/>
    <p:sldId id="277" r:id="rId8"/>
    <p:sldId id="278" r:id="rId9"/>
    <p:sldId id="279" r:id="rId10"/>
    <p:sldId id="273" r:id="rId11"/>
    <p:sldId id="259" r:id="rId12"/>
    <p:sldId id="260" r:id="rId13"/>
    <p:sldId id="270" r:id="rId14"/>
    <p:sldId id="261" r:id="rId15"/>
    <p:sldId id="262" r:id="rId16"/>
    <p:sldId id="263" r:id="rId17"/>
    <p:sldId id="264" r:id="rId18"/>
    <p:sldId id="272" r:id="rId19"/>
    <p:sldId id="266" r:id="rId20"/>
    <p:sldId id="267" r:id="rId21"/>
    <p:sldId id="268" r:id="rId22"/>
    <p:sldId id="269" r:id="rId23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202C"/>
    <a:srgbClr val="F6AD55"/>
    <a:srgbClr val="4FD1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159" autoAdjust="0"/>
  </p:normalViewPr>
  <p:slideViewPr>
    <p:cSldViewPr snapToGrid="0" snapToObjects="1">
      <p:cViewPr varScale="1">
        <p:scale>
          <a:sx n="79" d="100"/>
          <a:sy n="79" d="100"/>
        </p:scale>
        <p:origin x="16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79A10-78C7-A407-3382-85011F0DD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8D35E-4084-CD6C-001D-EA57B0FF8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9D9532-03D7-4A52-A52F-C99240D3E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A45A7-5B70-D464-06DD-1EC3DF726E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18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58C0B-AF5B-1C6A-BB36-7D4E66462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E272E-6CDE-F980-3522-5AFEB8763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0BE18-E5E1-91F5-2BD7-90498129B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01446-4AFE-EFC6-BE9C-A7274898F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091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EA312-C663-535F-9CE0-EFB45D1AF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72BD8-B8D0-674B-D620-42A16982D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03F4E-F5A4-1670-26A9-612120D21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64391-CCBA-155C-4232-9DC5EE52D3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02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BBA22-C1D9-F084-7895-7553359DF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7C1E0-54B4-C05E-5832-56C48BAF7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E57DA-1685-8038-EE15-5BD77A698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3D2AA-E279-E8E1-1E3D-38D1837745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1530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2D0AD-66F5-B83C-3D35-479956878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D4E5C-6C64-21D1-A274-592301365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ABE68-B566-DFB7-D77F-7D49F9A93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0DCBC-79A1-D41C-F3DE-A62D8D25BF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5825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50DC4-9B4F-6C6A-A105-659257711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D287C-CC5A-5919-A06C-43910C8F4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6EE34-0A31-424A-83BE-BC9CC7B52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44F24-73DE-4EC1-A37D-FF474197D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0037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notesSlide" Target="../notesSlides/notesSlide10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10" Type="http://schemas.openxmlformats.org/officeDocument/2006/relationships/tags" Target="../tags/tag26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notesSlide" Target="../notesSlides/notesSlide18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34.xml"/><Relationship Id="rId16" Type="http://schemas.openxmlformats.org/officeDocument/2006/relationships/tags" Target="../tags/tag48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0485" y="0"/>
            <a:ext cx="12262485" cy="6888480"/>
          </a:xfrm>
          <a:prstGeom prst="rect">
            <a:avLst/>
          </a:prstGeom>
          <a:solidFill>
            <a:srgbClr val="FFFFFF">
              <a:alpha val="14902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2743158" y="2117441"/>
            <a:ext cx="6853912" cy="19380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2743158" y="2117441"/>
            <a:ext cx="6853912" cy="19380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尚品云购电子商城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19562" y="5556888"/>
            <a:ext cx="390019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 err="1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叶嘉谦 赖明轩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80737" y="4055521"/>
            <a:ext cx="178755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718367" y="5200549"/>
            <a:ext cx="2684780" cy="4622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4219563" y="5009690"/>
            <a:ext cx="3900194" cy="46228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</a:t>
            </a:r>
            <a:r>
              <a:rPr lang="en-US" sz="280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：2025/01/16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090637" y="505573"/>
            <a:ext cx="142469" cy="142469"/>
          </a:xfrm>
          <a:prstGeom prst="ellipse">
            <a:avLst/>
          </a:prstGeom>
          <a:solidFill>
            <a:srgbClr val="3C613C"/>
          </a:solidFill>
        </p:spPr>
      </p:sp>
      <p:sp>
        <p:nvSpPr>
          <p:cNvPr id="10" name="Shape 8"/>
          <p:cNvSpPr/>
          <p:nvPr/>
        </p:nvSpPr>
        <p:spPr>
          <a:xfrm>
            <a:off x="11284750" y="505573"/>
            <a:ext cx="142469" cy="142469"/>
          </a:xfrm>
          <a:prstGeom prst="ellipse">
            <a:avLst/>
          </a:prstGeom>
          <a:solidFill>
            <a:srgbClr val="83B383"/>
          </a:solidFill>
        </p:spPr>
      </p:sp>
      <p:sp>
        <p:nvSpPr>
          <p:cNvPr id="11" name="Shape 9"/>
          <p:cNvSpPr/>
          <p:nvPr/>
        </p:nvSpPr>
        <p:spPr>
          <a:xfrm>
            <a:off x="11478863" y="505573"/>
            <a:ext cx="142469" cy="142469"/>
          </a:xfrm>
          <a:prstGeom prst="ellipse">
            <a:avLst/>
          </a:prstGeom>
          <a:solidFill>
            <a:srgbClr val="3C613C"/>
          </a:solidFill>
        </p:spPr>
      </p:sp>
      <p:sp>
        <p:nvSpPr>
          <p:cNvPr id="12" name="Shape 10"/>
          <p:cNvSpPr/>
          <p:nvPr/>
        </p:nvSpPr>
        <p:spPr>
          <a:xfrm>
            <a:off x="11672976" y="505573"/>
            <a:ext cx="142469" cy="142469"/>
          </a:xfrm>
          <a:prstGeom prst="ellipse">
            <a:avLst/>
          </a:prstGeom>
          <a:solidFill>
            <a:srgbClr val="83B383"/>
          </a:solidFill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81000" y="1219200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0" y="0"/>
                </a:moveTo>
                <a:lnTo>
                  <a:pt x="914400" y="0"/>
                </a:lnTo>
                <a:lnTo>
                  <a:pt x="914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4" name="Text 1"/>
          <p:cNvSpPr/>
          <p:nvPr/>
        </p:nvSpPr>
        <p:spPr>
          <a:xfrm>
            <a:off x="381000" y="1447800"/>
            <a:ext cx="46767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13360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6" name="Shape 3"/>
          <p:cNvSpPr/>
          <p:nvPr>
            <p:custDataLst>
              <p:tags r:id="rId1"/>
            </p:custDataLst>
          </p:nvPr>
        </p:nvSpPr>
        <p:spPr>
          <a:xfrm>
            <a:off x="600469" y="396871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7" name="Text 4"/>
          <p:cNvSpPr/>
          <p:nvPr>
            <p:custDataLst>
              <p:tags r:id="rId2"/>
            </p:custDataLst>
          </p:nvPr>
        </p:nvSpPr>
        <p:spPr>
          <a:xfrm>
            <a:off x="759537" y="4102066"/>
            <a:ext cx="438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1362469" y="3987766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项目概览</a:t>
            </a: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362469" y="4292447"/>
            <a:ext cx="1000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与核心职责</a:t>
            </a:r>
            <a:endParaRPr lang="en-US" sz="1600" dirty="0"/>
          </a:p>
        </p:txBody>
      </p:sp>
      <p:sp>
        <p:nvSpPr>
          <p:cNvPr id="14" name="Shape 11"/>
          <p:cNvSpPr/>
          <p:nvPr>
            <p:custDataLst>
              <p:tags r:id="rId5"/>
            </p:custDataLst>
          </p:nvPr>
        </p:nvSpPr>
        <p:spPr>
          <a:xfrm>
            <a:off x="3673173" y="401111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15" name="Text 12"/>
          <p:cNvSpPr/>
          <p:nvPr>
            <p:custDataLst>
              <p:tags r:id="rId6"/>
            </p:custDataLst>
          </p:nvPr>
        </p:nvSpPr>
        <p:spPr>
          <a:xfrm>
            <a:off x="3804380" y="4144468"/>
            <a:ext cx="4857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>
            <p:custDataLst>
              <p:tags r:id="rId7"/>
            </p:custDataLst>
          </p:nvPr>
        </p:nvSpPr>
        <p:spPr>
          <a:xfrm>
            <a:off x="4435173" y="4030168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7" name="Text 14"/>
          <p:cNvSpPr/>
          <p:nvPr>
            <p:custDataLst>
              <p:tags r:id="rId8"/>
            </p:custDataLst>
          </p:nvPr>
        </p:nvSpPr>
        <p:spPr>
          <a:xfrm>
            <a:off x="4435173" y="4334849"/>
            <a:ext cx="1000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与业务流程</a:t>
            </a:r>
            <a:endParaRPr lang="en-US" sz="1600" dirty="0"/>
          </a:p>
        </p:txBody>
      </p:sp>
      <p:sp>
        <p:nvSpPr>
          <p:cNvPr id="18" name="Shape 15"/>
          <p:cNvSpPr/>
          <p:nvPr>
            <p:custDataLst>
              <p:tags r:id="rId9"/>
            </p:custDataLst>
          </p:nvPr>
        </p:nvSpPr>
        <p:spPr>
          <a:xfrm>
            <a:off x="6562075" y="396814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19" name="Text 16"/>
          <p:cNvSpPr/>
          <p:nvPr>
            <p:custDataLst>
              <p:tags r:id="rId10"/>
            </p:custDataLst>
          </p:nvPr>
        </p:nvSpPr>
        <p:spPr>
          <a:xfrm>
            <a:off x="6693520" y="4101495"/>
            <a:ext cx="4857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>
            <p:custDataLst>
              <p:tags r:id="rId11"/>
            </p:custDataLst>
          </p:nvPr>
        </p:nvSpPr>
        <p:spPr>
          <a:xfrm>
            <a:off x="7324075" y="398719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技术亮点</a:t>
            </a:r>
            <a:endParaRPr lang="en-US" sz="1600" dirty="0"/>
          </a:p>
        </p:txBody>
      </p:sp>
      <p:sp>
        <p:nvSpPr>
          <p:cNvPr id="21" name="Text 18"/>
          <p:cNvSpPr/>
          <p:nvPr>
            <p:custDataLst>
              <p:tags r:id="rId12"/>
            </p:custDataLst>
          </p:nvPr>
        </p:nvSpPr>
        <p:spPr>
          <a:xfrm>
            <a:off x="7324075" y="4291876"/>
            <a:ext cx="1000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与解决方案</a:t>
            </a:r>
            <a:endParaRPr lang="en-US" sz="1600" dirty="0"/>
          </a:p>
        </p:txBody>
      </p:sp>
      <p:sp>
        <p:nvSpPr>
          <p:cNvPr id="22" name="Shape 19"/>
          <p:cNvSpPr/>
          <p:nvPr>
            <p:custDataLst>
              <p:tags r:id="rId13"/>
            </p:custDataLst>
          </p:nvPr>
        </p:nvSpPr>
        <p:spPr>
          <a:xfrm>
            <a:off x="9450978" y="396228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23" name="Text 20"/>
          <p:cNvSpPr/>
          <p:nvPr>
            <p:custDataLst>
              <p:tags r:id="rId14"/>
            </p:custDataLst>
          </p:nvPr>
        </p:nvSpPr>
        <p:spPr>
          <a:xfrm>
            <a:off x="9580875" y="4095631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>
            <p:custDataLst>
              <p:tags r:id="rId15"/>
            </p:custDataLst>
          </p:nvPr>
        </p:nvSpPr>
        <p:spPr>
          <a:xfrm>
            <a:off x="10212978" y="3981331"/>
            <a:ext cx="1257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问题与解决</a:t>
            </a:r>
            <a:endParaRPr lang="en-US" sz="1600" dirty="0"/>
          </a:p>
        </p:txBody>
      </p:sp>
      <p:sp>
        <p:nvSpPr>
          <p:cNvPr id="25" name="Text 22"/>
          <p:cNvSpPr/>
          <p:nvPr>
            <p:custDataLst>
              <p:tags r:id="rId16"/>
            </p:custDataLst>
          </p:nvPr>
        </p:nvSpPr>
        <p:spPr>
          <a:xfrm>
            <a:off x="10212978" y="4286012"/>
            <a:ext cx="122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思路总结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81000" y="4953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4" name="Text 1"/>
          <p:cNvSpPr/>
          <p:nvPr/>
        </p:nvSpPr>
        <p:spPr>
          <a:xfrm>
            <a:off x="1143000" y="381000"/>
            <a:ext cx="2305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 · PROJECT OVERVIEW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57031"/>
            <a:ext cx="58293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 err="1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项目概览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28267" y="1153168"/>
            <a:ext cx="5695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B2C电商平台的核心架构设计与实现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04800" y="1552158"/>
            <a:ext cx="7383624" cy="1695450"/>
          </a:xfrm>
          <a:custGeom>
            <a:avLst/>
            <a:gdLst/>
            <a:ahLst/>
            <a:cxnLst/>
            <a:rect l="l" t="t" r="r" b="b"/>
            <a:pathLst>
              <a:path w="5581650" h="1695450">
                <a:moveTo>
                  <a:pt x="38100" y="0"/>
                </a:moveTo>
                <a:lnTo>
                  <a:pt x="5467343" y="0"/>
                </a:lnTo>
                <a:cubicBezTo>
                  <a:pt x="5530473" y="0"/>
                  <a:pt x="5581650" y="51177"/>
                  <a:pt x="5581650" y="114307"/>
                </a:cubicBezTo>
                <a:lnTo>
                  <a:pt x="5581650" y="1581143"/>
                </a:lnTo>
                <a:cubicBezTo>
                  <a:pt x="5581650" y="1644273"/>
                  <a:pt x="5530473" y="1695450"/>
                  <a:pt x="5467343" y="1695450"/>
                </a:cubicBez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8" name="Shape 5"/>
          <p:cNvSpPr/>
          <p:nvPr/>
        </p:nvSpPr>
        <p:spPr>
          <a:xfrm>
            <a:off x="304800" y="1552158"/>
            <a:ext cx="38100" cy="1695450"/>
          </a:xfrm>
          <a:custGeom>
            <a:avLst/>
            <a:gdLst/>
            <a:ahLst/>
            <a:cxnLst/>
            <a:rect l="l" t="t" r="r" b="b"/>
            <a:pathLst>
              <a:path w="38100" h="1695450">
                <a:moveTo>
                  <a:pt x="38100" y="0"/>
                </a:moveTo>
                <a:lnTo>
                  <a:pt x="38100" y="0"/>
                </a:lnTo>
                <a:lnTo>
                  <a:pt x="38100" y="1695450"/>
                </a:ln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9" name="Shape 6"/>
          <p:cNvSpPr/>
          <p:nvPr/>
        </p:nvSpPr>
        <p:spPr>
          <a:xfrm>
            <a:off x="514350" y="174265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671513" y="187600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11" name="Text 8"/>
          <p:cNvSpPr/>
          <p:nvPr/>
        </p:nvSpPr>
        <p:spPr>
          <a:xfrm>
            <a:off x="1085850" y="1818858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4350" y="2314158"/>
            <a:ext cx="7097874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尚品云购是一个全功能B2C电商平台，支持用户端（浏览、搜索、购物车、下单）和商家端（商品管理、订单管理）的完整业务流程。系统采用微服务架构，专注于解决高并发、海量数据、分布式事务等核心技术挑战。</a:t>
            </a:r>
            <a:endParaRPr lang="en-US" dirty="0"/>
          </a:p>
        </p:txBody>
      </p:sp>
      <p:sp>
        <p:nvSpPr>
          <p:cNvPr id="50" name="Shape 10"/>
          <p:cNvSpPr/>
          <p:nvPr/>
        </p:nvSpPr>
        <p:spPr>
          <a:xfrm>
            <a:off x="304800" y="3440518"/>
            <a:ext cx="5581652" cy="2922181"/>
          </a:xfrm>
          <a:custGeom>
            <a:avLst/>
            <a:gdLst/>
            <a:ahLst/>
            <a:cxnLst/>
            <a:rect l="l" t="t" r="r" b="b"/>
            <a:pathLst>
              <a:path w="5581650" h="1695450">
                <a:moveTo>
                  <a:pt x="38100" y="0"/>
                </a:moveTo>
                <a:lnTo>
                  <a:pt x="5467343" y="0"/>
                </a:lnTo>
                <a:cubicBezTo>
                  <a:pt x="5530473" y="0"/>
                  <a:pt x="5581650" y="51177"/>
                  <a:pt x="5581650" y="114307"/>
                </a:cubicBezTo>
                <a:lnTo>
                  <a:pt x="5581650" y="1581143"/>
                </a:lnTo>
                <a:cubicBezTo>
                  <a:pt x="5581650" y="1644273"/>
                  <a:pt x="5530473" y="1695450"/>
                  <a:pt x="5467343" y="1695450"/>
                </a:cubicBez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51" name="Shape 11"/>
          <p:cNvSpPr/>
          <p:nvPr/>
        </p:nvSpPr>
        <p:spPr>
          <a:xfrm>
            <a:off x="304800" y="3440519"/>
            <a:ext cx="38100" cy="1695450"/>
          </a:xfrm>
          <a:custGeom>
            <a:avLst/>
            <a:gdLst/>
            <a:ahLst/>
            <a:cxnLst/>
            <a:rect l="l" t="t" r="r" b="b"/>
            <a:pathLst>
              <a:path w="38100" h="1695450">
                <a:moveTo>
                  <a:pt x="38100" y="0"/>
                </a:moveTo>
                <a:lnTo>
                  <a:pt x="38100" y="0"/>
                </a:lnTo>
                <a:lnTo>
                  <a:pt x="38100" y="1695450"/>
                </a:ln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52" name="Shape 12"/>
          <p:cNvSpPr/>
          <p:nvPr/>
        </p:nvSpPr>
        <p:spPr>
          <a:xfrm>
            <a:off x="514350" y="363101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</p:spPr>
      </p:sp>
      <p:sp>
        <p:nvSpPr>
          <p:cNvPr id="53" name="Shape 13"/>
          <p:cNvSpPr/>
          <p:nvPr/>
        </p:nvSpPr>
        <p:spPr>
          <a:xfrm>
            <a:off x="635794" y="376436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54" name="Text 14"/>
          <p:cNvSpPr/>
          <p:nvPr/>
        </p:nvSpPr>
        <p:spPr>
          <a:xfrm>
            <a:off x="1085850" y="3620033"/>
            <a:ext cx="1028700" cy="525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叶嘉谦</a:t>
            </a:r>
            <a:endParaRPr lang="en-US" sz="1600" dirty="0"/>
          </a:p>
        </p:txBody>
      </p:sp>
      <p:sp>
        <p:nvSpPr>
          <p:cNvPr id="55" name="Text 15"/>
          <p:cNvSpPr/>
          <p:nvPr/>
        </p:nvSpPr>
        <p:spPr>
          <a:xfrm>
            <a:off x="514350" y="4202519"/>
            <a:ext cx="5257802" cy="1280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负责</a:t>
            </a:r>
            <a:r>
              <a:rPr lang="zh-CN" alt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订单、支付</a:t>
            </a:r>
            <a:r>
              <a:rPr lang="en-US" sz="1400" dirty="0" err="1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模块的设计、开发与优化</a:t>
            </a:r>
            <a:r>
              <a:rPr 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zh-CN" alt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</a:t>
            </a:r>
            <a:r>
              <a:rPr lang="en-US" altLang="zh-CN" sz="1400" dirty="0" err="1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Seata</a:t>
            </a:r>
            <a:r>
              <a:rPr lang="zh-CN" alt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框架进行分布式事务管理，采用</a:t>
            </a:r>
            <a:r>
              <a:rPr lang="en-US" altLang="zh-CN" sz="1400" dirty="0" err="1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RocketMQ</a:t>
            </a:r>
            <a:r>
              <a:rPr lang="zh-CN" alt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对于异步消息的处理，负责网关配置和服务实现。参与设计数据库表，以及整理需求，对接编码接口。</a:t>
            </a:r>
            <a:endParaRPr lang="en-US" dirty="0"/>
          </a:p>
        </p:txBody>
      </p:sp>
      <p:sp>
        <p:nvSpPr>
          <p:cNvPr id="57" name="Shape 10"/>
          <p:cNvSpPr/>
          <p:nvPr/>
        </p:nvSpPr>
        <p:spPr>
          <a:xfrm>
            <a:off x="6305550" y="3440519"/>
            <a:ext cx="5581652" cy="2922181"/>
          </a:xfrm>
          <a:custGeom>
            <a:avLst/>
            <a:gdLst/>
            <a:ahLst/>
            <a:cxnLst/>
            <a:rect l="l" t="t" r="r" b="b"/>
            <a:pathLst>
              <a:path w="5581650" h="1695450">
                <a:moveTo>
                  <a:pt x="38100" y="0"/>
                </a:moveTo>
                <a:lnTo>
                  <a:pt x="5467343" y="0"/>
                </a:lnTo>
                <a:cubicBezTo>
                  <a:pt x="5530473" y="0"/>
                  <a:pt x="5581650" y="51177"/>
                  <a:pt x="5581650" y="114307"/>
                </a:cubicBezTo>
                <a:lnTo>
                  <a:pt x="5581650" y="1581143"/>
                </a:lnTo>
                <a:cubicBezTo>
                  <a:pt x="5581650" y="1644273"/>
                  <a:pt x="5530473" y="1695450"/>
                  <a:pt x="5467343" y="1695450"/>
                </a:cubicBez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58" name="Shape 11"/>
          <p:cNvSpPr/>
          <p:nvPr/>
        </p:nvSpPr>
        <p:spPr>
          <a:xfrm>
            <a:off x="6305550" y="3440520"/>
            <a:ext cx="38100" cy="1695450"/>
          </a:xfrm>
          <a:custGeom>
            <a:avLst/>
            <a:gdLst/>
            <a:ahLst/>
            <a:cxnLst/>
            <a:rect l="l" t="t" r="r" b="b"/>
            <a:pathLst>
              <a:path w="38100" h="1695450">
                <a:moveTo>
                  <a:pt x="38100" y="0"/>
                </a:moveTo>
                <a:lnTo>
                  <a:pt x="38100" y="0"/>
                </a:lnTo>
                <a:lnTo>
                  <a:pt x="38100" y="1695450"/>
                </a:lnTo>
                <a:lnTo>
                  <a:pt x="38100" y="1695450"/>
                </a:lnTo>
                <a:cubicBezTo>
                  <a:pt x="17072" y="1695450"/>
                  <a:pt x="0" y="1678378"/>
                  <a:pt x="0" y="1657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59" name="Shape 12"/>
          <p:cNvSpPr/>
          <p:nvPr/>
        </p:nvSpPr>
        <p:spPr>
          <a:xfrm>
            <a:off x="6515100" y="36310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</p:spPr>
      </p:sp>
      <p:sp>
        <p:nvSpPr>
          <p:cNvPr id="60" name="Shape 13"/>
          <p:cNvSpPr/>
          <p:nvPr/>
        </p:nvSpPr>
        <p:spPr>
          <a:xfrm>
            <a:off x="6636544" y="37643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61" name="Text 14"/>
          <p:cNvSpPr/>
          <p:nvPr/>
        </p:nvSpPr>
        <p:spPr>
          <a:xfrm>
            <a:off x="7086600" y="3620034"/>
            <a:ext cx="1028700" cy="525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赖明轩</a:t>
            </a:r>
            <a:endParaRPr lang="en-US" sz="1600" dirty="0"/>
          </a:p>
        </p:txBody>
      </p:sp>
      <p:sp>
        <p:nvSpPr>
          <p:cNvPr id="62" name="Text 15"/>
          <p:cNvSpPr/>
          <p:nvPr/>
        </p:nvSpPr>
        <p:spPr>
          <a:xfrm>
            <a:off x="6515100" y="4202520"/>
            <a:ext cx="5257802" cy="1280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负责</a:t>
            </a:r>
            <a:r>
              <a:rPr lang="zh-CN" alt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商品核心</a:t>
            </a:r>
            <a:r>
              <a:rPr lang="en-US" sz="1400" dirty="0" err="1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模块的设计、开发</a:t>
            </a:r>
            <a:r>
              <a:rPr lang="zh-CN" alt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，购物、文件上传及海量搜索服务的实现。创建和管理项目仓库，解决代码冲突，保证编码的质量。搭建后台环境，配置</a:t>
            </a:r>
            <a:r>
              <a:rPr lang="en-US" altLang="zh-CN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docker</a:t>
            </a:r>
            <a:r>
              <a:rPr lang="zh-CN" altLang="en-US" sz="14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，建库建表。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3F956-5018-74BE-7115-B673DB919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62EAAAA8-4F6B-5345-769F-47FA5CC09E5E}"/>
              </a:ext>
            </a:extLst>
          </p:cNvPr>
          <p:cNvSpPr/>
          <p:nvPr/>
        </p:nvSpPr>
        <p:spPr>
          <a:xfrm>
            <a:off x="381000" y="4953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A966732-7000-1EF1-4C18-2CB0A69E6937}"/>
              </a:ext>
            </a:extLst>
          </p:cNvPr>
          <p:cNvSpPr/>
          <p:nvPr/>
        </p:nvSpPr>
        <p:spPr>
          <a:xfrm>
            <a:off x="1143000" y="381000"/>
            <a:ext cx="2305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 · PROJECT OVERVIEW</a:t>
            </a: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2EC2116-1306-90EE-27BF-19287C687955}"/>
              </a:ext>
            </a:extLst>
          </p:cNvPr>
          <p:cNvSpPr/>
          <p:nvPr/>
        </p:nvSpPr>
        <p:spPr>
          <a:xfrm>
            <a:off x="381000" y="657031"/>
            <a:ext cx="58293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3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商城后台</a:t>
            </a:r>
            <a:endParaRPr lang="en-US" sz="1600" dirty="0"/>
          </a:p>
        </p:txBody>
      </p:sp>
      <p:sp>
        <p:nvSpPr>
          <p:cNvPr id="60" name="Shape 13">
            <a:extLst>
              <a:ext uri="{FF2B5EF4-FFF2-40B4-BE49-F238E27FC236}">
                <a16:creationId xmlns:a16="http://schemas.microsoft.com/office/drawing/2014/main" id="{529877C6-8B6F-EB89-30D8-056169B8C0DD}"/>
              </a:ext>
            </a:extLst>
          </p:cNvPr>
          <p:cNvSpPr/>
          <p:nvPr/>
        </p:nvSpPr>
        <p:spPr>
          <a:xfrm>
            <a:off x="2627380" y="113705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50595C6-0E16-5A62-EDF9-C7642036934F}"/>
              </a:ext>
            </a:extLst>
          </p:cNvPr>
          <p:cNvSpPr/>
          <p:nvPr/>
        </p:nvSpPr>
        <p:spPr>
          <a:xfrm>
            <a:off x="2933700" y="992718"/>
            <a:ext cx="1028700" cy="525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赖明轩</a:t>
            </a:r>
            <a:endParaRPr lang="en-US" sz="16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E66D06B-C4EE-439C-2BC8-63C9CD1BF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1532231"/>
            <a:ext cx="10397247" cy="509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89265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4DF34-C585-AF02-240A-A3E32C349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B2E469D3-6196-038F-BEA7-45EB3E5DE59D}"/>
              </a:ext>
            </a:extLst>
          </p:cNvPr>
          <p:cNvSpPr/>
          <p:nvPr/>
        </p:nvSpPr>
        <p:spPr>
          <a:xfrm>
            <a:off x="381000" y="4953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56926E2-9B3F-861B-710D-5FCF7A2C20E5}"/>
              </a:ext>
            </a:extLst>
          </p:cNvPr>
          <p:cNvSpPr/>
          <p:nvPr/>
        </p:nvSpPr>
        <p:spPr>
          <a:xfrm>
            <a:off x="1143000" y="381000"/>
            <a:ext cx="2305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 · PROJECT OVERVIEW</a:t>
            </a: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F5FE6CF-3A50-E278-4B43-35AA9B4D7A7B}"/>
              </a:ext>
            </a:extLst>
          </p:cNvPr>
          <p:cNvSpPr/>
          <p:nvPr/>
        </p:nvSpPr>
        <p:spPr>
          <a:xfrm>
            <a:off x="381000" y="657031"/>
            <a:ext cx="58293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3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商城后台</a:t>
            </a:r>
            <a:endParaRPr lang="en-US" sz="1600" dirty="0"/>
          </a:p>
        </p:txBody>
      </p:sp>
      <p:sp>
        <p:nvSpPr>
          <p:cNvPr id="60" name="Shape 13">
            <a:extLst>
              <a:ext uri="{FF2B5EF4-FFF2-40B4-BE49-F238E27FC236}">
                <a16:creationId xmlns:a16="http://schemas.microsoft.com/office/drawing/2014/main" id="{952CFD53-7C5B-E0D4-7FDA-D4B8BD79274F}"/>
              </a:ext>
            </a:extLst>
          </p:cNvPr>
          <p:cNvSpPr/>
          <p:nvPr/>
        </p:nvSpPr>
        <p:spPr>
          <a:xfrm>
            <a:off x="2627380" y="113705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FBDFE300-E745-F7E9-2556-BE09E60EF348}"/>
              </a:ext>
            </a:extLst>
          </p:cNvPr>
          <p:cNvSpPr/>
          <p:nvPr/>
        </p:nvSpPr>
        <p:spPr>
          <a:xfrm>
            <a:off x="2933700" y="992718"/>
            <a:ext cx="1028700" cy="525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赖明轩</a:t>
            </a:r>
            <a:endParaRPr lang="en-US" sz="1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624177-CD57-D063-C51C-F204E62EB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84" y="1635867"/>
            <a:ext cx="10090826" cy="504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6405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190C5-A74F-0396-2695-D8520DA64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B7A10741-9307-10BC-71FB-6E60BBB4F4A9}"/>
              </a:ext>
            </a:extLst>
          </p:cNvPr>
          <p:cNvSpPr/>
          <p:nvPr/>
        </p:nvSpPr>
        <p:spPr>
          <a:xfrm>
            <a:off x="381000" y="4953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6C3931F-16BA-B028-7592-6407DF78F9CC}"/>
              </a:ext>
            </a:extLst>
          </p:cNvPr>
          <p:cNvSpPr/>
          <p:nvPr/>
        </p:nvSpPr>
        <p:spPr>
          <a:xfrm>
            <a:off x="1143000" y="381000"/>
            <a:ext cx="2305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 · PROJECT OVERVIEW</a:t>
            </a: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C196176-F71E-39AA-3D60-AA6EA30A93F3}"/>
              </a:ext>
            </a:extLst>
          </p:cNvPr>
          <p:cNvSpPr/>
          <p:nvPr/>
        </p:nvSpPr>
        <p:spPr>
          <a:xfrm>
            <a:off x="381000" y="657031"/>
            <a:ext cx="58293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3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商城后台</a:t>
            </a:r>
            <a:endParaRPr lang="en-US" sz="1600" dirty="0"/>
          </a:p>
        </p:txBody>
      </p:sp>
      <p:sp>
        <p:nvSpPr>
          <p:cNvPr id="60" name="Shape 13">
            <a:extLst>
              <a:ext uri="{FF2B5EF4-FFF2-40B4-BE49-F238E27FC236}">
                <a16:creationId xmlns:a16="http://schemas.microsoft.com/office/drawing/2014/main" id="{2CECA96C-E8FB-7EA1-D1DE-FDB63A342D50}"/>
              </a:ext>
            </a:extLst>
          </p:cNvPr>
          <p:cNvSpPr/>
          <p:nvPr/>
        </p:nvSpPr>
        <p:spPr>
          <a:xfrm>
            <a:off x="2627380" y="113705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BD3D28C6-334C-C537-60BF-2093F9CFE2FD}"/>
              </a:ext>
            </a:extLst>
          </p:cNvPr>
          <p:cNvSpPr/>
          <p:nvPr/>
        </p:nvSpPr>
        <p:spPr>
          <a:xfrm>
            <a:off x="2933700" y="992718"/>
            <a:ext cx="1028700" cy="525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赖明轩</a:t>
            </a:r>
            <a:endParaRPr lang="en-US" sz="16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94BBE8-972F-127D-76A4-3F00F22A6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1525622"/>
            <a:ext cx="10403732" cy="520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99699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7FBBBD-DA3A-A94E-4DC7-8C715A7E3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283683A3-6606-E8EB-AF71-D0E484C88597}"/>
              </a:ext>
            </a:extLst>
          </p:cNvPr>
          <p:cNvSpPr/>
          <p:nvPr/>
        </p:nvSpPr>
        <p:spPr>
          <a:xfrm>
            <a:off x="381000" y="4953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872040F-9C0B-D4A5-50C3-80C6DFF720C1}"/>
              </a:ext>
            </a:extLst>
          </p:cNvPr>
          <p:cNvSpPr/>
          <p:nvPr/>
        </p:nvSpPr>
        <p:spPr>
          <a:xfrm>
            <a:off x="1143000" y="381000"/>
            <a:ext cx="2305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0" cap="none" spc="68" normalizeH="0" baseline="0" noProof="0" dirty="0">
                <a:ln>
                  <a:noFill/>
                </a:ln>
                <a:solidFill>
                  <a:srgbClr val="4FD1C5"/>
                </a:solidFill>
                <a:effectLst/>
                <a:uLnTx/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01 · PROJECT OVERVIEW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A51EF66-B572-56F1-3034-4988165FB3D5}"/>
              </a:ext>
            </a:extLst>
          </p:cNvPr>
          <p:cNvSpPr/>
          <p:nvPr/>
        </p:nvSpPr>
        <p:spPr>
          <a:xfrm>
            <a:off x="381000" y="657031"/>
            <a:ext cx="58293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商城前台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Shape 13">
            <a:extLst>
              <a:ext uri="{FF2B5EF4-FFF2-40B4-BE49-F238E27FC236}">
                <a16:creationId xmlns:a16="http://schemas.microsoft.com/office/drawing/2014/main" id="{891CCBAE-063F-69C0-D25A-62489A7CEBD4}"/>
              </a:ext>
            </a:extLst>
          </p:cNvPr>
          <p:cNvSpPr/>
          <p:nvPr/>
        </p:nvSpPr>
        <p:spPr>
          <a:xfrm>
            <a:off x="2627380" y="113705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7FB75010-C078-E967-B06D-A0B3CFAD5BE7}"/>
              </a:ext>
            </a:extLst>
          </p:cNvPr>
          <p:cNvSpPr/>
          <p:nvPr/>
        </p:nvSpPr>
        <p:spPr>
          <a:xfrm>
            <a:off x="2933700" y="992718"/>
            <a:ext cx="1028700" cy="525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赖明轩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90318E-349C-2A1B-4EF1-C35AFA3D0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330" y="1518054"/>
            <a:ext cx="10236740" cy="511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96807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C1849-8B84-6702-6EC7-75BE441E2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41042FC2-F57E-2FF0-C46C-EE7D305A3D49}"/>
              </a:ext>
            </a:extLst>
          </p:cNvPr>
          <p:cNvSpPr/>
          <p:nvPr/>
        </p:nvSpPr>
        <p:spPr>
          <a:xfrm>
            <a:off x="381000" y="4953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78C3FBE-0A9A-59C2-47AF-056F35547847}"/>
              </a:ext>
            </a:extLst>
          </p:cNvPr>
          <p:cNvSpPr/>
          <p:nvPr/>
        </p:nvSpPr>
        <p:spPr>
          <a:xfrm>
            <a:off x="1143000" y="381000"/>
            <a:ext cx="2305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0" cap="none" spc="68" normalizeH="0" baseline="0" noProof="0" dirty="0">
                <a:ln>
                  <a:noFill/>
                </a:ln>
                <a:solidFill>
                  <a:srgbClr val="4FD1C5"/>
                </a:solidFill>
                <a:effectLst/>
                <a:uLnTx/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01 · PROJECT OVERVIEW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259CF40-774E-6424-6280-96135DE40915}"/>
              </a:ext>
            </a:extLst>
          </p:cNvPr>
          <p:cNvSpPr/>
          <p:nvPr/>
        </p:nvSpPr>
        <p:spPr>
          <a:xfrm>
            <a:off x="381000" y="657031"/>
            <a:ext cx="58293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商城前台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Shape 13">
            <a:extLst>
              <a:ext uri="{FF2B5EF4-FFF2-40B4-BE49-F238E27FC236}">
                <a16:creationId xmlns:a16="http://schemas.microsoft.com/office/drawing/2014/main" id="{190B9F9C-6903-AA18-8EDD-4E678A430A9C}"/>
              </a:ext>
            </a:extLst>
          </p:cNvPr>
          <p:cNvSpPr/>
          <p:nvPr/>
        </p:nvSpPr>
        <p:spPr>
          <a:xfrm>
            <a:off x="2627380" y="113705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F1CDAFE3-F8E4-5778-056D-82D0922F0948}"/>
              </a:ext>
            </a:extLst>
          </p:cNvPr>
          <p:cNvSpPr/>
          <p:nvPr/>
        </p:nvSpPr>
        <p:spPr>
          <a:xfrm>
            <a:off x="2933700" y="992718"/>
            <a:ext cx="1028700" cy="525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赖明轩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289BC78-7438-C41D-CC66-DA126BEB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605603"/>
            <a:ext cx="10315413" cy="513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2852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0376DF-C6C3-433B-A280-96E32D08F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1EFA1246-6387-F4DB-7D3C-E84D8DF0E5BA}"/>
              </a:ext>
            </a:extLst>
          </p:cNvPr>
          <p:cNvSpPr/>
          <p:nvPr/>
        </p:nvSpPr>
        <p:spPr>
          <a:xfrm>
            <a:off x="381000" y="4953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F895657-6EE9-9FBB-F813-95B75521F7A3}"/>
              </a:ext>
            </a:extLst>
          </p:cNvPr>
          <p:cNvSpPr/>
          <p:nvPr/>
        </p:nvSpPr>
        <p:spPr>
          <a:xfrm>
            <a:off x="1143000" y="381000"/>
            <a:ext cx="2305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0" cap="none" spc="68" normalizeH="0" baseline="0" noProof="0" dirty="0">
                <a:ln>
                  <a:noFill/>
                </a:ln>
                <a:solidFill>
                  <a:srgbClr val="4FD1C5"/>
                </a:solidFill>
                <a:effectLst/>
                <a:uLnTx/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01 · PROJECT OVERVIEW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3FA4F9F-DACD-B884-D6B3-57226E9D651D}"/>
              </a:ext>
            </a:extLst>
          </p:cNvPr>
          <p:cNvSpPr/>
          <p:nvPr/>
        </p:nvSpPr>
        <p:spPr>
          <a:xfrm>
            <a:off x="381000" y="657031"/>
            <a:ext cx="58293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商城前台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Shape 13">
            <a:extLst>
              <a:ext uri="{FF2B5EF4-FFF2-40B4-BE49-F238E27FC236}">
                <a16:creationId xmlns:a16="http://schemas.microsoft.com/office/drawing/2014/main" id="{F4C71388-6F12-1ED6-6887-34FFBC8F7EB3}"/>
              </a:ext>
            </a:extLst>
          </p:cNvPr>
          <p:cNvSpPr/>
          <p:nvPr/>
        </p:nvSpPr>
        <p:spPr>
          <a:xfrm>
            <a:off x="2627380" y="113705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C8D3441-C64B-880F-F4F0-D8F5FFF5BCAE}"/>
              </a:ext>
            </a:extLst>
          </p:cNvPr>
          <p:cNvSpPr/>
          <p:nvPr/>
        </p:nvSpPr>
        <p:spPr>
          <a:xfrm>
            <a:off x="2933700" y="992718"/>
            <a:ext cx="1028700" cy="525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赖明轩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73F9EC4-244E-4282-BF58-D211E0FA2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902" y="1518054"/>
            <a:ext cx="10256196" cy="510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97011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81000" y="1219200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0" y="0"/>
                </a:moveTo>
                <a:lnTo>
                  <a:pt x="914400" y="0"/>
                </a:lnTo>
                <a:lnTo>
                  <a:pt x="914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4" name="Text 1"/>
          <p:cNvSpPr/>
          <p:nvPr/>
        </p:nvSpPr>
        <p:spPr>
          <a:xfrm>
            <a:off x="381000" y="1447800"/>
            <a:ext cx="46767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13360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6" name="Shape 3"/>
          <p:cNvSpPr/>
          <p:nvPr>
            <p:custDataLst>
              <p:tags r:id="rId1"/>
            </p:custDataLst>
          </p:nvPr>
        </p:nvSpPr>
        <p:spPr>
          <a:xfrm>
            <a:off x="600469" y="396871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7" name="Text 4"/>
          <p:cNvSpPr/>
          <p:nvPr>
            <p:custDataLst>
              <p:tags r:id="rId2"/>
            </p:custDataLst>
          </p:nvPr>
        </p:nvSpPr>
        <p:spPr>
          <a:xfrm>
            <a:off x="759537" y="4102066"/>
            <a:ext cx="438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1362469" y="3987766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项目概览</a:t>
            </a: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362469" y="4292447"/>
            <a:ext cx="1000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与核心职责</a:t>
            </a:r>
            <a:endParaRPr lang="en-US" sz="1600" dirty="0"/>
          </a:p>
        </p:txBody>
      </p:sp>
      <p:sp>
        <p:nvSpPr>
          <p:cNvPr id="14" name="Shape 11"/>
          <p:cNvSpPr/>
          <p:nvPr>
            <p:custDataLst>
              <p:tags r:id="rId5"/>
            </p:custDataLst>
          </p:nvPr>
        </p:nvSpPr>
        <p:spPr>
          <a:xfrm>
            <a:off x="3673173" y="401111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15" name="Text 12"/>
          <p:cNvSpPr/>
          <p:nvPr>
            <p:custDataLst>
              <p:tags r:id="rId6"/>
            </p:custDataLst>
          </p:nvPr>
        </p:nvSpPr>
        <p:spPr>
          <a:xfrm>
            <a:off x="3804380" y="4144468"/>
            <a:ext cx="4857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>
            <p:custDataLst>
              <p:tags r:id="rId7"/>
            </p:custDataLst>
          </p:nvPr>
        </p:nvSpPr>
        <p:spPr>
          <a:xfrm>
            <a:off x="4435173" y="4030168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7" name="Text 14"/>
          <p:cNvSpPr/>
          <p:nvPr>
            <p:custDataLst>
              <p:tags r:id="rId8"/>
            </p:custDataLst>
          </p:nvPr>
        </p:nvSpPr>
        <p:spPr>
          <a:xfrm>
            <a:off x="4435173" y="4334849"/>
            <a:ext cx="1000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与业务流程</a:t>
            </a:r>
            <a:endParaRPr lang="en-US" sz="1600" dirty="0"/>
          </a:p>
        </p:txBody>
      </p:sp>
      <p:sp>
        <p:nvSpPr>
          <p:cNvPr id="18" name="Shape 15"/>
          <p:cNvSpPr/>
          <p:nvPr>
            <p:custDataLst>
              <p:tags r:id="rId9"/>
            </p:custDataLst>
          </p:nvPr>
        </p:nvSpPr>
        <p:spPr>
          <a:xfrm>
            <a:off x="6562075" y="396814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19" name="Text 16"/>
          <p:cNvSpPr/>
          <p:nvPr>
            <p:custDataLst>
              <p:tags r:id="rId10"/>
            </p:custDataLst>
          </p:nvPr>
        </p:nvSpPr>
        <p:spPr>
          <a:xfrm>
            <a:off x="6693520" y="4101495"/>
            <a:ext cx="4857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>
            <p:custDataLst>
              <p:tags r:id="rId11"/>
            </p:custDataLst>
          </p:nvPr>
        </p:nvSpPr>
        <p:spPr>
          <a:xfrm>
            <a:off x="7324075" y="398719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技术亮点</a:t>
            </a:r>
            <a:endParaRPr lang="en-US" sz="1600" dirty="0"/>
          </a:p>
        </p:txBody>
      </p:sp>
      <p:sp>
        <p:nvSpPr>
          <p:cNvPr id="21" name="Text 18"/>
          <p:cNvSpPr/>
          <p:nvPr>
            <p:custDataLst>
              <p:tags r:id="rId12"/>
            </p:custDataLst>
          </p:nvPr>
        </p:nvSpPr>
        <p:spPr>
          <a:xfrm>
            <a:off x="7324075" y="4291876"/>
            <a:ext cx="1000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与解决方案</a:t>
            </a:r>
            <a:endParaRPr lang="en-US" sz="1600" dirty="0"/>
          </a:p>
        </p:txBody>
      </p:sp>
      <p:sp>
        <p:nvSpPr>
          <p:cNvPr id="22" name="Shape 19"/>
          <p:cNvSpPr/>
          <p:nvPr>
            <p:custDataLst>
              <p:tags r:id="rId13"/>
            </p:custDataLst>
          </p:nvPr>
        </p:nvSpPr>
        <p:spPr>
          <a:xfrm>
            <a:off x="9450978" y="396228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23" name="Text 20"/>
          <p:cNvSpPr/>
          <p:nvPr>
            <p:custDataLst>
              <p:tags r:id="rId14"/>
            </p:custDataLst>
          </p:nvPr>
        </p:nvSpPr>
        <p:spPr>
          <a:xfrm>
            <a:off x="9580875" y="4095631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>
            <p:custDataLst>
              <p:tags r:id="rId15"/>
            </p:custDataLst>
          </p:nvPr>
        </p:nvSpPr>
        <p:spPr>
          <a:xfrm>
            <a:off x="10212978" y="3981331"/>
            <a:ext cx="1257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问题与解决</a:t>
            </a:r>
            <a:endParaRPr lang="en-US" sz="1600" dirty="0"/>
          </a:p>
        </p:txBody>
      </p:sp>
      <p:sp>
        <p:nvSpPr>
          <p:cNvPr id="25" name="Text 22"/>
          <p:cNvSpPr/>
          <p:nvPr>
            <p:custDataLst>
              <p:tags r:id="rId16"/>
            </p:custDataLst>
          </p:nvPr>
        </p:nvSpPr>
        <p:spPr>
          <a:xfrm>
            <a:off x="10212978" y="4286012"/>
            <a:ext cx="122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思路总结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70578" y="481751"/>
            <a:ext cx="592924" cy="37058"/>
          </a:xfrm>
          <a:custGeom>
            <a:avLst/>
            <a:gdLst/>
            <a:ahLst/>
            <a:cxnLst/>
            <a:rect l="l" t="t" r="r" b="b"/>
            <a:pathLst>
              <a:path w="592924" h="37058">
                <a:moveTo>
                  <a:pt x="0" y="0"/>
                </a:moveTo>
                <a:lnTo>
                  <a:pt x="592924" y="0"/>
                </a:lnTo>
                <a:lnTo>
                  <a:pt x="592924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</p:spPr>
      </p:sp>
      <p:sp>
        <p:nvSpPr>
          <p:cNvPr id="4" name="Text 1"/>
          <p:cNvSpPr/>
          <p:nvPr/>
        </p:nvSpPr>
        <p:spPr>
          <a:xfrm>
            <a:off x="1111733" y="370578"/>
            <a:ext cx="3261082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kern="0" spc="66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 · REQUIREMENTS &amp; CHALLENGES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0578" y="852328"/>
            <a:ext cx="4669277" cy="11117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业务需求与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5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核心挑战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0578" y="2075234"/>
            <a:ext cx="4539574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B2C电商平台的四大架构难题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9106" y="2482869"/>
            <a:ext cx="4428401" cy="2195672"/>
          </a:xfrm>
          <a:custGeom>
            <a:avLst/>
            <a:gdLst/>
            <a:ahLst/>
            <a:cxnLst/>
            <a:rect l="l" t="t" r="r" b="b"/>
            <a:pathLst>
              <a:path w="4428401" h="2195672">
                <a:moveTo>
                  <a:pt x="37058" y="0"/>
                </a:moveTo>
                <a:lnTo>
                  <a:pt x="4317234" y="0"/>
                </a:lnTo>
                <a:cubicBezTo>
                  <a:pt x="4378630" y="0"/>
                  <a:pt x="4428401" y="49771"/>
                  <a:pt x="4428401" y="111167"/>
                </a:cubicBezTo>
                <a:lnTo>
                  <a:pt x="4428401" y="2084505"/>
                </a:lnTo>
                <a:cubicBezTo>
                  <a:pt x="4428401" y="2145901"/>
                  <a:pt x="4378630" y="2195672"/>
                  <a:pt x="4317234" y="2195672"/>
                </a:cubicBezTo>
                <a:lnTo>
                  <a:pt x="37058" y="2195672"/>
                </a:lnTo>
                <a:cubicBezTo>
                  <a:pt x="16591" y="2195672"/>
                  <a:pt x="0" y="2179080"/>
                  <a:pt x="0" y="215861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8" name="Shape 5"/>
          <p:cNvSpPr/>
          <p:nvPr/>
        </p:nvSpPr>
        <p:spPr>
          <a:xfrm>
            <a:off x="389106" y="2482869"/>
            <a:ext cx="37058" cy="2195672"/>
          </a:xfrm>
          <a:custGeom>
            <a:avLst/>
            <a:gdLst/>
            <a:ahLst/>
            <a:cxnLst/>
            <a:rect l="l" t="t" r="r" b="b"/>
            <a:pathLst>
              <a:path w="37058" h="2195672">
                <a:moveTo>
                  <a:pt x="37058" y="0"/>
                </a:moveTo>
                <a:lnTo>
                  <a:pt x="37058" y="0"/>
                </a:lnTo>
                <a:lnTo>
                  <a:pt x="37058" y="2195672"/>
                </a:lnTo>
                <a:lnTo>
                  <a:pt x="37058" y="2195672"/>
                </a:lnTo>
                <a:cubicBezTo>
                  <a:pt x="16591" y="2195672"/>
                  <a:pt x="0" y="2179080"/>
                  <a:pt x="0" y="2158614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9" name="Text 6"/>
          <p:cNvSpPr/>
          <p:nvPr/>
        </p:nvSpPr>
        <p:spPr>
          <a:xfrm>
            <a:off x="592924" y="2763352"/>
            <a:ext cx="4150468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业务需求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6508" y="3244985"/>
            <a:ext cx="145915" cy="166760"/>
          </a:xfrm>
          <a:custGeom>
            <a:avLst/>
            <a:gdLst/>
            <a:ahLst/>
            <a:cxnLst/>
            <a:rect l="l" t="t" r="r" b="b"/>
            <a:pathLst>
              <a:path w="145915" h="166760">
                <a:moveTo>
                  <a:pt x="72957" y="80774"/>
                </a:moveTo>
                <a:cubicBezTo>
                  <a:pt x="94529" y="80774"/>
                  <a:pt x="112042" y="63261"/>
                  <a:pt x="112042" y="41690"/>
                </a:cubicBezTo>
                <a:cubicBezTo>
                  <a:pt x="112042" y="20119"/>
                  <a:pt x="94529" y="2606"/>
                  <a:pt x="72957" y="2606"/>
                </a:cubicBezTo>
                <a:cubicBezTo>
                  <a:pt x="51386" y="2606"/>
                  <a:pt x="33873" y="20119"/>
                  <a:pt x="33873" y="41690"/>
                </a:cubicBezTo>
                <a:cubicBezTo>
                  <a:pt x="33873" y="63261"/>
                  <a:pt x="51386" y="80774"/>
                  <a:pt x="72957" y="80774"/>
                </a:cubicBezTo>
                <a:close/>
                <a:moveTo>
                  <a:pt x="63284" y="99014"/>
                </a:moveTo>
                <a:cubicBezTo>
                  <a:pt x="31202" y="99014"/>
                  <a:pt x="5211" y="125005"/>
                  <a:pt x="5211" y="157087"/>
                </a:cubicBezTo>
                <a:cubicBezTo>
                  <a:pt x="5211" y="162428"/>
                  <a:pt x="9543" y="166760"/>
                  <a:pt x="14885" y="166760"/>
                </a:cubicBezTo>
                <a:lnTo>
                  <a:pt x="131030" y="166760"/>
                </a:lnTo>
                <a:cubicBezTo>
                  <a:pt x="136372" y="166760"/>
                  <a:pt x="140704" y="162428"/>
                  <a:pt x="140704" y="157087"/>
                </a:cubicBezTo>
                <a:cubicBezTo>
                  <a:pt x="140704" y="125005"/>
                  <a:pt x="114713" y="99014"/>
                  <a:pt x="82631" y="99014"/>
                </a:cubicBezTo>
                <a:lnTo>
                  <a:pt x="63284" y="99014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11" name="Text 8"/>
          <p:cNvSpPr/>
          <p:nvPr/>
        </p:nvSpPr>
        <p:spPr>
          <a:xfrm>
            <a:off x="860072" y="3207927"/>
            <a:ext cx="3855527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用户端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2924" y="3504389"/>
            <a:ext cx="4113410" cy="222347"/>
          </a:xfrm>
          <a:prstGeom prst="rect">
            <a:avLst/>
          </a:prstGeom>
          <a:noFill/>
        </p:spPr>
        <p:txBody>
          <a:bodyPr wrap="square" lIns="259404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商品浏览、搜索、购物车、下单、支付、订单跟踪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6085" y="3912024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9999" y="23548"/>
                </a:moveTo>
                <a:cubicBezTo>
                  <a:pt x="12246" y="15764"/>
                  <a:pt x="19379" y="10422"/>
                  <a:pt x="27489" y="10422"/>
                </a:cubicBezTo>
                <a:lnTo>
                  <a:pt x="139531" y="10422"/>
                </a:lnTo>
                <a:cubicBezTo>
                  <a:pt x="147641" y="10422"/>
                  <a:pt x="154774" y="15764"/>
                  <a:pt x="157054" y="23548"/>
                </a:cubicBezTo>
                <a:lnTo>
                  <a:pt x="164675" y="49670"/>
                </a:lnTo>
                <a:cubicBezTo>
                  <a:pt x="168844" y="63903"/>
                  <a:pt x="158129" y="78169"/>
                  <a:pt x="143309" y="78169"/>
                </a:cubicBezTo>
                <a:cubicBezTo>
                  <a:pt x="134743" y="78169"/>
                  <a:pt x="127220" y="73316"/>
                  <a:pt x="123507" y="66085"/>
                </a:cubicBezTo>
                <a:cubicBezTo>
                  <a:pt x="119728" y="73218"/>
                  <a:pt x="112237" y="78169"/>
                  <a:pt x="103508" y="78169"/>
                </a:cubicBezTo>
                <a:cubicBezTo>
                  <a:pt x="94845" y="78169"/>
                  <a:pt x="87321" y="73283"/>
                  <a:pt x="83543" y="66118"/>
                </a:cubicBezTo>
                <a:cubicBezTo>
                  <a:pt x="79765" y="73283"/>
                  <a:pt x="72241" y="78169"/>
                  <a:pt x="63577" y="78169"/>
                </a:cubicBezTo>
                <a:cubicBezTo>
                  <a:pt x="54848" y="78169"/>
                  <a:pt x="47357" y="73251"/>
                  <a:pt x="43579" y="66085"/>
                </a:cubicBezTo>
                <a:cubicBezTo>
                  <a:pt x="39866" y="73283"/>
                  <a:pt x="32342" y="78169"/>
                  <a:pt x="23776" y="78169"/>
                </a:cubicBezTo>
                <a:cubicBezTo>
                  <a:pt x="8924" y="78169"/>
                  <a:pt x="-1759" y="63935"/>
                  <a:pt x="2410" y="49670"/>
                </a:cubicBezTo>
                <a:lnTo>
                  <a:pt x="9999" y="23548"/>
                </a:lnTo>
                <a:close/>
                <a:moveTo>
                  <a:pt x="31398" y="114647"/>
                </a:moveTo>
                <a:lnTo>
                  <a:pt x="135623" y="114647"/>
                </a:lnTo>
                <a:lnTo>
                  <a:pt x="135623" y="93021"/>
                </a:lnTo>
                <a:cubicBezTo>
                  <a:pt x="138098" y="93542"/>
                  <a:pt x="140671" y="93802"/>
                  <a:pt x="143277" y="93802"/>
                </a:cubicBezTo>
                <a:cubicBezTo>
                  <a:pt x="147934" y="93802"/>
                  <a:pt x="152396" y="92956"/>
                  <a:pt x="156468" y="91457"/>
                </a:cubicBezTo>
                <a:lnTo>
                  <a:pt x="156468" y="140704"/>
                </a:lnTo>
                <a:cubicBezTo>
                  <a:pt x="156468" y="149335"/>
                  <a:pt x="149465" y="156337"/>
                  <a:pt x="140834" y="156337"/>
                </a:cubicBezTo>
                <a:lnTo>
                  <a:pt x="26187" y="156337"/>
                </a:lnTo>
                <a:cubicBezTo>
                  <a:pt x="17555" y="156337"/>
                  <a:pt x="10553" y="149335"/>
                  <a:pt x="10553" y="140704"/>
                </a:cubicBezTo>
                <a:lnTo>
                  <a:pt x="10553" y="91457"/>
                </a:lnTo>
                <a:cubicBezTo>
                  <a:pt x="14624" y="92956"/>
                  <a:pt x="19054" y="93802"/>
                  <a:pt x="23744" y="93802"/>
                </a:cubicBezTo>
                <a:cubicBezTo>
                  <a:pt x="26382" y="93802"/>
                  <a:pt x="28922" y="93542"/>
                  <a:pt x="31398" y="93021"/>
                </a:cubicBezTo>
                <a:lnTo>
                  <a:pt x="31398" y="114647"/>
                </a:lnTo>
                <a:close/>
              </a:path>
            </a:pathLst>
          </a:custGeom>
          <a:solidFill>
            <a:srgbClr val="F6AD55"/>
          </a:solidFill>
        </p:spPr>
      </p:sp>
      <p:sp>
        <p:nvSpPr>
          <p:cNvPr id="14" name="Text 11"/>
          <p:cNvSpPr/>
          <p:nvPr/>
        </p:nvSpPr>
        <p:spPr>
          <a:xfrm>
            <a:off x="860072" y="3874966"/>
            <a:ext cx="3855527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商家端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92924" y="4171428"/>
            <a:ext cx="4113410" cy="222347"/>
          </a:xfrm>
          <a:prstGeom prst="rect">
            <a:avLst/>
          </a:prstGeom>
          <a:noFill/>
        </p:spPr>
        <p:txBody>
          <a:bodyPr wrap="square" lIns="259404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商品管理、订单管理、库存管理、售后处理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056646" y="852328"/>
            <a:ext cx="6763040" cy="1880681"/>
          </a:xfrm>
          <a:custGeom>
            <a:avLst/>
            <a:gdLst/>
            <a:ahLst/>
            <a:cxnLst/>
            <a:rect l="l" t="t" r="r" b="b"/>
            <a:pathLst>
              <a:path w="6763040" h="1880681">
                <a:moveTo>
                  <a:pt x="37058" y="0"/>
                </a:moveTo>
                <a:lnTo>
                  <a:pt x="6651872" y="0"/>
                </a:lnTo>
                <a:cubicBezTo>
                  <a:pt x="6713268" y="0"/>
                  <a:pt x="6763040" y="49771"/>
                  <a:pt x="6763040" y="111167"/>
                </a:cubicBezTo>
                <a:lnTo>
                  <a:pt x="6763040" y="1769514"/>
                </a:lnTo>
                <a:cubicBezTo>
                  <a:pt x="6763040" y="1830910"/>
                  <a:pt x="6713268" y="1880681"/>
                  <a:pt x="6651872" y="1880681"/>
                </a:cubicBezTo>
                <a:lnTo>
                  <a:pt x="37058" y="1880681"/>
                </a:lnTo>
                <a:cubicBezTo>
                  <a:pt x="16591" y="1880681"/>
                  <a:pt x="0" y="1864090"/>
                  <a:pt x="0" y="1843623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27" name="Shape 24"/>
          <p:cNvSpPr/>
          <p:nvPr/>
        </p:nvSpPr>
        <p:spPr>
          <a:xfrm>
            <a:off x="5056646" y="852328"/>
            <a:ext cx="37058" cy="1880681"/>
          </a:xfrm>
          <a:custGeom>
            <a:avLst/>
            <a:gdLst/>
            <a:ahLst/>
            <a:cxnLst/>
            <a:rect l="l" t="t" r="r" b="b"/>
            <a:pathLst>
              <a:path w="37058" h="1880681">
                <a:moveTo>
                  <a:pt x="37058" y="0"/>
                </a:moveTo>
                <a:lnTo>
                  <a:pt x="37058" y="0"/>
                </a:lnTo>
                <a:lnTo>
                  <a:pt x="37058" y="1880681"/>
                </a:lnTo>
                <a:lnTo>
                  <a:pt x="37058" y="1880681"/>
                </a:lnTo>
                <a:cubicBezTo>
                  <a:pt x="16591" y="1880681"/>
                  <a:pt x="0" y="1864090"/>
                  <a:pt x="0" y="1843623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28" name="Shape 25"/>
          <p:cNvSpPr/>
          <p:nvPr/>
        </p:nvSpPr>
        <p:spPr>
          <a:xfrm>
            <a:off x="5260464" y="1037617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111175" y="0"/>
                </a:moveTo>
                <a:lnTo>
                  <a:pt x="407633" y="0"/>
                </a:lnTo>
                <a:cubicBezTo>
                  <a:pt x="469034" y="0"/>
                  <a:pt x="518809" y="49775"/>
                  <a:pt x="518809" y="111175"/>
                </a:cubicBezTo>
                <a:lnTo>
                  <a:pt x="518809" y="407633"/>
                </a:lnTo>
                <a:cubicBezTo>
                  <a:pt x="518809" y="469034"/>
                  <a:pt x="469034" y="518809"/>
                  <a:pt x="407633" y="518809"/>
                </a:cubicBezTo>
                <a:lnTo>
                  <a:pt x="111175" y="518809"/>
                </a:lnTo>
                <a:cubicBezTo>
                  <a:pt x="49816" y="518809"/>
                  <a:pt x="0" y="468992"/>
                  <a:pt x="0" y="407633"/>
                </a:cubicBezTo>
                <a:lnTo>
                  <a:pt x="0" y="111175"/>
                </a:lnTo>
                <a:cubicBezTo>
                  <a:pt x="0" y="49816"/>
                  <a:pt x="49816" y="0"/>
                  <a:pt x="111175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</p:spPr>
      </p:sp>
      <p:sp>
        <p:nvSpPr>
          <p:cNvPr id="29" name="Shape 26"/>
          <p:cNvSpPr/>
          <p:nvPr/>
        </p:nvSpPr>
        <p:spPr>
          <a:xfrm>
            <a:off x="5422591" y="1185848"/>
            <a:ext cx="194553" cy="222347"/>
          </a:xfrm>
          <a:custGeom>
            <a:avLst/>
            <a:gdLst/>
            <a:ahLst/>
            <a:cxnLst/>
            <a:rect l="l" t="t" r="r" b="b"/>
            <a:pathLst>
              <a:path w="194553" h="222347">
                <a:moveTo>
                  <a:pt x="147131" y="-4299"/>
                </a:moveTo>
                <a:cubicBezTo>
                  <a:pt x="152299" y="-565"/>
                  <a:pt x="154209" y="6210"/>
                  <a:pt x="151864" y="12116"/>
                </a:cubicBezTo>
                <a:lnTo>
                  <a:pt x="117818" y="97277"/>
                </a:lnTo>
                <a:lnTo>
                  <a:pt x="180657" y="97277"/>
                </a:lnTo>
                <a:cubicBezTo>
                  <a:pt x="186519" y="97277"/>
                  <a:pt x="191730" y="100924"/>
                  <a:pt x="193728" y="106440"/>
                </a:cubicBezTo>
                <a:cubicBezTo>
                  <a:pt x="195726" y="111955"/>
                  <a:pt x="194032" y="118122"/>
                  <a:pt x="189559" y="121856"/>
                </a:cubicBezTo>
                <a:lnTo>
                  <a:pt x="64489" y="226081"/>
                </a:lnTo>
                <a:cubicBezTo>
                  <a:pt x="59582" y="230163"/>
                  <a:pt x="52590" y="230381"/>
                  <a:pt x="47422" y="226646"/>
                </a:cubicBezTo>
                <a:cubicBezTo>
                  <a:pt x="42255" y="222911"/>
                  <a:pt x="40344" y="216136"/>
                  <a:pt x="42689" y="210230"/>
                </a:cubicBezTo>
                <a:lnTo>
                  <a:pt x="76736" y="125070"/>
                </a:lnTo>
                <a:lnTo>
                  <a:pt x="13897" y="125070"/>
                </a:lnTo>
                <a:cubicBezTo>
                  <a:pt x="8034" y="125070"/>
                  <a:pt x="2823" y="121422"/>
                  <a:pt x="825" y="115907"/>
                </a:cubicBezTo>
                <a:cubicBezTo>
                  <a:pt x="-1173" y="110392"/>
                  <a:pt x="521" y="104225"/>
                  <a:pt x="4994" y="100490"/>
                </a:cubicBezTo>
                <a:lnTo>
                  <a:pt x="130064" y="-3735"/>
                </a:lnTo>
                <a:cubicBezTo>
                  <a:pt x="134971" y="-7817"/>
                  <a:pt x="141963" y="-8034"/>
                  <a:pt x="147131" y="-4299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30" name="Text 27"/>
          <p:cNvSpPr/>
          <p:nvPr/>
        </p:nvSpPr>
        <p:spPr>
          <a:xfrm>
            <a:off x="5927503" y="1037617"/>
            <a:ext cx="5818067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高并发访问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927503" y="1408079"/>
            <a:ext cx="5781009" cy="4817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应对促销、热点商品带来的瞬时流量洪峰，防止系统宕机。例如秒杀活动可能在几秒内涌入数万甚至数十万请求。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927503" y="2001003"/>
            <a:ext cx="741155" cy="259404"/>
          </a:xfrm>
          <a:custGeom>
            <a:avLst/>
            <a:gdLst/>
            <a:ahLst/>
            <a:cxnLst/>
            <a:rect l="l" t="t" r="r" b="b"/>
            <a:pathLst>
              <a:path w="741155" h="259404">
                <a:moveTo>
                  <a:pt x="129702" y="0"/>
                </a:moveTo>
                <a:lnTo>
                  <a:pt x="611453" y="0"/>
                </a:lnTo>
                <a:cubicBezTo>
                  <a:pt x="683085" y="0"/>
                  <a:pt x="741155" y="58070"/>
                  <a:pt x="741155" y="129702"/>
                </a:cubicBezTo>
                <a:lnTo>
                  <a:pt x="741155" y="129702"/>
                </a:lnTo>
                <a:cubicBezTo>
                  <a:pt x="741155" y="201335"/>
                  <a:pt x="683085" y="259404"/>
                  <a:pt x="611453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</p:spPr>
      </p:sp>
      <p:sp>
        <p:nvSpPr>
          <p:cNvPr id="33" name="Text 30"/>
          <p:cNvSpPr/>
          <p:nvPr/>
        </p:nvSpPr>
        <p:spPr>
          <a:xfrm>
            <a:off x="5927503" y="2001003"/>
            <a:ext cx="806006" cy="259404"/>
          </a:xfrm>
          <a:prstGeom prst="rect">
            <a:avLst/>
          </a:prstGeom>
          <a:noFill/>
        </p:spPr>
        <p:txBody>
          <a:bodyPr wrap="square" lIns="111173" tIns="37058" rIns="111173" bIns="37058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限流降级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779831" y="2001003"/>
            <a:ext cx="741155" cy="259404"/>
          </a:xfrm>
          <a:custGeom>
            <a:avLst/>
            <a:gdLst/>
            <a:ahLst/>
            <a:cxnLst/>
            <a:rect l="l" t="t" r="r" b="b"/>
            <a:pathLst>
              <a:path w="741155" h="259404">
                <a:moveTo>
                  <a:pt x="129702" y="0"/>
                </a:moveTo>
                <a:lnTo>
                  <a:pt x="611453" y="0"/>
                </a:lnTo>
                <a:cubicBezTo>
                  <a:pt x="683085" y="0"/>
                  <a:pt x="741155" y="58070"/>
                  <a:pt x="741155" y="129702"/>
                </a:cubicBezTo>
                <a:lnTo>
                  <a:pt x="741155" y="129702"/>
                </a:lnTo>
                <a:cubicBezTo>
                  <a:pt x="741155" y="201335"/>
                  <a:pt x="683085" y="259404"/>
                  <a:pt x="611453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</p:spPr>
      </p:sp>
      <p:sp>
        <p:nvSpPr>
          <p:cNvPr id="35" name="Text 32"/>
          <p:cNvSpPr/>
          <p:nvPr/>
        </p:nvSpPr>
        <p:spPr>
          <a:xfrm>
            <a:off x="6779831" y="2001003"/>
            <a:ext cx="806006" cy="259404"/>
          </a:xfrm>
          <a:prstGeom prst="rect">
            <a:avLst/>
          </a:prstGeom>
          <a:noFill/>
        </p:spPr>
        <p:txBody>
          <a:bodyPr wrap="square" lIns="111173" tIns="37058" rIns="111173" bIns="37058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多级缓存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632160" y="2001003"/>
            <a:ext cx="741155" cy="259404"/>
          </a:xfrm>
          <a:custGeom>
            <a:avLst/>
            <a:gdLst/>
            <a:ahLst/>
            <a:cxnLst/>
            <a:rect l="l" t="t" r="r" b="b"/>
            <a:pathLst>
              <a:path w="741155" h="259404">
                <a:moveTo>
                  <a:pt x="129702" y="0"/>
                </a:moveTo>
                <a:lnTo>
                  <a:pt x="611453" y="0"/>
                </a:lnTo>
                <a:cubicBezTo>
                  <a:pt x="683085" y="0"/>
                  <a:pt x="741155" y="58070"/>
                  <a:pt x="741155" y="129702"/>
                </a:cubicBezTo>
                <a:lnTo>
                  <a:pt x="741155" y="129702"/>
                </a:lnTo>
                <a:cubicBezTo>
                  <a:pt x="741155" y="201335"/>
                  <a:pt x="683085" y="259404"/>
                  <a:pt x="611453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</p:spPr>
      </p:sp>
      <p:sp>
        <p:nvSpPr>
          <p:cNvPr id="37" name="Text 34"/>
          <p:cNvSpPr/>
          <p:nvPr/>
        </p:nvSpPr>
        <p:spPr>
          <a:xfrm>
            <a:off x="7632160" y="2001003"/>
            <a:ext cx="806006" cy="259404"/>
          </a:xfrm>
          <a:prstGeom prst="rect">
            <a:avLst/>
          </a:prstGeom>
          <a:noFill/>
        </p:spPr>
        <p:txBody>
          <a:bodyPr wrap="square" lIns="111173" tIns="37058" rIns="111173" bIns="37058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负载均衡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056646" y="2883789"/>
            <a:ext cx="6763040" cy="1880681"/>
          </a:xfrm>
          <a:custGeom>
            <a:avLst/>
            <a:gdLst/>
            <a:ahLst/>
            <a:cxnLst/>
            <a:rect l="l" t="t" r="r" b="b"/>
            <a:pathLst>
              <a:path w="6763040" h="1880681">
                <a:moveTo>
                  <a:pt x="37058" y="0"/>
                </a:moveTo>
                <a:lnTo>
                  <a:pt x="6651872" y="0"/>
                </a:lnTo>
                <a:cubicBezTo>
                  <a:pt x="6713268" y="0"/>
                  <a:pt x="6763040" y="49771"/>
                  <a:pt x="6763040" y="111167"/>
                </a:cubicBezTo>
                <a:lnTo>
                  <a:pt x="6763040" y="1769514"/>
                </a:lnTo>
                <a:cubicBezTo>
                  <a:pt x="6763040" y="1830910"/>
                  <a:pt x="6713268" y="1880681"/>
                  <a:pt x="6651872" y="1880681"/>
                </a:cubicBezTo>
                <a:lnTo>
                  <a:pt x="37058" y="1880681"/>
                </a:lnTo>
                <a:cubicBezTo>
                  <a:pt x="16591" y="1880681"/>
                  <a:pt x="0" y="1864090"/>
                  <a:pt x="0" y="1843623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39" name="Shape 36"/>
          <p:cNvSpPr/>
          <p:nvPr/>
        </p:nvSpPr>
        <p:spPr>
          <a:xfrm>
            <a:off x="5056646" y="2883789"/>
            <a:ext cx="37058" cy="1880681"/>
          </a:xfrm>
          <a:custGeom>
            <a:avLst/>
            <a:gdLst/>
            <a:ahLst/>
            <a:cxnLst/>
            <a:rect l="l" t="t" r="r" b="b"/>
            <a:pathLst>
              <a:path w="37058" h="1880681">
                <a:moveTo>
                  <a:pt x="37058" y="0"/>
                </a:moveTo>
                <a:lnTo>
                  <a:pt x="37058" y="0"/>
                </a:lnTo>
                <a:lnTo>
                  <a:pt x="37058" y="1880681"/>
                </a:lnTo>
                <a:lnTo>
                  <a:pt x="37058" y="1880681"/>
                </a:lnTo>
                <a:cubicBezTo>
                  <a:pt x="16591" y="1880681"/>
                  <a:pt x="0" y="1864090"/>
                  <a:pt x="0" y="1843623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40" name="Shape 37"/>
          <p:cNvSpPr/>
          <p:nvPr/>
        </p:nvSpPr>
        <p:spPr>
          <a:xfrm>
            <a:off x="5260464" y="3069078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111175" y="0"/>
                </a:moveTo>
                <a:lnTo>
                  <a:pt x="407633" y="0"/>
                </a:lnTo>
                <a:cubicBezTo>
                  <a:pt x="469034" y="0"/>
                  <a:pt x="518809" y="49775"/>
                  <a:pt x="518809" y="111175"/>
                </a:cubicBezTo>
                <a:lnTo>
                  <a:pt x="518809" y="407633"/>
                </a:lnTo>
                <a:cubicBezTo>
                  <a:pt x="518809" y="469034"/>
                  <a:pt x="469034" y="518809"/>
                  <a:pt x="407633" y="518809"/>
                </a:cubicBezTo>
                <a:lnTo>
                  <a:pt x="111175" y="518809"/>
                </a:lnTo>
                <a:cubicBezTo>
                  <a:pt x="49816" y="518809"/>
                  <a:pt x="0" y="468992"/>
                  <a:pt x="0" y="407633"/>
                </a:cubicBezTo>
                <a:lnTo>
                  <a:pt x="0" y="111175"/>
                </a:lnTo>
                <a:cubicBezTo>
                  <a:pt x="0" y="49816"/>
                  <a:pt x="49816" y="0"/>
                  <a:pt x="11117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</p:spPr>
      </p:sp>
      <p:sp>
        <p:nvSpPr>
          <p:cNvPr id="41" name="Shape 38"/>
          <p:cNvSpPr/>
          <p:nvPr/>
        </p:nvSpPr>
        <p:spPr>
          <a:xfrm>
            <a:off x="5422591" y="3217309"/>
            <a:ext cx="194553" cy="222347"/>
          </a:xfrm>
          <a:custGeom>
            <a:avLst/>
            <a:gdLst/>
            <a:ahLst/>
            <a:cxnLst/>
            <a:rect l="l" t="t" r="r" b="b"/>
            <a:pathLst>
              <a:path w="194553" h="222347">
                <a:moveTo>
                  <a:pt x="194553" y="89373"/>
                </a:moveTo>
                <a:cubicBezTo>
                  <a:pt x="188126" y="93629"/>
                  <a:pt x="180743" y="97059"/>
                  <a:pt x="173057" y="99795"/>
                </a:cubicBezTo>
                <a:cubicBezTo>
                  <a:pt x="152646" y="107091"/>
                  <a:pt x="125852" y="111173"/>
                  <a:pt x="97277" y="111173"/>
                </a:cubicBezTo>
                <a:cubicBezTo>
                  <a:pt x="68702" y="111173"/>
                  <a:pt x="41864" y="107048"/>
                  <a:pt x="21496" y="99795"/>
                </a:cubicBezTo>
                <a:cubicBezTo>
                  <a:pt x="13853" y="97059"/>
                  <a:pt x="6427" y="93629"/>
                  <a:pt x="0" y="89373"/>
                </a:cubicBezTo>
                <a:lnTo>
                  <a:pt x="0" y="125070"/>
                </a:lnTo>
                <a:cubicBezTo>
                  <a:pt x="0" y="144265"/>
                  <a:pt x="43557" y="159812"/>
                  <a:pt x="97277" y="159812"/>
                </a:cubicBezTo>
                <a:cubicBezTo>
                  <a:pt x="150996" y="159812"/>
                  <a:pt x="194553" y="144265"/>
                  <a:pt x="194553" y="125070"/>
                </a:cubicBezTo>
                <a:lnTo>
                  <a:pt x="194553" y="89373"/>
                </a:lnTo>
                <a:close/>
                <a:moveTo>
                  <a:pt x="194553" y="55587"/>
                </a:moveTo>
                <a:lnTo>
                  <a:pt x="194553" y="34742"/>
                </a:lnTo>
                <a:cubicBezTo>
                  <a:pt x="194553" y="15547"/>
                  <a:pt x="150996" y="0"/>
                  <a:pt x="97277" y="0"/>
                </a:cubicBezTo>
                <a:cubicBezTo>
                  <a:pt x="43557" y="0"/>
                  <a:pt x="0" y="15547"/>
                  <a:pt x="0" y="34742"/>
                </a:cubicBezTo>
                <a:lnTo>
                  <a:pt x="0" y="55587"/>
                </a:lnTo>
                <a:cubicBezTo>
                  <a:pt x="0" y="74781"/>
                  <a:pt x="43557" y="90328"/>
                  <a:pt x="97277" y="90328"/>
                </a:cubicBezTo>
                <a:cubicBezTo>
                  <a:pt x="150996" y="90328"/>
                  <a:pt x="194553" y="74781"/>
                  <a:pt x="194553" y="55587"/>
                </a:cubicBezTo>
                <a:close/>
                <a:moveTo>
                  <a:pt x="173057" y="169279"/>
                </a:moveTo>
                <a:cubicBezTo>
                  <a:pt x="152690" y="176531"/>
                  <a:pt x="125895" y="180657"/>
                  <a:pt x="97277" y="180657"/>
                </a:cubicBezTo>
                <a:cubicBezTo>
                  <a:pt x="68658" y="180657"/>
                  <a:pt x="41864" y="176531"/>
                  <a:pt x="21496" y="169279"/>
                </a:cubicBezTo>
                <a:cubicBezTo>
                  <a:pt x="13853" y="166543"/>
                  <a:pt x="6427" y="163112"/>
                  <a:pt x="0" y="158856"/>
                </a:cubicBezTo>
                <a:lnTo>
                  <a:pt x="0" y="187605"/>
                </a:lnTo>
                <a:cubicBezTo>
                  <a:pt x="0" y="206800"/>
                  <a:pt x="43557" y="222347"/>
                  <a:pt x="97277" y="222347"/>
                </a:cubicBezTo>
                <a:cubicBezTo>
                  <a:pt x="150996" y="222347"/>
                  <a:pt x="194553" y="206800"/>
                  <a:pt x="194553" y="187605"/>
                </a:cubicBezTo>
                <a:lnTo>
                  <a:pt x="194553" y="158856"/>
                </a:lnTo>
                <a:cubicBezTo>
                  <a:pt x="188126" y="163112"/>
                  <a:pt x="180743" y="166543"/>
                  <a:pt x="173057" y="169279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42" name="Text 39"/>
          <p:cNvSpPr/>
          <p:nvPr/>
        </p:nvSpPr>
        <p:spPr>
          <a:xfrm>
            <a:off x="5927503" y="3069078"/>
            <a:ext cx="5818067" cy="2964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海量数据检索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927503" y="3439538"/>
            <a:ext cx="5781009" cy="4817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需支持百万级商品的高效、精准搜索，支持多维度筛选（价格、品牌、分类、库存等），减轻数据库压力。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5927503" y="4032462"/>
            <a:ext cx="1000559" cy="259404"/>
          </a:xfrm>
          <a:custGeom>
            <a:avLst/>
            <a:gdLst/>
            <a:ahLst/>
            <a:cxnLst/>
            <a:rect l="l" t="t" r="r" b="b"/>
            <a:pathLst>
              <a:path w="1000559" h="259404">
                <a:moveTo>
                  <a:pt x="129702" y="0"/>
                </a:moveTo>
                <a:lnTo>
                  <a:pt x="870857" y="0"/>
                </a:lnTo>
                <a:cubicBezTo>
                  <a:pt x="942490" y="0"/>
                  <a:pt x="1000559" y="58070"/>
                  <a:pt x="1000559" y="129702"/>
                </a:cubicBezTo>
                <a:lnTo>
                  <a:pt x="1000559" y="129702"/>
                </a:lnTo>
                <a:cubicBezTo>
                  <a:pt x="1000559" y="201335"/>
                  <a:pt x="942490" y="259404"/>
                  <a:pt x="870857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</p:spPr>
      </p:sp>
      <p:sp>
        <p:nvSpPr>
          <p:cNvPr id="45" name="Text 42"/>
          <p:cNvSpPr/>
          <p:nvPr/>
        </p:nvSpPr>
        <p:spPr>
          <a:xfrm>
            <a:off x="5927503" y="4032462"/>
            <a:ext cx="1065410" cy="259404"/>
          </a:xfrm>
          <a:prstGeom prst="rect">
            <a:avLst/>
          </a:prstGeom>
          <a:noFill/>
        </p:spPr>
        <p:txBody>
          <a:bodyPr wrap="square" lIns="111173" tIns="37058" rIns="111173" bIns="37058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Elasticsearch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040162" y="4032462"/>
            <a:ext cx="741155" cy="259404"/>
          </a:xfrm>
          <a:custGeom>
            <a:avLst/>
            <a:gdLst/>
            <a:ahLst/>
            <a:cxnLst/>
            <a:rect l="l" t="t" r="r" b="b"/>
            <a:pathLst>
              <a:path w="741155" h="259404">
                <a:moveTo>
                  <a:pt x="129702" y="0"/>
                </a:moveTo>
                <a:lnTo>
                  <a:pt x="611453" y="0"/>
                </a:lnTo>
                <a:cubicBezTo>
                  <a:pt x="683085" y="0"/>
                  <a:pt x="741155" y="58070"/>
                  <a:pt x="741155" y="129702"/>
                </a:cubicBezTo>
                <a:lnTo>
                  <a:pt x="741155" y="129702"/>
                </a:lnTo>
                <a:cubicBezTo>
                  <a:pt x="741155" y="201335"/>
                  <a:pt x="683085" y="259404"/>
                  <a:pt x="611453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</p:spPr>
      </p:sp>
      <p:sp>
        <p:nvSpPr>
          <p:cNvPr id="47" name="Text 44"/>
          <p:cNvSpPr/>
          <p:nvPr/>
        </p:nvSpPr>
        <p:spPr>
          <a:xfrm>
            <a:off x="7040162" y="4032462"/>
            <a:ext cx="806006" cy="259404"/>
          </a:xfrm>
          <a:prstGeom prst="rect">
            <a:avLst/>
          </a:prstGeom>
          <a:noFill/>
        </p:spPr>
        <p:txBody>
          <a:bodyPr wrap="square" lIns="111173" tIns="37058" rIns="111173" bIns="37058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分片存储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892491" y="4032462"/>
            <a:ext cx="741155" cy="259404"/>
          </a:xfrm>
          <a:custGeom>
            <a:avLst/>
            <a:gdLst/>
            <a:ahLst/>
            <a:cxnLst/>
            <a:rect l="l" t="t" r="r" b="b"/>
            <a:pathLst>
              <a:path w="741155" h="259404">
                <a:moveTo>
                  <a:pt x="129702" y="0"/>
                </a:moveTo>
                <a:lnTo>
                  <a:pt x="611453" y="0"/>
                </a:lnTo>
                <a:cubicBezTo>
                  <a:pt x="683085" y="0"/>
                  <a:pt x="741155" y="58070"/>
                  <a:pt x="741155" y="129702"/>
                </a:cubicBezTo>
                <a:lnTo>
                  <a:pt x="741155" y="129702"/>
                </a:lnTo>
                <a:cubicBezTo>
                  <a:pt x="741155" y="201335"/>
                  <a:pt x="683085" y="259404"/>
                  <a:pt x="611453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</p:spPr>
      </p:sp>
      <p:sp>
        <p:nvSpPr>
          <p:cNvPr id="49" name="Text 46"/>
          <p:cNvSpPr/>
          <p:nvPr/>
        </p:nvSpPr>
        <p:spPr>
          <a:xfrm>
            <a:off x="7892491" y="4032462"/>
            <a:ext cx="806006" cy="259404"/>
          </a:xfrm>
          <a:prstGeom prst="rect">
            <a:avLst/>
          </a:prstGeom>
          <a:noFill/>
        </p:spPr>
        <p:txBody>
          <a:bodyPr wrap="square" lIns="111173" tIns="37058" rIns="111173" bIns="37058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倒排索引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5056646" y="4915248"/>
            <a:ext cx="3298140" cy="1760243"/>
          </a:xfrm>
          <a:custGeom>
            <a:avLst/>
            <a:gdLst/>
            <a:ahLst/>
            <a:cxnLst/>
            <a:rect l="l" t="t" r="r" b="b"/>
            <a:pathLst>
              <a:path w="3298140" h="1760243">
                <a:moveTo>
                  <a:pt x="37058" y="0"/>
                </a:moveTo>
                <a:lnTo>
                  <a:pt x="3186963" y="0"/>
                </a:lnTo>
                <a:cubicBezTo>
                  <a:pt x="3248364" y="0"/>
                  <a:pt x="3298140" y="49776"/>
                  <a:pt x="3298140" y="111177"/>
                </a:cubicBezTo>
                <a:lnTo>
                  <a:pt x="3298140" y="1649066"/>
                </a:lnTo>
                <a:cubicBezTo>
                  <a:pt x="3298140" y="1710468"/>
                  <a:pt x="3248364" y="1760243"/>
                  <a:pt x="3186963" y="1760243"/>
                </a:cubicBezTo>
                <a:lnTo>
                  <a:pt x="37058" y="1760243"/>
                </a:lnTo>
                <a:cubicBezTo>
                  <a:pt x="16591" y="1760243"/>
                  <a:pt x="0" y="1743652"/>
                  <a:pt x="0" y="1723185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51" name="Shape 48"/>
          <p:cNvSpPr/>
          <p:nvPr/>
        </p:nvSpPr>
        <p:spPr>
          <a:xfrm>
            <a:off x="5056646" y="4915248"/>
            <a:ext cx="37058" cy="1760243"/>
          </a:xfrm>
          <a:custGeom>
            <a:avLst/>
            <a:gdLst/>
            <a:ahLst/>
            <a:cxnLst/>
            <a:rect l="l" t="t" r="r" b="b"/>
            <a:pathLst>
              <a:path w="37058" h="1760243">
                <a:moveTo>
                  <a:pt x="37058" y="0"/>
                </a:moveTo>
                <a:lnTo>
                  <a:pt x="37058" y="0"/>
                </a:lnTo>
                <a:lnTo>
                  <a:pt x="37058" y="1760243"/>
                </a:lnTo>
                <a:lnTo>
                  <a:pt x="37058" y="1760243"/>
                </a:lnTo>
                <a:cubicBezTo>
                  <a:pt x="16591" y="1760243"/>
                  <a:pt x="0" y="1743652"/>
                  <a:pt x="0" y="1723185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52" name="Shape 49"/>
          <p:cNvSpPr/>
          <p:nvPr/>
        </p:nvSpPr>
        <p:spPr>
          <a:xfrm>
            <a:off x="5260464" y="5100537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111175" y="0"/>
                </a:moveTo>
                <a:lnTo>
                  <a:pt x="407633" y="0"/>
                </a:lnTo>
                <a:cubicBezTo>
                  <a:pt x="469034" y="0"/>
                  <a:pt x="518809" y="49775"/>
                  <a:pt x="518809" y="111175"/>
                </a:cubicBezTo>
                <a:lnTo>
                  <a:pt x="518809" y="407633"/>
                </a:lnTo>
                <a:cubicBezTo>
                  <a:pt x="518809" y="469034"/>
                  <a:pt x="469034" y="518809"/>
                  <a:pt x="407633" y="518809"/>
                </a:cubicBezTo>
                <a:lnTo>
                  <a:pt x="111175" y="518809"/>
                </a:lnTo>
                <a:cubicBezTo>
                  <a:pt x="49816" y="518809"/>
                  <a:pt x="0" y="468992"/>
                  <a:pt x="0" y="407633"/>
                </a:cubicBezTo>
                <a:lnTo>
                  <a:pt x="0" y="111175"/>
                </a:lnTo>
                <a:cubicBezTo>
                  <a:pt x="0" y="49816"/>
                  <a:pt x="49816" y="0"/>
                  <a:pt x="111175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</p:spPr>
      </p:sp>
      <p:sp>
        <p:nvSpPr>
          <p:cNvPr id="53" name="Shape 50"/>
          <p:cNvSpPr/>
          <p:nvPr/>
        </p:nvSpPr>
        <p:spPr>
          <a:xfrm>
            <a:off x="5408695" y="5248768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0" y="34742"/>
                </a:moveTo>
                <a:cubicBezTo>
                  <a:pt x="0" y="23233"/>
                  <a:pt x="9337" y="13897"/>
                  <a:pt x="20845" y="13897"/>
                </a:cubicBezTo>
                <a:lnTo>
                  <a:pt x="62535" y="13897"/>
                </a:lnTo>
                <a:cubicBezTo>
                  <a:pt x="74043" y="13897"/>
                  <a:pt x="83380" y="23233"/>
                  <a:pt x="83380" y="34742"/>
                </a:cubicBezTo>
                <a:lnTo>
                  <a:pt x="83380" y="41690"/>
                </a:lnTo>
                <a:lnTo>
                  <a:pt x="138967" y="41690"/>
                </a:lnTo>
                <a:lnTo>
                  <a:pt x="138967" y="34742"/>
                </a:lnTo>
                <a:cubicBezTo>
                  <a:pt x="138967" y="23233"/>
                  <a:pt x="148303" y="13897"/>
                  <a:pt x="159812" y="13897"/>
                </a:cubicBezTo>
                <a:lnTo>
                  <a:pt x="201502" y="13897"/>
                </a:lnTo>
                <a:cubicBezTo>
                  <a:pt x="213010" y="13897"/>
                  <a:pt x="222347" y="23233"/>
                  <a:pt x="222347" y="34742"/>
                </a:cubicBezTo>
                <a:lnTo>
                  <a:pt x="222347" y="76432"/>
                </a:lnTo>
                <a:cubicBezTo>
                  <a:pt x="222347" y="87940"/>
                  <a:pt x="213010" y="97277"/>
                  <a:pt x="201502" y="97277"/>
                </a:cubicBezTo>
                <a:lnTo>
                  <a:pt x="159812" y="97277"/>
                </a:lnTo>
                <a:cubicBezTo>
                  <a:pt x="148303" y="97277"/>
                  <a:pt x="138967" y="87940"/>
                  <a:pt x="138967" y="76432"/>
                </a:cubicBezTo>
                <a:lnTo>
                  <a:pt x="138967" y="69483"/>
                </a:lnTo>
                <a:lnTo>
                  <a:pt x="83380" y="69483"/>
                </a:lnTo>
                <a:lnTo>
                  <a:pt x="83380" y="76432"/>
                </a:lnTo>
                <a:cubicBezTo>
                  <a:pt x="83380" y="79602"/>
                  <a:pt x="82642" y="82642"/>
                  <a:pt x="81382" y="85334"/>
                </a:cubicBezTo>
                <a:lnTo>
                  <a:pt x="111173" y="125070"/>
                </a:lnTo>
                <a:lnTo>
                  <a:pt x="145915" y="125070"/>
                </a:lnTo>
                <a:cubicBezTo>
                  <a:pt x="157423" y="125070"/>
                  <a:pt x="166760" y="134407"/>
                  <a:pt x="166760" y="145915"/>
                </a:cubicBezTo>
                <a:lnTo>
                  <a:pt x="166760" y="187605"/>
                </a:lnTo>
                <a:cubicBezTo>
                  <a:pt x="166760" y="199113"/>
                  <a:pt x="157423" y="208450"/>
                  <a:pt x="145915" y="208450"/>
                </a:cubicBezTo>
                <a:lnTo>
                  <a:pt x="104225" y="208450"/>
                </a:lnTo>
                <a:cubicBezTo>
                  <a:pt x="92717" y="208450"/>
                  <a:pt x="83380" y="199113"/>
                  <a:pt x="83380" y="187605"/>
                </a:cubicBezTo>
                <a:lnTo>
                  <a:pt x="83380" y="145915"/>
                </a:lnTo>
                <a:cubicBezTo>
                  <a:pt x="83380" y="142745"/>
                  <a:pt x="84118" y="139705"/>
                  <a:pt x="85378" y="137012"/>
                </a:cubicBezTo>
                <a:lnTo>
                  <a:pt x="55587" y="97277"/>
                </a:lnTo>
                <a:lnTo>
                  <a:pt x="20845" y="97277"/>
                </a:lnTo>
                <a:cubicBezTo>
                  <a:pt x="9337" y="97277"/>
                  <a:pt x="0" y="87940"/>
                  <a:pt x="0" y="76432"/>
                </a:cubicBezTo>
                <a:lnTo>
                  <a:pt x="0" y="34742"/>
                </a:lnTo>
                <a:close/>
              </a:path>
            </a:pathLst>
          </a:custGeom>
          <a:solidFill>
            <a:srgbClr val="F6AD55"/>
          </a:solidFill>
        </p:spPr>
      </p:sp>
      <p:sp>
        <p:nvSpPr>
          <p:cNvPr id="54" name="Text 51"/>
          <p:cNvSpPr/>
          <p:nvPr/>
        </p:nvSpPr>
        <p:spPr>
          <a:xfrm>
            <a:off x="5927503" y="5100537"/>
            <a:ext cx="2334638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系统复杂性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5927503" y="5434056"/>
            <a:ext cx="2316109" cy="7226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订单流程涉及多个微服务（订单、库存、优惠券、支付），需保障分布式事务的数据一致性。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5927503" y="6230798"/>
            <a:ext cx="481751" cy="259404"/>
          </a:xfrm>
          <a:custGeom>
            <a:avLst/>
            <a:gdLst/>
            <a:ahLst/>
            <a:cxnLst/>
            <a:rect l="l" t="t" r="r" b="b"/>
            <a:pathLst>
              <a:path w="481751" h="259404">
                <a:moveTo>
                  <a:pt x="129702" y="0"/>
                </a:moveTo>
                <a:lnTo>
                  <a:pt x="352049" y="0"/>
                </a:lnTo>
                <a:cubicBezTo>
                  <a:pt x="423681" y="0"/>
                  <a:pt x="481751" y="58070"/>
                  <a:pt x="481751" y="129702"/>
                </a:cubicBezTo>
                <a:lnTo>
                  <a:pt x="481751" y="129702"/>
                </a:lnTo>
                <a:cubicBezTo>
                  <a:pt x="481751" y="201335"/>
                  <a:pt x="423681" y="259404"/>
                  <a:pt x="352049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</p:spPr>
      </p:sp>
      <p:sp>
        <p:nvSpPr>
          <p:cNvPr id="57" name="Text 54"/>
          <p:cNvSpPr/>
          <p:nvPr/>
        </p:nvSpPr>
        <p:spPr>
          <a:xfrm>
            <a:off x="5927503" y="6230798"/>
            <a:ext cx="546602" cy="259404"/>
          </a:xfrm>
          <a:prstGeom prst="rect">
            <a:avLst/>
          </a:prstGeom>
          <a:noFill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Seata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484759" y="6230798"/>
            <a:ext cx="407635" cy="259404"/>
          </a:xfrm>
          <a:custGeom>
            <a:avLst/>
            <a:gdLst/>
            <a:ahLst/>
            <a:cxnLst/>
            <a:rect l="l" t="t" r="r" b="b"/>
            <a:pathLst>
              <a:path w="407635" h="259404">
                <a:moveTo>
                  <a:pt x="129702" y="0"/>
                </a:moveTo>
                <a:lnTo>
                  <a:pt x="277933" y="0"/>
                </a:lnTo>
                <a:cubicBezTo>
                  <a:pt x="349566" y="0"/>
                  <a:pt x="407635" y="58070"/>
                  <a:pt x="407635" y="129702"/>
                </a:cubicBezTo>
                <a:lnTo>
                  <a:pt x="407635" y="129702"/>
                </a:lnTo>
                <a:cubicBezTo>
                  <a:pt x="407635" y="201335"/>
                  <a:pt x="349566" y="259404"/>
                  <a:pt x="277933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</p:spPr>
      </p:sp>
      <p:sp>
        <p:nvSpPr>
          <p:cNvPr id="59" name="Text 56"/>
          <p:cNvSpPr/>
          <p:nvPr/>
        </p:nvSpPr>
        <p:spPr>
          <a:xfrm>
            <a:off x="6484759" y="6230798"/>
            <a:ext cx="472486" cy="259404"/>
          </a:xfrm>
          <a:prstGeom prst="rect">
            <a:avLst/>
          </a:prstGeom>
          <a:noFill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TCC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520272" y="4915248"/>
            <a:ext cx="3298140" cy="1760243"/>
          </a:xfrm>
          <a:custGeom>
            <a:avLst/>
            <a:gdLst/>
            <a:ahLst/>
            <a:cxnLst/>
            <a:rect l="l" t="t" r="r" b="b"/>
            <a:pathLst>
              <a:path w="3298140" h="1760243">
                <a:moveTo>
                  <a:pt x="37058" y="0"/>
                </a:moveTo>
                <a:lnTo>
                  <a:pt x="3186963" y="0"/>
                </a:lnTo>
                <a:cubicBezTo>
                  <a:pt x="3248364" y="0"/>
                  <a:pt x="3298140" y="49776"/>
                  <a:pt x="3298140" y="111177"/>
                </a:cubicBezTo>
                <a:lnTo>
                  <a:pt x="3298140" y="1649066"/>
                </a:lnTo>
                <a:cubicBezTo>
                  <a:pt x="3298140" y="1710468"/>
                  <a:pt x="3248364" y="1760243"/>
                  <a:pt x="3186963" y="1760243"/>
                </a:cubicBezTo>
                <a:lnTo>
                  <a:pt x="37058" y="1760243"/>
                </a:lnTo>
                <a:cubicBezTo>
                  <a:pt x="16591" y="1760243"/>
                  <a:pt x="0" y="1743652"/>
                  <a:pt x="0" y="1723185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61" name="Shape 58"/>
          <p:cNvSpPr/>
          <p:nvPr/>
        </p:nvSpPr>
        <p:spPr>
          <a:xfrm>
            <a:off x="8520272" y="4915248"/>
            <a:ext cx="37058" cy="1760243"/>
          </a:xfrm>
          <a:custGeom>
            <a:avLst/>
            <a:gdLst/>
            <a:ahLst/>
            <a:cxnLst/>
            <a:rect l="l" t="t" r="r" b="b"/>
            <a:pathLst>
              <a:path w="37058" h="1760243">
                <a:moveTo>
                  <a:pt x="37058" y="0"/>
                </a:moveTo>
                <a:lnTo>
                  <a:pt x="37058" y="0"/>
                </a:lnTo>
                <a:lnTo>
                  <a:pt x="37058" y="1760243"/>
                </a:lnTo>
                <a:lnTo>
                  <a:pt x="37058" y="1760243"/>
                </a:lnTo>
                <a:cubicBezTo>
                  <a:pt x="16591" y="1760243"/>
                  <a:pt x="0" y="1743652"/>
                  <a:pt x="0" y="1723185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62" name="Shape 59"/>
          <p:cNvSpPr/>
          <p:nvPr/>
        </p:nvSpPr>
        <p:spPr>
          <a:xfrm>
            <a:off x="8724089" y="5100537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111175" y="0"/>
                </a:moveTo>
                <a:lnTo>
                  <a:pt x="407633" y="0"/>
                </a:lnTo>
                <a:cubicBezTo>
                  <a:pt x="469034" y="0"/>
                  <a:pt x="518809" y="49775"/>
                  <a:pt x="518809" y="111175"/>
                </a:cubicBezTo>
                <a:lnTo>
                  <a:pt x="518809" y="407633"/>
                </a:lnTo>
                <a:cubicBezTo>
                  <a:pt x="518809" y="469034"/>
                  <a:pt x="469034" y="518809"/>
                  <a:pt x="407633" y="518809"/>
                </a:cubicBezTo>
                <a:lnTo>
                  <a:pt x="111175" y="518809"/>
                </a:lnTo>
                <a:cubicBezTo>
                  <a:pt x="49816" y="518809"/>
                  <a:pt x="0" y="468992"/>
                  <a:pt x="0" y="407633"/>
                </a:cubicBezTo>
                <a:lnTo>
                  <a:pt x="0" y="111175"/>
                </a:lnTo>
                <a:cubicBezTo>
                  <a:pt x="0" y="49816"/>
                  <a:pt x="49816" y="0"/>
                  <a:pt x="111175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</p:spPr>
      </p:sp>
      <p:sp>
        <p:nvSpPr>
          <p:cNvPr id="63" name="Shape 60"/>
          <p:cNvSpPr/>
          <p:nvPr/>
        </p:nvSpPr>
        <p:spPr>
          <a:xfrm>
            <a:off x="8886217" y="5248768"/>
            <a:ext cx="194553" cy="222347"/>
          </a:xfrm>
          <a:custGeom>
            <a:avLst/>
            <a:gdLst/>
            <a:ahLst/>
            <a:cxnLst/>
            <a:rect l="l" t="t" r="r" b="b"/>
            <a:pathLst>
              <a:path w="194553" h="222347">
                <a:moveTo>
                  <a:pt x="27793" y="13897"/>
                </a:moveTo>
                <a:cubicBezTo>
                  <a:pt x="12464" y="13897"/>
                  <a:pt x="0" y="26360"/>
                  <a:pt x="0" y="41690"/>
                </a:cubicBezTo>
                <a:lnTo>
                  <a:pt x="0" y="180657"/>
                </a:lnTo>
                <a:cubicBezTo>
                  <a:pt x="0" y="195986"/>
                  <a:pt x="12464" y="208450"/>
                  <a:pt x="27793" y="208450"/>
                </a:cubicBezTo>
                <a:lnTo>
                  <a:pt x="166760" y="208450"/>
                </a:lnTo>
                <a:cubicBezTo>
                  <a:pt x="182090" y="208450"/>
                  <a:pt x="194553" y="195986"/>
                  <a:pt x="194553" y="180657"/>
                </a:cubicBezTo>
                <a:lnTo>
                  <a:pt x="194553" y="41690"/>
                </a:lnTo>
                <a:cubicBezTo>
                  <a:pt x="194553" y="26360"/>
                  <a:pt x="182090" y="13897"/>
                  <a:pt x="166760" y="13897"/>
                </a:cubicBezTo>
                <a:lnTo>
                  <a:pt x="27793" y="13897"/>
                </a:lnTo>
                <a:close/>
                <a:moveTo>
                  <a:pt x="55587" y="48638"/>
                </a:moveTo>
                <a:cubicBezTo>
                  <a:pt x="67091" y="48638"/>
                  <a:pt x="76432" y="57979"/>
                  <a:pt x="76432" y="69483"/>
                </a:cubicBezTo>
                <a:cubicBezTo>
                  <a:pt x="76432" y="80988"/>
                  <a:pt x="67091" y="90328"/>
                  <a:pt x="55587" y="90328"/>
                </a:cubicBezTo>
                <a:cubicBezTo>
                  <a:pt x="44082" y="90328"/>
                  <a:pt x="34742" y="80988"/>
                  <a:pt x="34742" y="69483"/>
                </a:cubicBezTo>
                <a:cubicBezTo>
                  <a:pt x="34742" y="57979"/>
                  <a:pt x="44082" y="48638"/>
                  <a:pt x="55587" y="48638"/>
                </a:cubicBezTo>
                <a:close/>
                <a:moveTo>
                  <a:pt x="118122" y="97277"/>
                </a:moveTo>
                <a:cubicBezTo>
                  <a:pt x="121769" y="97277"/>
                  <a:pt x="125113" y="99187"/>
                  <a:pt x="127024" y="102271"/>
                </a:cubicBezTo>
                <a:lnTo>
                  <a:pt x="165240" y="164806"/>
                </a:lnTo>
                <a:cubicBezTo>
                  <a:pt x="167194" y="168019"/>
                  <a:pt x="167281" y="172058"/>
                  <a:pt x="165457" y="175358"/>
                </a:cubicBezTo>
                <a:cubicBezTo>
                  <a:pt x="163633" y="178659"/>
                  <a:pt x="160116" y="180657"/>
                  <a:pt x="156337" y="180657"/>
                </a:cubicBezTo>
                <a:lnTo>
                  <a:pt x="38216" y="180657"/>
                </a:lnTo>
                <a:cubicBezTo>
                  <a:pt x="34351" y="180657"/>
                  <a:pt x="30746" y="178485"/>
                  <a:pt x="28966" y="175054"/>
                </a:cubicBezTo>
                <a:cubicBezTo>
                  <a:pt x="27185" y="171624"/>
                  <a:pt x="27446" y="167455"/>
                  <a:pt x="29661" y="164285"/>
                </a:cubicBezTo>
                <a:lnTo>
                  <a:pt x="53980" y="129543"/>
                </a:lnTo>
                <a:cubicBezTo>
                  <a:pt x="55934" y="126764"/>
                  <a:pt x="59104" y="125113"/>
                  <a:pt x="62535" y="125113"/>
                </a:cubicBezTo>
                <a:cubicBezTo>
                  <a:pt x="65966" y="125113"/>
                  <a:pt x="69136" y="126764"/>
                  <a:pt x="71090" y="129543"/>
                </a:cubicBezTo>
                <a:lnTo>
                  <a:pt x="82555" y="145958"/>
                </a:lnTo>
                <a:lnTo>
                  <a:pt x="109219" y="102314"/>
                </a:lnTo>
                <a:cubicBezTo>
                  <a:pt x="111130" y="99231"/>
                  <a:pt x="114474" y="97320"/>
                  <a:pt x="118122" y="9732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64" name="Text 61"/>
          <p:cNvSpPr/>
          <p:nvPr/>
        </p:nvSpPr>
        <p:spPr>
          <a:xfrm>
            <a:off x="9391129" y="5100537"/>
            <a:ext cx="2334638" cy="259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资源与性能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9391129" y="5434056"/>
            <a:ext cx="2316109" cy="7226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需高效管理海量图片视频资源，并确保核心接口（如商品详情）的响应速度。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9391129" y="6230798"/>
            <a:ext cx="500280" cy="259404"/>
          </a:xfrm>
          <a:custGeom>
            <a:avLst/>
            <a:gdLst/>
            <a:ahLst/>
            <a:cxnLst/>
            <a:rect l="l" t="t" r="r" b="b"/>
            <a:pathLst>
              <a:path w="500280" h="259404">
                <a:moveTo>
                  <a:pt x="129702" y="0"/>
                </a:moveTo>
                <a:lnTo>
                  <a:pt x="370578" y="0"/>
                </a:lnTo>
                <a:cubicBezTo>
                  <a:pt x="442210" y="0"/>
                  <a:pt x="500280" y="58070"/>
                  <a:pt x="500280" y="129702"/>
                </a:cubicBezTo>
                <a:lnTo>
                  <a:pt x="500280" y="129702"/>
                </a:lnTo>
                <a:cubicBezTo>
                  <a:pt x="500280" y="201335"/>
                  <a:pt x="442210" y="259404"/>
                  <a:pt x="370578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</p:spPr>
      </p:sp>
      <p:sp>
        <p:nvSpPr>
          <p:cNvPr id="67" name="Text 64"/>
          <p:cNvSpPr/>
          <p:nvPr/>
        </p:nvSpPr>
        <p:spPr>
          <a:xfrm>
            <a:off x="9391129" y="6230798"/>
            <a:ext cx="565131" cy="259404"/>
          </a:xfrm>
          <a:prstGeom prst="rect">
            <a:avLst/>
          </a:prstGeom>
          <a:noFill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MinIO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9964714" y="6230798"/>
            <a:ext cx="426164" cy="259404"/>
          </a:xfrm>
          <a:custGeom>
            <a:avLst/>
            <a:gdLst/>
            <a:ahLst/>
            <a:cxnLst/>
            <a:rect l="l" t="t" r="r" b="b"/>
            <a:pathLst>
              <a:path w="426164" h="259404">
                <a:moveTo>
                  <a:pt x="129702" y="0"/>
                </a:moveTo>
                <a:lnTo>
                  <a:pt x="296462" y="0"/>
                </a:lnTo>
                <a:cubicBezTo>
                  <a:pt x="368095" y="0"/>
                  <a:pt x="426164" y="58070"/>
                  <a:pt x="426164" y="129702"/>
                </a:cubicBezTo>
                <a:lnTo>
                  <a:pt x="426164" y="129702"/>
                </a:lnTo>
                <a:cubicBezTo>
                  <a:pt x="426164" y="201335"/>
                  <a:pt x="368095" y="259404"/>
                  <a:pt x="296462" y="259404"/>
                </a:cubicBezTo>
                <a:lnTo>
                  <a:pt x="129702" y="259404"/>
                </a:lnTo>
                <a:cubicBezTo>
                  <a:pt x="58070" y="259404"/>
                  <a:pt x="0" y="201335"/>
                  <a:pt x="0" y="129702"/>
                </a:cubicBezTo>
                <a:lnTo>
                  <a:pt x="0" y="129702"/>
                </a:lnTo>
                <a:cubicBezTo>
                  <a:pt x="0" y="58070"/>
                  <a:pt x="58070" y="0"/>
                  <a:pt x="1297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</p:spPr>
      </p:sp>
      <p:sp>
        <p:nvSpPr>
          <p:cNvPr id="69" name="Text 66"/>
          <p:cNvSpPr/>
          <p:nvPr/>
        </p:nvSpPr>
        <p:spPr>
          <a:xfrm>
            <a:off x="9964714" y="6230798"/>
            <a:ext cx="491015" cy="259404"/>
          </a:xfrm>
          <a:prstGeom prst="rect">
            <a:avLst/>
          </a:prstGeom>
          <a:noFill/>
        </p:spPr>
        <p:txBody>
          <a:bodyPr wrap="square" lIns="74116" tIns="37058" rIns="74116" bIns="37058" rtlCol="0" anchor="ctr"/>
          <a:lstStyle/>
          <a:p>
            <a:pPr>
              <a:lnSpc>
                <a:spcPct val="120000"/>
              </a:lnSpc>
            </a:pPr>
            <a:r>
              <a:rPr lang="en-US" sz="1020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CDN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17500" y="412750"/>
            <a:ext cx="508000" cy="31750"/>
          </a:xfrm>
          <a:custGeom>
            <a:avLst/>
            <a:gdLst/>
            <a:ahLst/>
            <a:cxnLst/>
            <a:rect l="l" t="t" r="r" b="b"/>
            <a:pathLst>
              <a:path w="508000" h="31750">
                <a:moveTo>
                  <a:pt x="0" y="0"/>
                </a:moveTo>
                <a:lnTo>
                  <a:pt x="508000" y="0"/>
                </a:lnTo>
                <a:lnTo>
                  <a:pt x="508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4" name="Text 1"/>
          <p:cNvSpPr/>
          <p:nvPr/>
        </p:nvSpPr>
        <p:spPr>
          <a:xfrm>
            <a:off x="952500" y="317500"/>
            <a:ext cx="1912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kern="0" spc="56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 · BUSINESS PROCESS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7500" y="698500"/>
            <a:ext cx="3619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核心功能与业务流程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299700" y="857250"/>
            <a:ext cx="16510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完整B2C电商业务链路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3375" y="1206500"/>
            <a:ext cx="5683250" cy="2984500"/>
          </a:xfrm>
          <a:custGeom>
            <a:avLst/>
            <a:gdLst/>
            <a:ahLst/>
            <a:cxnLst/>
            <a:rect l="l" t="t" r="r" b="b"/>
            <a:pathLst>
              <a:path w="5683250" h="2984500">
                <a:moveTo>
                  <a:pt x="31750" y="0"/>
                </a:moveTo>
                <a:lnTo>
                  <a:pt x="5588015" y="0"/>
                </a:lnTo>
                <a:cubicBezTo>
                  <a:pt x="5640612" y="0"/>
                  <a:pt x="5683250" y="42638"/>
                  <a:pt x="5683250" y="95235"/>
                </a:cubicBezTo>
                <a:lnTo>
                  <a:pt x="5683250" y="2889265"/>
                </a:lnTo>
                <a:cubicBezTo>
                  <a:pt x="5683250" y="2941862"/>
                  <a:pt x="5640612" y="2984500"/>
                  <a:pt x="5588015" y="2984500"/>
                </a:cubicBezTo>
                <a:lnTo>
                  <a:pt x="31750" y="2984500"/>
                </a:lnTo>
                <a:cubicBezTo>
                  <a:pt x="14215" y="2984500"/>
                  <a:pt x="0" y="2970285"/>
                  <a:pt x="0" y="295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8" name="Shape 5"/>
          <p:cNvSpPr/>
          <p:nvPr/>
        </p:nvSpPr>
        <p:spPr>
          <a:xfrm>
            <a:off x="333375" y="1206500"/>
            <a:ext cx="31750" cy="2984500"/>
          </a:xfrm>
          <a:custGeom>
            <a:avLst/>
            <a:gdLst/>
            <a:ahLst/>
            <a:cxnLst/>
            <a:rect l="l" t="t" r="r" b="b"/>
            <a:pathLst>
              <a:path w="31750" h="2984500">
                <a:moveTo>
                  <a:pt x="31750" y="0"/>
                </a:moveTo>
                <a:lnTo>
                  <a:pt x="31750" y="0"/>
                </a:lnTo>
                <a:lnTo>
                  <a:pt x="31750" y="2984500"/>
                </a:lnTo>
                <a:lnTo>
                  <a:pt x="31750" y="2984500"/>
                </a:lnTo>
                <a:cubicBezTo>
                  <a:pt x="14227" y="2984500"/>
                  <a:pt x="0" y="2970273"/>
                  <a:pt x="0" y="295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9" name="Shape 6"/>
          <p:cNvSpPr/>
          <p:nvPr/>
        </p:nvSpPr>
        <p:spPr>
          <a:xfrm>
            <a:off x="508000" y="1365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10" name="Shape 7"/>
          <p:cNvSpPr/>
          <p:nvPr/>
        </p:nvSpPr>
        <p:spPr>
          <a:xfrm>
            <a:off x="629047" y="147637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69453" y="76895"/>
                </a:moveTo>
                <a:cubicBezTo>
                  <a:pt x="89988" y="76895"/>
                  <a:pt x="106660" y="60223"/>
                  <a:pt x="106660" y="39688"/>
                </a:cubicBezTo>
                <a:cubicBezTo>
                  <a:pt x="106660" y="19152"/>
                  <a:pt x="89988" y="2480"/>
                  <a:pt x="69453" y="2480"/>
                </a:cubicBezTo>
                <a:cubicBezTo>
                  <a:pt x="48918" y="2480"/>
                  <a:pt x="32246" y="19152"/>
                  <a:pt x="32246" y="39688"/>
                </a:cubicBezTo>
                <a:cubicBezTo>
                  <a:pt x="32246" y="60223"/>
                  <a:pt x="48918" y="76895"/>
                  <a:pt x="69453" y="76895"/>
                </a:cubicBezTo>
                <a:close/>
                <a:moveTo>
                  <a:pt x="60244" y="94258"/>
                </a:moveTo>
                <a:cubicBezTo>
                  <a:pt x="29704" y="94258"/>
                  <a:pt x="4961" y="119000"/>
                  <a:pt x="4961" y="149541"/>
                </a:cubicBezTo>
                <a:cubicBezTo>
                  <a:pt x="4961" y="154626"/>
                  <a:pt x="9085" y="158750"/>
                  <a:pt x="14170" y="158750"/>
                </a:cubicBezTo>
                <a:lnTo>
                  <a:pt x="124737" y="158750"/>
                </a:lnTo>
                <a:cubicBezTo>
                  <a:pt x="129822" y="158750"/>
                  <a:pt x="133945" y="154626"/>
                  <a:pt x="133945" y="149541"/>
                </a:cubicBezTo>
                <a:cubicBezTo>
                  <a:pt x="133945" y="119000"/>
                  <a:pt x="109203" y="94258"/>
                  <a:pt x="78662" y="94258"/>
                </a:cubicBezTo>
                <a:lnTo>
                  <a:pt x="60244" y="94258"/>
                </a:lnTo>
                <a:close/>
              </a:path>
            </a:pathLst>
          </a:custGeom>
          <a:solidFill>
            <a:srgbClr val="1A202C"/>
          </a:solidFill>
        </p:spPr>
      </p:sp>
      <p:sp>
        <p:nvSpPr>
          <p:cNvPr id="11" name="Text 8"/>
          <p:cNvSpPr/>
          <p:nvPr/>
        </p:nvSpPr>
        <p:spPr>
          <a:xfrm>
            <a:off x="984250" y="1428750"/>
            <a:ext cx="1047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用户端流程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8000" y="1873250"/>
            <a:ext cx="1595438" cy="603250"/>
          </a:xfrm>
          <a:custGeom>
            <a:avLst/>
            <a:gdLst/>
            <a:ahLst/>
            <a:cxnLst/>
            <a:rect l="l" t="t" r="r" b="b"/>
            <a:pathLst>
              <a:path w="1595438" h="603250">
                <a:moveTo>
                  <a:pt x="63498" y="0"/>
                </a:moveTo>
                <a:lnTo>
                  <a:pt x="1531939" y="0"/>
                </a:lnTo>
                <a:cubicBezTo>
                  <a:pt x="1567008" y="0"/>
                  <a:pt x="1595438" y="28429"/>
                  <a:pt x="1595438" y="63498"/>
                </a:cubicBezTo>
                <a:lnTo>
                  <a:pt x="1595438" y="539752"/>
                </a:lnTo>
                <a:cubicBezTo>
                  <a:pt x="1595438" y="574821"/>
                  <a:pt x="1567008" y="603250"/>
                  <a:pt x="15319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1224955" y="1968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86134" y="2667"/>
                </a:moveTo>
                <a:cubicBezTo>
                  <a:pt x="82321" y="-868"/>
                  <a:pt x="76429" y="-868"/>
                  <a:pt x="72647" y="2667"/>
                </a:cubicBezTo>
                <a:lnTo>
                  <a:pt x="3194" y="67159"/>
                </a:lnTo>
                <a:cubicBezTo>
                  <a:pt x="217" y="69949"/>
                  <a:pt x="-775" y="74259"/>
                  <a:pt x="713" y="78042"/>
                </a:cubicBezTo>
                <a:cubicBezTo>
                  <a:pt x="2201" y="81824"/>
                  <a:pt x="5829" y="84336"/>
                  <a:pt x="9922" y="84336"/>
                </a:cubicBezTo>
                <a:lnTo>
                  <a:pt x="14883" y="84336"/>
                </a:lnTo>
                <a:lnTo>
                  <a:pt x="14883" y="138906"/>
                </a:lnTo>
                <a:cubicBezTo>
                  <a:pt x="14883" y="149851"/>
                  <a:pt x="23781" y="158750"/>
                  <a:pt x="34727" y="158750"/>
                </a:cubicBezTo>
                <a:lnTo>
                  <a:pt x="124023" y="158750"/>
                </a:lnTo>
                <a:cubicBezTo>
                  <a:pt x="134969" y="158750"/>
                  <a:pt x="143867" y="149851"/>
                  <a:pt x="143867" y="138906"/>
                </a:cubicBezTo>
                <a:lnTo>
                  <a:pt x="143867" y="84336"/>
                </a:lnTo>
                <a:lnTo>
                  <a:pt x="148828" y="84336"/>
                </a:lnTo>
                <a:cubicBezTo>
                  <a:pt x="152921" y="84336"/>
                  <a:pt x="156580" y="81824"/>
                  <a:pt x="158068" y="78042"/>
                </a:cubicBezTo>
                <a:cubicBezTo>
                  <a:pt x="159556" y="74259"/>
                  <a:pt x="158564" y="69918"/>
                  <a:pt x="155587" y="67159"/>
                </a:cubicBezTo>
                <a:lnTo>
                  <a:pt x="86134" y="2667"/>
                </a:lnTo>
                <a:close/>
                <a:moveTo>
                  <a:pt x="74414" y="99219"/>
                </a:moveTo>
                <a:lnTo>
                  <a:pt x="84336" y="99219"/>
                </a:lnTo>
                <a:cubicBezTo>
                  <a:pt x="92552" y="99219"/>
                  <a:pt x="99219" y="105885"/>
                  <a:pt x="99219" y="114102"/>
                </a:cubicBezTo>
                <a:lnTo>
                  <a:pt x="99219" y="143867"/>
                </a:lnTo>
                <a:lnTo>
                  <a:pt x="59531" y="143867"/>
                </a:lnTo>
                <a:lnTo>
                  <a:pt x="59531" y="114102"/>
                </a:lnTo>
                <a:cubicBezTo>
                  <a:pt x="59531" y="105885"/>
                  <a:pt x="66198" y="99219"/>
                  <a:pt x="74414" y="99219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14" name="Text 11"/>
          <p:cNvSpPr/>
          <p:nvPr/>
        </p:nvSpPr>
        <p:spPr>
          <a:xfrm>
            <a:off x="571500" y="2190750"/>
            <a:ext cx="1468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首页浏览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180134" y="21113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95B8C0"/>
          </a:solidFill>
        </p:spPr>
      </p:sp>
      <p:sp>
        <p:nvSpPr>
          <p:cNvPr id="16" name="Shape 13"/>
          <p:cNvSpPr/>
          <p:nvPr/>
        </p:nvSpPr>
        <p:spPr>
          <a:xfrm>
            <a:off x="2386509" y="1873250"/>
            <a:ext cx="1595438" cy="603250"/>
          </a:xfrm>
          <a:custGeom>
            <a:avLst/>
            <a:gdLst/>
            <a:ahLst/>
            <a:cxnLst/>
            <a:rect l="l" t="t" r="r" b="b"/>
            <a:pathLst>
              <a:path w="1595438" h="603250">
                <a:moveTo>
                  <a:pt x="63498" y="0"/>
                </a:moveTo>
                <a:lnTo>
                  <a:pt x="1531939" y="0"/>
                </a:lnTo>
                <a:cubicBezTo>
                  <a:pt x="1567008" y="0"/>
                  <a:pt x="1595438" y="28429"/>
                  <a:pt x="1595438" y="63498"/>
                </a:cubicBezTo>
                <a:lnTo>
                  <a:pt x="1595438" y="539752"/>
                </a:lnTo>
                <a:cubicBezTo>
                  <a:pt x="1595438" y="574821"/>
                  <a:pt x="1567008" y="603250"/>
                  <a:pt x="15319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3103463" y="1968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8984" y="64492"/>
                </a:moveTo>
                <a:cubicBezTo>
                  <a:pt x="128984" y="78724"/>
                  <a:pt x="124365" y="91870"/>
                  <a:pt x="116582" y="102536"/>
                </a:cubicBezTo>
                <a:lnTo>
                  <a:pt x="155835" y="141821"/>
                </a:lnTo>
                <a:cubicBezTo>
                  <a:pt x="159711" y="145697"/>
                  <a:pt x="159711" y="151991"/>
                  <a:pt x="155835" y="155866"/>
                </a:cubicBezTo>
                <a:cubicBezTo>
                  <a:pt x="151960" y="159742"/>
                  <a:pt x="145666" y="159742"/>
                  <a:pt x="141790" y="155866"/>
                </a:cubicBezTo>
                <a:lnTo>
                  <a:pt x="102536" y="116582"/>
                </a:lnTo>
                <a:cubicBezTo>
                  <a:pt x="91870" y="124365"/>
                  <a:pt x="78724" y="128984"/>
                  <a:pt x="64492" y="128984"/>
                </a:cubicBezTo>
                <a:cubicBezTo>
                  <a:pt x="28866" y="128984"/>
                  <a:pt x="0" y="100118"/>
                  <a:pt x="0" y="64492"/>
                </a:cubicBezTo>
                <a:cubicBezTo>
                  <a:pt x="0" y="28866"/>
                  <a:pt x="28866" y="0"/>
                  <a:pt x="64492" y="0"/>
                </a:cubicBezTo>
                <a:cubicBezTo>
                  <a:pt x="100118" y="0"/>
                  <a:pt x="128984" y="28866"/>
                  <a:pt x="128984" y="64492"/>
                </a:cubicBezTo>
                <a:close/>
                <a:moveTo>
                  <a:pt x="64492" y="109141"/>
                </a:moveTo>
                <a:cubicBezTo>
                  <a:pt x="89134" y="109141"/>
                  <a:pt x="109141" y="89134"/>
                  <a:pt x="109141" y="64492"/>
                </a:cubicBezTo>
                <a:cubicBezTo>
                  <a:pt x="109141" y="39850"/>
                  <a:pt x="89134" y="19844"/>
                  <a:pt x="64492" y="19844"/>
                </a:cubicBezTo>
                <a:cubicBezTo>
                  <a:pt x="39850" y="19844"/>
                  <a:pt x="19844" y="39850"/>
                  <a:pt x="19844" y="64492"/>
                </a:cubicBezTo>
                <a:cubicBezTo>
                  <a:pt x="19844" y="89134"/>
                  <a:pt x="39850" y="109141"/>
                  <a:pt x="64492" y="109141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18" name="Text 15"/>
          <p:cNvSpPr/>
          <p:nvPr/>
        </p:nvSpPr>
        <p:spPr>
          <a:xfrm>
            <a:off x="2450009" y="2190750"/>
            <a:ext cx="1468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商品搜索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058642" y="21113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95B8C0"/>
          </a:solidFill>
        </p:spPr>
      </p:sp>
      <p:sp>
        <p:nvSpPr>
          <p:cNvPr id="20" name="Shape 17"/>
          <p:cNvSpPr/>
          <p:nvPr/>
        </p:nvSpPr>
        <p:spPr>
          <a:xfrm>
            <a:off x="4265017" y="1873250"/>
            <a:ext cx="1595438" cy="603250"/>
          </a:xfrm>
          <a:custGeom>
            <a:avLst/>
            <a:gdLst/>
            <a:ahLst/>
            <a:cxnLst/>
            <a:rect l="l" t="t" r="r" b="b"/>
            <a:pathLst>
              <a:path w="1595438" h="603250">
                <a:moveTo>
                  <a:pt x="63498" y="0"/>
                </a:moveTo>
                <a:lnTo>
                  <a:pt x="1531939" y="0"/>
                </a:lnTo>
                <a:cubicBezTo>
                  <a:pt x="1567008" y="0"/>
                  <a:pt x="1595438" y="28429"/>
                  <a:pt x="1595438" y="63498"/>
                </a:cubicBezTo>
                <a:lnTo>
                  <a:pt x="1595438" y="539752"/>
                </a:lnTo>
                <a:cubicBezTo>
                  <a:pt x="1595438" y="574821"/>
                  <a:pt x="1567008" y="603250"/>
                  <a:pt x="15319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4981972" y="1968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69453" y="49609"/>
                </a:moveTo>
                <a:cubicBezTo>
                  <a:pt x="69453" y="44133"/>
                  <a:pt x="73899" y="39688"/>
                  <a:pt x="79375" y="39688"/>
                </a:cubicBezTo>
                <a:cubicBezTo>
                  <a:pt x="84851" y="39688"/>
                  <a:pt x="89297" y="44133"/>
                  <a:pt x="89297" y="49609"/>
                </a:cubicBezTo>
                <a:cubicBezTo>
                  <a:pt x="89297" y="55085"/>
                  <a:pt x="84851" y="59531"/>
                  <a:pt x="79375" y="59531"/>
                </a:cubicBezTo>
                <a:cubicBezTo>
                  <a:pt x="73899" y="59531"/>
                  <a:pt x="69453" y="55085"/>
                  <a:pt x="69453" y="49609"/>
                </a:cubicBezTo>
                <a:close/>
                <a:moveTo>
                  <a:pt x="66973" y="69453"/>
                </a:moveTo>
                <a:lnTo>
                  <a:pt x="81855" y="69453"/>
                </a:lnTo>
                <a:cubicBezTo>
                  <a:pt x="85979" y="69453"/>
                  <a:pt x="89297" y="72771"/>
                  <a:pt x="89297" y="76895"/>
                </a:cubicBezTo>
                <a:lnTo>
                  <a:pt x="89297" y="104180"/>
                </a:lnTo>
                <a:lnTo>
                  <a:pt x="91777" y="104180"/>
                </a:lnTo>
                <a:cubicBezTo>
                  <a:pt x="95901" y="104180"/>
                  <a:pt x="99219" y="107497"/>
                  <a:pt x="99219" y="111621"/>
                </a:cubicBezTo>
                <a:cubicBezTo>
                  <a:pt x="99219" y="115745"/>
                  <a:pt x="95901" y="119062"/>
                  <a:pt x="91777" y="119062"/>
                </a:cubicBezTo>
                <a:lnTo>
                  <a:pt x="66973" y="119062"/>
                </a:lnTo>
                <a:cubicBezTo>
                  <a:pt x="62849" y="119062"/>
                  <a:pt x="59531" y="115745"/>
                  <a:pt x="59531" y="111621"/>
                </a:cubicBezTo>
                <a:cubicBezTo>
                  <a:pt x="59531" y="107497"/>
                  <a:pt x="62849" y="104180"/>
                  <a:pt x="66973" y="104180"/>
                </a:cubicBezTo>
                <a:lnTo>
                  <a:pt x="74414" y="104180"/>
                </a:lnTo>
                <a:lnTo>
                  <a:pt x="74414" y="84336"/>
                </a:lnTo>
                <a:lnTo>
                  <a:pt x="66973" y="84336"/>
                </a:lnTo>
                <a:cubicBezTo>
                  <a:pt x="62849" y="84336"/>
                  <a:pt x="59531" y="81018"/>
                  <a:pt x="59531" y="76895"/>
                </a:cubicBezTo>
                <a:cubicBezTo>
                  <a:pt x="59531" y="72771"/>
                  <a:pt x="62849" y="69453"/>
                  <a:pt x="66973" y="69453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22" name="Text 19"/>
          <p:cNvSpPr/>
          <p:nvPr/>
        </p:nvSpPr>
        <p:spPr>
          <a:xfrm>
            <a:off x="4328517" y="2190750"/>
            <a:ext cx="1468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查看详情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135313" y="254000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95B8C0"/>
          </a:solidFill>
        </p:spPr>
      </p:sp>
      <p:sp>
        <p:nvSpPr>
          <p:cNvPr id="24" name="Shape 21"/>
          <p:cNvSpPr/>
          <p:nvPr/>
        </p:nvSpPr>
        <p:spPr>
          <a:xfrm>
            <a:off x="508000" y="2730500"/>
            <a:ext cx="1595438" cy="603250"/>
          </a:xfrm>
          <a:custGeom>
            <a:avLst/>
            <a:gdLst/>
            <a:ahLst/>
            <a:cxnLst/>
            <a:rect l="l" t="t" r="r" b="b"/>
            <a:pathLst>
              <a:path w="1595438" h="603250">
                <a:moveTo>
                  <a:pt x="63498" y="0"/>
                </a:moveTo>
                <a:lnTo>
                  <a:pt x="1531939" y="0"/>
                </a:lnTo>
                <a:cubicBezTo>
                  <a:pt x="1567008" y="0"/>
                  <a:pt x="1595438" y="28429"/>
                  <a:pt x="1595438" y="63498"/>
                </a:cubicBezTo>
                <a:lnTo>
                  <a:pt x="1595438" y="539752"/>
                </a:lnTo>
                <a:cubicBezTo>
                  <a:pt x="1595438" y="574821"/>
                  <a:pt x="1567008" y="603250"/>
                  <a:pt x="15319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</p:spPr>
      </p:sp>
      <p:sp>
        <p:nvSpPr>
          <p:cNvPr id="25" name="Shape 22"/>
          <p:cNvSpPr/>
          <p:nvPr/>
        </p:nvSpPr>
        <p:spPr>
          <a:xfrm>
            <a:off x="1205111" y="2825750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7441" y="-4961"/>
                </a:moveTo>
                <a:cubicBezTo>
                  <a:pt x="3318" y="-4961"/>
                  <a:pt x="0" y="-1643"/>
                  <a:pt x="0" y="2480"/>
                </a:cubicBezTo>
                <a:cubicBezTo>
                  <a:pt x="0" y="6604"/>
                  <a:pt x="3318" y="9922"/>
                  <a:pt x="7441" y="9922"/>
                </a:cubicBezTo>
                <a:lnTo>
                  <a:pt x="21487" y="9922"/>
                </a:lnTo>
                <a:cubicBezTo>
                  <a:pt x="22696" y="9922"/>
                  <a:pt x="23719" y="10790"/>
                  <a:pt x="23937" y="11968"/>
                </a:cubicBezTo>
                <a:lnTo>
                  <a:pt x="40091" y="100738"/>
                </a:lnTo>
                <a:cubicBezTo>
                  <a:pt x="42013" y="111342"/>
                  <a:pt x="51253" y="119063"/>
                  <a:pt x="62043" y="119063"/>
                </a:cubicBezTo>
                <a:lnTo>
                  <a:pt x="141387" y="119062"/>
                </a:lnTo>
                <a:cubicBezTo>
                  <a:pt x="145510" y="119062"/>
                  <a:pt x="148828" y="115745"/>
                  <a:pt x="148828" y="111621"/>
                </a:cubicBezTo>
                <a:cubicBezTo>
                  <a:pt x="148828" y="107497"/>
                  <a:pt x="145510" y="104180"/>
                  <a:pt x="141387" y="104180"/>
                </a:cubicBezTo>
                <a:lnTo>
                  <a:pt x="62043" y="104180"/>
                </a:lnTo>
                <a:cubicBezTo>
                  <a:pt x="58446" y="104180"/>
                  <a:pt x="55376" y="101606"/>
                  <a:pt x="54725" y="98072"/>
                </a:cubicBezTo>
                <a:lnTo>
                  <a:pt x="53144" y="89297"/>
                </a:lnTo>
                <a:lnTo>
                  <a:pt x="147278" y="89297"/>
                </a:lnTo>
                <a:cubicBezTo>
                  <a:pt x="156828" y="89297"/>
                  <a:pt x="165013" y="82507"/>
                  <a:pt x="166781" y="73112"/>
                </a:cubicBezTo>
                <a:lnTo>
                  <a:pt x="176392" y="21673"/>
                </a:lnTo>
                <a:cubicBezTo>
                  <a:pt x="177540" y="15565"/>
                  <a:pt x="172858" y="9922"/>
                  <a:pt x="166625" y="9922"/>
                </a:cubicBezTo>
                <a:lnTo>
                  <a:pt x="38664" y="9922"/>
                </a:lnTo>
                <a:lnTo>
                  <a:pt x="38540" y="9302"/>
                </a:lnTo>
                <a:cubicBezTo>
                  <a:pt x="37052" y="1054"/>
                  <a:pt x="29859" y="-4961"/>
                  <a:pt x="21456" y="-4961"/>
                </a:cubicBezTo>
                <a:lnTo>
                  <a:pt x="7441" y="-4961"/>
                </a:lnTo>
                <a:close/>
                <a:moveTo>
                  <a:pt x="64492" y="158750"/>
                </a:moveTo>
                <a:cubicBezTo>
                  <a:pt x="72706" y="158750"/>
                  <a:pt x="79375" y="152081"/>
                  <a:pt x="79375" y="143867"/>
                </a:cubicBezTo>
                <a:cubicBezTo>
                  <a:pt x="79375" y="135653"/>
                  <a:pt x="72706" y="128984"/>
                  <a:pt x="64492" y="128984"/>
                </a:cubicBezTo>
                <a:cubicBezTo>
                  <a:pt x="56278" y="128984"/>
                  <a:pt x="49609" y="135653"/>
                  <a:pt x="49609" y="143867"/>
                </a:cubicBezTo>
                <a:cubicBezTo>
                  <a:pt x="49609" y="152081"/>
                  <a:pt x="56278" y="158750"/>
                  <a:pt x="64492" y="158750"/>
                </a:cubicBezTo>
                <a:close/>
                <a:moveTo>
                  <a:pt x="133945" y="158750"/>
                </a:moveTo>
                <a:cubicBezTo>
                  <a:pt x="142159" y="158750"/>
                  <a:pt x="148828" y="152081"/>
                  <a:pt x="148828" y="143867"/>
                </a:cubicBezTo>
                <a:cubicBezTo>
                  <a:pt x="148828" y="135653"/>
                  <a:pt x="142159" y="128984"/>
                  <a:pt x="133945" y="128984"/>
                </a:cubicBezTo>
                <a:cubicBezTo>
                  <a:pt x="125731" y="128984"/>
                  <a:pt x="119062" y="135653"/>
                  <a:pt x="119062" y="143867"/>
                </a:cubicBezTo>
                <a:cubicBezTo>
                  <a:pt x="119062" y="152081"/>
                  <a:pt x="125731" y="158750"/>
                  <a:pt x="133945" y="15875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26" name="Text 23"/>
          <p:cNvSpPr/>
          <p:nvPr/>
        </p:nvSpPr>
        <p:spPr>
          <a:xfrm>
            <a:off x="571500" y="3048000"/>
            <a:ext cx="1468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加入购物车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2180134" y="29686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95B8C0"/>
          </a:solidFill>
        </p:spPr>
      </p:sp>
      <p:sp>
        <p:nvSpPr>
          <p:cNvPr id="28" name="Shape 25"/>
          <p:cNvSpPr/>
          <p:nvPr/>
        </p:nvSpPr>
        <p:spPr>
          <a:xfrm>
            <a:off x="2386509" y="2730500"/>
            <a:ext cx="1595438" cy="603250"/>
          </a:xfrm>
          <a:custGeom>
            <a:avLst/>
            <a:gdLst/>
            <a:ahLst/>
            <a:cxnLst/>
            <a:rect l="l" t="t" r="r" b="b"/>
            <a:pathLst>
              <a:path w="1595438" h="603250">
                <a:moveTo>
                  <a:pt x="63498" y="0"/>
                </a:moveTo>
                <a:lnTo>
                  <a:pt x="1531939" y="0"/>
                </a:lnTo>
                <a:cubicBezTo>
                  <a:pt x="1567008" y="0"/>
                  <a:pt x="1595438" y="28429"/>
                  <a:pt x="1595438" y="63498"/>
                </a:cubicBezTo>
                <a:lnTo>
                  <a:pt x="1595438" y="539752"/>
                </a:lnTo>
                <a:cubicBezTo>
                  <a:pt x="1595438" y="574821"/>
                  <a:pt x="1567008" y="603250"/>
                  <a:pt x="15319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</p:spPr>
      </p:sp>
      <p:sp>
        <p:nvSpPr>
          <p:cNvPr id="29" name="Shape 26"/>
          <p:cNvSpPr/>
          <p:nvPr/>
        </p:nvSpPr>
        <p:spPr>
          <a:xfrm>
            <a:off x="3123307" y="282575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6552" y="9922"/>
                </a:moveTo>
                <a:lnTo>
                  <a:pt x="99219" y="9922"/>
                </a:lnTo>
                <a:cubicBezTo>
                  <a:pt x="110164" y="9922"/>
                  <a:pt x="119062" y="18821"/>
                  <a:pt x="119062" y="2976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22510" y="9922"/>
                </a:lnTo>
                <a:cubicBezTo>
                  <a:pt x="25921" y="4000"/>
                  <a:pt x="32339" y="0"/>
                  <a:pt x="39688" y="0"/>
                </a:cubicBezTo>
                <a:lnTo>
                  <a:pt x="79375" y="0"/>
                </a:lnTo>
                <a:cubicBezTo>
                  <a:pt x="86723" y="0"/>
                  <a:pt x="93142" y="4000"/>
                  <a:pt x="96552" y="9922"/>
                </a:cubicBezTo>
                <a:close/>
                <a:moveTo>
                  <a:pt x="76895" y="34727"/>
                </a:moveTo>
                <a:cubicBezTo>
                  <a:pt x="81018" y="34727"/>
                  <a:pt x="84336" y="31409"/>
                  <a:pt x="84336" y="27285"/>
                </a:cubicBezTo>
                <a:cubicBezTo>
                  <a:pt x="84336" y="23161"/>
                  <a:pt x="81018" y="19844"/>
                  <a:pt x="76895" y="19844"/>
                </a:cubicBezTo>
                <a:lnTo>
                  <a:pt x="42168" y="19844"/>
                </a:lnTo>
                <a:cubicBezTo>
                  <a:pt x="38044" y="19844"/>
                  <a:pt x="34727" y="23161"/>
                  <a:pt x="34727" y="27285"/>
                </a:cubicBezTo>
                <a:cubicBezTo>
                  <a:pt x="34727" y="31409"/>
                  <a:pt x="38044" y="34727"/>
                  <a:pt x="42168" y="34727"/>
                </a:cubicBezTo>
                <a:lnTo>
                  <a:pt x="76895" y="34727"/>
                </a:lnTo>
                <a:close/>
                <a:moveTo>
                  <a:pt x="85700" y="80832"/>
                </a:moveTo>
                <a:cubicBezTo>
                  <a:pt x="87871" y="77360"/>
                  <a:pt x="86816" y="72771"/>
                  <a:pt x="83344" y="70569"/>
                </a:cubicBezTo>
                <a:cubicBezTo>
                  <a:pt x="79871" y="68368"/>
                  <a:pt x="75282" y="69453"/>
                  <a:pt x="73081" y="72926"/>
                </a:cubicBezTo>
                <a:lnTo>
                  <a:pt x="54043" y="103405"/>
                </a:lnTo>
                <a:lnTo>
                  <a:pt x="45672" y="92242"/>
                </a:lnTo>
                <a:cubicBezTo>
                  <a:pt x="43191" y="88956"/>
                  <a:pt x="38540" y="88274"/>
                  <a:pt x="35254" y="90754"/>
                </a:cubicBezTo>
                <a:cubicBezTo>
                  <a:pt x="31967" y="93235"/>
                  <a:pt x="31285" y="97885"/>
                  <a:pt x="33765" y="101172"/>
                </a:cubicBezTo>
                <a:lnTo>
                  <a:pt x="48648" y="121016"/>
                </a:lnTo>
                <a:cubicBezTo>
                  <a:pt x="50105" y="122969"/>
                  <a:pt x="52462" y="124085"/>
                  <a:pt x="54911" y="123992"/>
                </a:cubicBezTo>
                <a:cubicBezTo>
                  <a:pt x="57361" y="123899"/>
                  <a:pt x="59593" y="122597"/>
                  <a:pt x="60896" y="120489"/>
                </a:cubicBezTo>
                <a:lnTo>
                  <a:pt x="85700" y="80801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30" name="Text 27"/>
          <p:cNvSpPr/>
          <p:nvPr/>
        </p:nvSpPr>
        <p:spPr>
          <a:xfrm>
            <a:off x="2450009" y="3048000"/>
            <a:ext cx="1468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创建订单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058642" y="29686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95B8C0"/>
          </a:solidFill>
        </p:spPr>
      </p:sp>
      <p:sp>
        <p:nvSpPr>
          <p:cNvPr id="32" name="Shape 29"/>
          <p:cNvSpPr/>
          <p:nvPr/>
        </p:nvSpPr>
        <p:spPr>
          <a:xfrm>
            <a:off x="4265017" y="2730500"/>
            <a:ext cx="1595438" cy="603250"/>
          </a:xfrm>
          <a:custGeom>
            <a:avLst/>
            <a:gdLst/>
            <a:ahLst/>
            <a:cxnLst/>
            <a:rect l="l" t="t" r="r" b="b"/>
            <a:pathLst>
              <a:path w="1595438" h="603250">
                <a:moveTo>
                  <a:pt x="63498" y="0"/>
                </a:moveTo>
                <a:lnTo>
                  <a:pt x="1531939" y="0"/>
                </a:lnTo>
                <a:cubicBezTo>
                  <a:pt x="1567008" y="0"/>
                  <a:pt x="1595438" y="28429"/>
                  <a:pt x="1595438" y="63498"/>
                </a:cubicBezTo>
                <a:lnTo>
                  <a:pt x="1595438" y="539752"/>
                </a:lnTo>
                <a:cubicBezTo>
                  <a:pt x="1595438" y="574821"/>
                  <a:pt x="1567008" y="603250"/>
                  <a:pt x="15319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</p:spPr>
      </p:sp>
      <p:sp>
        <p:nvSpPr>
          <p:cNvPr id="33" name="Shape 30"/>
          <p:cNvSpPr/>
          <p:nvPr/>
        </p:nvSpPr>
        <p:spPr>
          <a:xfrm>
            <a:off x="4981972" y="28257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39688"/>
                </a:moveTo>
                <a:lnTo>
                  <a:pt x="0" y="49609"/>
                </a:lnTo>
                <a:lnTo>
                  <a:pt x="158750" y="49609"/>
                </a:lnTo>
                <a:lnTo>
                  <a:pt x="158750" y="39688"/>
                </a:lnTo>
                <a:cubicBezTo>
                  <a:pt x="158750" y="28742"/>
                  <a:pt x="149851" y="19844"/>
                  <a:pt x="138906" y="19844"/>
                </a:cubicBezTo>
                <a:lnTo>
                  <a:pt x="19844" y="19844"/>
                </a:lnTo>
                <a:cubicBezTo>
                  <a:pt x="8899" y="19844"/>
                  <a:pt x="0" y="28742"/>
                  <a:pt x="0" y="39688"/>
                </a:cubicBezTo>
                <a:close/>
                <a:moveTo>
                  <a:pt x="0" y="64492"/>
                </a:moveTo>
                <a:lnTo>
                  <a:pt x="0" y="119062"/>
                </a:lnTo>
                <a:cubicBezTo>
                  <a:pt x="0" y="130008"/>
                  <a:pt x="8899" y="138906"/>
                  <a:pt x="19844" y="138906"/>
                </a:cubicBezTo>
                <a:lnTo>
                  <a:pt x="138906" y="138906"/>
                </a:lnTo>
                <a:cubicBezTo>
                  <a:pt x="149851" y="138906"/>
                  <a:pt x="158750" y="130008"/>
                  <a:pt x="158750" y="119062"/>
                </a:cubicBezTo>
                <a:lnTo>
                  <a:pt x="158750" y="64492"/>
                </a:lnTo>
                <a:lnTo>
                  <a:pt x="0" y="64492"/>
                </a:lnTo>
                <a:close/>
                <a:moveTo>
                  <a:pt x="19844" y="111621"/>
                </a:moveTo>
                <a:cubicBezTo>
                  <a:pt x="19844" y="107497"/>
                  <a:pt x="23161" y="104180"/>
                  <a:pt x="27285" y="104180"/>
                </a:cubicBezTo>
                <a:lnTo>
                  <a:pt x="42168" y="104180"/>
                </a:lnTo>
                <a:cubicBezTo>
                  <a:pt x="46292" y="104180"/>
                  <a:pt x="49609" y="107497"/>
                  <a:pt x="49609" y="111621"/>
                </a:cubicBezTo>
                <a:cubicBezTo>
                  <a:pt x="49609" y="115745"/>
                  <a:pt x="46292" y="119062"/>
                  <a:pt x="42168" y="119062"/>
                </a:cubicBezTo>
                <a:lnTo>
                  <a:pt x="27285" y="119062"/>
                </a:lnTo>
                <a:cubicBezTo>
                  <a:pt x="23161" y="119062"/>
                  <a:pt x="19844" y="115745"/>
                  <a:pt x="19844" y="111621"/>
                </a:cubicBezTo>
                <a:close/>
                <a:moveTo>
                  <a:pt x="64492" y="111621"/>
                </a:moveTo>
                <a:cubicBezTo>
                  <a:pt x="64492" y="107497"/>
                  <a:pt x="67810" y="104180"/>
                  <a:pt x="71934" y="104180"/>
                </a:cubicBezTo>
                <a:lnTo>
                  <a:pt x="91777" y="104180"/>
                </a:lnTo>
                <a:cubicBezTo>
                  <a:pt x="95901" y="104180"/>
                  <a:pt x="99219" y="107497"/>
                  <a:pt x="99219" y="111621"/>
                </a:cubicBezTo>
                <a:cubicBezTo>
                  <a:pt x="99219" y="115745"/>
                  <a:pt x="95901" y="119062"/>
                  <a:pt x="91777" y="119062"/>
                </a:cubicBezTo>
                <a:lnTo>
                  <a:pt x="71934" y="119062"/>
                </a:lnTo>
                <a:cubicBezTo>
                  <a:pt x="67810" y="119062"/>
                  <a:pt x="64492" y="115745"/>
                  <a:pt x="64492" y="111621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34" name="Text 31"/>
          <p:cNvSpPr/>
          <p:nvPr/>
        </p:nvSpPr>
        <p:spPr>
          <a:xfrm>
            <a:off x="4328517" y="3048000"/>
            <a:ext cx="1468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支付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17525" y="3460750"/>
            <a:ext cx="5343525" cy="571500"/>
          </a:xfrm>
          <a:custGeom>
            <a:avLst/>
            <a:gdLst/>
            <a:ahLst/>
            <a:cxnLst/>
            <a:rect l="l" t="t" r="r" b="b"/>
            <a:pathLst>
              <a:path w="5343525" h="571500">
                <a:moveTo>
                  <a:pt x="19050" y="0"/>
                </a:moveTo>
                <a:lnTo>
                  <a:pt x="5280026" y="0"/>
                </a:lnTo>
                <a:cubicBezTo>
                  <a:pt x="5315095" y="0"/>
                  <a:pt x="5343525" y="28430"/>
                  <a:pt x="5343525" y="63499"/>
                </a:cubicBezTo>
                <a:lnTo>
                  <a:pt x="5343525" y="508001"/>
                </a:lnTo>
                <a:cubicBezTo>
                  <a:pt x="5343525" y="543070"/>
                  <a:pt x="5315095" y="571500"/>
                  <a:pt x="5280026" y="571500"/>
                </a:cubicBezTo>
                <a:lnTo>
                  <a:pt x="19050" y="571500"/>
                </a:lnTo>
                <a:cubicBezTo>
                  <a:pt x="8536" y="571500"/>
                  <a:pt x="0" y="562964"/>
                  <a:pt x="0" y="5524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FD1C5">
              <a:alpha val="5098"/>
            </a:srgbClr>
          </a:solidFill>
        </p:spPr>
      </p:sp>
      <p:sp>
        <p:nvSpPr>
          <p:cNvPr id="36" name="Shape 33"/>
          <p:cNvSpPr/>
          <p:nvPr/>
        </p:nvSpPr>
        <p:spPr>
          <a:xfrm>
            <a:off x="517525" y="3460750"/>
            <a:ext cx="19050" cy="571500"/>
          </a:xfrm>
          <a:custGeom>
            <a:avLst/>
            <a:gdLst/>
            <a:ahLst/>
            <a:cxnLst/>
            <a:rect l="l" t="t" r="r" b="b"/>
            <a:pathLst>
              <a:path w="19050" h="571500">
                <a:moveTo>
                  <a:pt x="19050" y="0"/>
                </a:moveTo>
                <a:lnTo>
                  <a:pt x="19050" y="0"/>
                </a:lnTo>
                <a:lnTo>
                  <a:pt x="19050" y="571500"/>
                </a:lnTo>
                <a:lnTo>
                  <a:pt x="19050" y="571500"/>
                </a:lnTo>
                <a:cubicBezTo>
                  <a:pt x="8536" y="571500"/>
                  <a:pt x="0" y="562964"/>
                  <a:pt x="0" y="5524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37" name="Shape 34"/>
          <p:cNvSpPr/>
          <p:nvPr/>
        </p:nvSpPr>
        <p:spPr>
          <a:xfrm>
            <a:off x="654050" y="358140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38" name="Text 35"/>
          <p:cNvSpPr/>
          <p:nvPr/>
        </p:nvSpPr>
        <p:spPr>
          <a:xfrm>
            <a:off x="820738" y="3556000"/>
            <a:ext cx="5008563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 err="1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技术要点：</a:t>
            </a:r>
            <a:r>
              <a:rPr lang="en-US" sz="1000" dirty="0" err="1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商品详情页采用三级缓存加速</a:t>
            </a:r>
            <a:r>
              <a:rPr lang="zh-CN" altLang="en-US" sz="10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；</a:t>
            </a:r>
            <a:r>
              <a:rPr lang="en-US" sz="1000" dirty="0" err="1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下单流程触发分布式事务（订单、库存、优惠券</a:t>
            </a:r>
            <a:r>
              <a:rPr lang="en-US" sz="10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33375" y="4318000"/>
            <a:ext cx="5683250" cy="2286000"/>
          </a:xfrm>
          <a:custGeom>
            <a:avLst/>
            <a:gdLst/>
            <a:ahLst/>
            <a:cxnLst/>
            <a:rect l="l" t="t" r="r" b="b"/>
            <a:pathLst>
              <a:path w="5683250" h="2286000">
                <a:moveTo>
                  <a:pt x="31750" y="0"/>
                </a:moveTo>
                <a:lnTo>
                  <a:pt x="5587992" y="0"/>
                </a:lnTo>
                <a:cubicBezTo>
                  <a:pt x="5640602" y="0"/>
                  <a:pt x="5683250" y="42648"/>
                  <a:pt x="5683250" y="95258"/>
                </a:cubicBezTo>
                <a:lnTo>
                  <a:pt x="5683250" y="2190742"/>
                </a:lnTo>
                <a:cubicBezTo>
                  <a:pt x="5683250" y="2243352"/>
                  <a:pt x="5640602" y="2286000"/>
                  <a:pt x="5587992" y="2286000"/>
                </a:cubicBezTo>
                <a:lnTo>
                  <a:pt x="31750" y="2286000"/>
                </a:lnTo>
                <a:cubicBezTo>
                  <a:pt x="14227" y="2286000"/>
                  <a:pt x="0" y="2271773"/>
                  <a:pt x="0" y="225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40" name="Shape 37"/>
          <p:cNvSpPr/>
          <p:nvPr/>
        </p:nvSpPr>
        <p:spPr>
          <a:xfrm>
            <a:off x="333375" y="4318000"/>
            <a:ext cx="31750" cy="2286000"/>
          </a:xfrm>
          <a:custGeom>
            <a:avLst/>
            <a:gdLst/>
            <a:ahLst/>
            <a:cxnLst/>
            <a:rect l="l" t="t" r="r" b="b"/>
            <a:pathLst>
              <a:path w="31750" h="2286000">
                <a:moveTo>
                  <a:pt x="31750" y="0"/>
                </a:moveTo>
                <a:lnTo>
                  <a:pt x="31750" y="0"/>
                </a:lnTo>
                <a:lnTo>
                  <a:pt x="31750" y="2286000"/>
                </a:lnTo>
                <a:lnTo>
                  <a:pt x="31750" y="2286000"/>
                </a:lnTo>
                <a:cubicBezTo>
                  <a:pt x="14227" y="2286000"/>
                  <a:pt x="0" y="2271773"/>
                  <a:pt x="0" y="2254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41" name="Shape 38"/>
          <p:cNvSpPr/>
          <p:nvPr/>
        </p:nvSpPr>
        <p:spPr>
          <a:xfrm>
            <a:off x="508000" y="4476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42" name="Shape 39"/>
          <p:cNvSpPr/>
          <p:nvPr/>
        </p:nvSpPr>
        <p:spPr>
          <a:xfrm>
            <a:off x="619125" y="45878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519" y="22417"/>
                </a:moveTo>
                <a:cubicBezTo>
                  <a:pt x="11658" y="15007"/>
                  <a:pt x="18448" y="9922"/>
                  <a:pt x="26169" y="9922"/>
                </a:cubicBezTo>
                <a:lnTo>
                  <a:pt x="132829" y="9922"/>
                </a:lnTo>
                <a:cubicBezTo>
                  <a:pt x="140550" y="9922"/>
                  <a:pt x="147340" y="15007"/>
                  <a:pt x="149510" y="22417"/>
                </a:cubicBezTo>
                <a:lnTo>
                  <a:pt x="156766" y="47284"/>
                </a:lnTo>
                <a:cubicBezTo>
                  <a:pt x="160734" y="60833"/>
                  <a:pt x="150533" y="74414"/>
                  <a:pt x="136426" y="74414"/>
                </a:cubicBezTo>
                <a:cubicBezTo>
                  <a:pt x="128271" y="74414"/>
                  <a:pt x="121109" y="69794"/>
                  <a:pt x="117574" y="62911"/>
                </a:cubicBezTo>
                <a:cubicBezTo>
                  <a:pt x="113978" y="69701"/>
                  <a:pt x="106846" y="74414"/>
                  <a:pt x="98537" y="74414"/>
                </a:cubicBezTo>
                <a:cubicBezTo>
                  <a:pt x="90289" y="74414"/>
                  <a:pt x="83127" y="69763"/>
                  <a:pt x="79530" y="62942"/>
                </a:cubicBezTo>
                <a:cubicBezTo>
                  <a:pt x="75933" y="69763"/>
                  <a:pt x="68771" y="74414"/>
                  <a:pt x="60523" y="74414"/>
                </a:cubicBezTo>
                <a:cubicBezTo>
                  <a:pt x="52214" y="74414"/>
                  <a:pt x="45083" y="69732"/>
                  <a:pt x="41486" y="62911"/>
                </a:cubicBezTo>
                <a:cubicBezTo>
                  <a:pt x="37951" y="69763"/>
                  <a:pt x="30789" y="74414"/>
                  <a:pt x="22634" y="74414"/>
                </a:cubicBezTo>
                <a:cubicBezTo>
                  <a:pt x="8496" y="74414"/>
                  <a:pt x="-1674" y="60865"/>
                  <a:pt x="2294" y="47284"/>
                </a:cubicBezTo>
                <a:lnTo>
                  <a:pt x="9519" y="22417"/>
                </a:lnTo>
                <a:close/>
                <a:moveTo>
                  <a:pt x="29890" y="109141"/>
                </a:moveTo>
                <a:lnTo>
                  <a:pt x="129108" y="109141"/>
                </a:lnTo>
                <a:lnTo>
                  <a:pt x="129108" y="88553"/>
                </a:lnTo>
                <a:cubicBezTo>
                  <a:pt x="131465" y="89049"/>
                  <a:pt x="133914" y="89297"/>
                  <a:pt x="136395" y="89297"/>
                </a:cubicBezTo>
                <a:cubicBezTo>
                  <a:pt x="140829" y="89297"/>
                  <a:pt x="145076" y="88491"/>
                  <a:pt x="148952" y="87064"/>
                </a:cubicBezTo>
                <a:lnTo>
                  <a:pt x="148952" y="133945"/>
                </a:lnTo>
                <a:cubicBezTo>
                  <a:pt x="148952" y="142162"/>
                  <a:pt x="142286" y="148828"/>
                  <a:pt x="134069" y="148828"/>
                </a:cubicBezTo>
                <a:lnTo>
                  <a:pt x="24929" y="148828"/>
                </a:lnTo>
                <a:cubicBezTo>
                  <a:pt x="16712" y="148828"/>
                  <a:pt x="10046" y="142162"/>
                  <a:pt x="10046" y="133945"/>
                </a:cubicBezTo>
                <a:lnTo>
                  <a:pt x="10046" y="87064"/>
                </a:lnTo>
                <a:cubicBezTo>
                  <a:pt x="13922" y="88491"/>
                  <a:pt x="18138" y="89297"/>
                  <a:pt x="22603" y="89297"/>
                </a:cubicBezTo>
                <a:cubicBezTo>
                  <a:pt x="25115" y="89297"/>
                  <a:pt x="27533" y="89049"/>
                  <a:pt x="29890" y="88553"/>
                </a:cubicBezTo>
                <a:lnTo>
                  <a:pt x="29890" y="109141"/>
                </a:lnTo>
                <a:close/>
              </a:path>
            </a:pathLst>
          </a:custGeom>
          <a:solidFill>
            <a:srgbClr val="1A202C"/>
          </a:solidFill>
        </p:spPr>
      </p:sp>
      <p:sp>
        <p:nvSpPr>
          <p:cNvPr id="43" name="Text 40"/>
          <p:cNvSpPr/>
          <p:nvPr/>
        </p:nvSpPr>
        <p:spPr>
          <a:xfrm>
            <a:off x="984250" y="4540250"/>
            <a:ext cx="1047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商家端流程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508000" y="4984750"/>
            <a:ext cx="5349875" cy="444500"/>
          </a:xfrm>
          <a:custGeom>
            <a:avLst/>
            <a:gdLst/>
            <a:ahLst/>
            <a:cxnLst/>
            <a:rect l="l" t="t" r="r" b="b"/>
            <a:pathLst>
              <a:path w="5349875" h="44450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380999"/>
                </a:lnTo>
                <a:cubicBezTo>
                  <a:pt x="5349875" y="416070"/>
                  <a:pt x="5321445" y="444500"/>
                  <a:pt x="528637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6AD55">
              <a:alpha val="10196"/>
            </a:srgbClr>
          </a:solidFill>
        </p:spPr>
      </p:sp>
      <p:sp>
        <p:nvSpPr>
          <p:cNvPr id="45" name="Shape 42"/>
          <p:cNvSpPr/>
          <p:nvPr/>
        </p:nvSpPr>
        <p:spPr>
          <a:xfrm>
            <a:off x="603250" y="5080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6AD55">
              <a:alpha val="30196"/>
            </a:srgbClr>
          </a:solidFill>
        </p:spPr>
      </p:sp>
      <p:sp>
        <p:nvSpPr>
          <p:cNvPr id="46" name="Text 43"/>
          <p:cNvSpPr/>
          <p:nvPr/>
        </p:nvSpPr>
        <p:spPr>
          <a:xfrm>
            <a:off x="705247" y="5111750"/>
            <a:ext cx="111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952500" y="5111750"/>
            <a:ext cx="2397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商品上架/编辑（信息同步至搜索与缓存）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508000" y="5492750"/>
            <a:ext cx="5349875" cy="444500"/>
          </a:xfrm>
          <a:custGeom>
            <a:avLst/>
            <a:gdLst/>
            <a:ahLst/>
            <a:cxnLst/>
            <a:rect l="l" t="t" r="r" b="b"/>
            <a:pathLst>
              <a:path w="5349875" h="44450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380999"/>
                </a:lnTo>
                <a:cubicBezTo>
                  <a:pt x="5349875" y="416070"/>
                  <a:pt x="5321445" y="444500"/>
                  <a:pt x="528637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6AD55">
              <a:alpha val="10196"/>
            </a:srgbClr>
          </a:solidFill>
        </p:spPr>
      </p:sp>
      <p:sp>
        <p:nvSpPr>
          <p:cNvPr id="49" name="Shape 46"/>
          <p:cNvSpPr/>
          <p:nvPr/>
        </p:nvSpPr>
        <p:spPr>
          <a:xfrm>
            <a:off x="603250" y="5588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6AD55">
              <a:alpha val="30196"/>
            </a:srgbClr>
          </a:solidFill>
        </p:spPr>
      </p:sp>
      <p:sp>
        <p:nvSpPr>
          <p:cNvPr id="50" name="Text 47"/>
          <p:cNvSpPr/>
          <p:nvPr/>
        </p:nvSpPr>
        <p:spPr>
          <a:xfrm>
            <a:off x="694531" y="5619750"/>
            <a:ext cx="13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952500" y="5619750"/>
            <a:ext cx="184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订单管理（查看、确认、发货）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508000" y="6000750"/>
            <a:ext cx="5349875" cy="444500"/>
          </a:xfrm>
          <a:custGeom>
            <a:avLst/>
            <a:gdLst/>
            <a:ahLst/>
            <a:cxnLst/>
            <a:rect l="l" t="t" r="r" b="b"/>
            <a:pathLst>
              <a:path w="5349875" h="444500">
                <a:moveTo>
                  <a:pt x="63501" y="0"/>
                </a:moveTo>
                <a:lnTo>
                  <a:pt x="5286374" y="0"/>
                </a:lnTo>
                <a:cubicBezTo>
                  <a:pt x="5321445" y="0"/>
                  <a:pt x="5349875" y="28430"/>
                  <a:pt x="5349875" y="63501"/>
                </a:cubicBezTo>
                <a:lnTo>
                  <a:pt x="5349875" y="380999"/>
                </a:lnTo>
                <a:cubicBezTo>
                  <a:pt x="5349875" y="416070"/>
                  <a:pt x="5321445" y="444500"/>
                  <a:pt x="528637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6AD55">
              <a:alpha val="10196"/>
            </a:srgbClr>
          </a:solidFill>
        </p:spPr>
      </p:sp>
      <p:sp>
        <p:nvSpPr>
          <p:cNvPr id="53" name="Shape 50"/>
          <p:cNvSpPr/>
          <p:nvPr/>
        </p:nvSpPr>
        <p:spPr>
          <a:xfrm>
            <a:off x="603250" y="6096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6AD55">
              <a:alpha val="30196"/>
            </a:srgbClr>
          </a:solidFill>
        </p:spPr>
      </p:sp>
      <p:sp>
        <p:nvSpPr>
          <p:cNvPr id="54" name="Text 51"/>
          <p:cNvSpPr/>
          <p:nvPr/>
        </p:nvSpPr>
        <p:spPr>
          <a:xfrm>
            <a:off x="692845" y="6127750"/>
            <a:ext cx="13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952500" y="6127750"/>
            <a:ext cx="184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售后处理（退款、退货、换货）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191250" y="1206500"/>
            <a:ext cx="5683250" cy="5397500"/>
          </a:xfrm>
          <a:custGeom>
            <a:avLst/>
            <a:gdLst/>
            <a:ahLst/>
            <a:cxnLst/>
            <a:rect l="l" t="t" r="r" b="b"/>
            <a:pathLst>
              <a:path w="5683250" h="5397500">
                <a:moveTo>
                  <a:pt x="31750" y="0"/>
                </a:moveTo>
                <a:lnTo>
                  <a:pt x="5587984" y="0"/>
                </a:lnTo>
                <a:cubicBezTo>
                  <a:pt x="5640598" y="0"/>
                  <a:pt x="5683250" y="42652"/>
                  <a:pt x="5683250" y="95266"/>
                </a:cubicBezTo>
                <a:lnTo>
                  <a:pt x="5683250" y="5302234"/>
                </a:lnTo>
                <a:cubicBezTo>
                  <a:pt x="5683250" y="5354848"/>
                  <a:pt x="5640598" y="5397500"/>
                  <a:pt x="5587984" y="5397500"/>
                </a:cubicBezTo>
                <a:lnTo>
                  <a:pt x="31750" y="5397500"/>
                </a:lnTo>
                <a:cubicBezTo>
                  <a:pt x="14227" y="5397500"/>
                  <a:pt x="0" y="5383273"/>
                  <a:pt x="0" y="536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57" name="Shape 54"/>
          <p:cNvSpPr/>
          <p:nvPr/>
        </p:nvSpPr>
        <p:spPr>
          <a:xfrm>
            <a:off x="6191250" y="1206500"/>
            <a:ext cx="31750" cy="5397500"/>
          </a:xfrm>
          <a:custGeom>
            <a:avLst/>
            <a:gdLst/>
            <a:ahLst/>
            <a:cxnLst/>
            <a:rect l="l" t="t" r="r" b="b"/>
            <a:pathLst>
              <a:path w="31750" h="5397500">
                <a:moveTo>
                  <a:pt x="31750" y="0"/>
                </a:moveTo>
                <a:lnTo>
                  <a:pt x="31750" y="0"/>
                </a:lnTo>
                <a:lnTo>
                  <a:pt x="31750" y="5397500"/>
                </a:lnTo>
                <a:lnTo>
                  <a:pt x="31750" y="5397500"/>
                </a:lnTo>
                <a:cubicBezTo>
                  <a:pt x="14227" y="5397500"/>
                  <a:pt x="0" y="5383273"/>
                  <a:pt x="0" y="536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58" name="Shape 55"/>
          <p:cNvSpPr/>
          <p:nvPr/>
        </p:nvSpPr>
        <p:spPr>
          <a:xfrm>
            <a:off x="6365875" y="1365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59" name="Shape 56"/>
          <p:cNvSpPr/>
          <p:nvPr/>
        </p:nvSpPr>
        <p:spPr>
          <a:xfrm>
            <a:off x="6457156" y="1476375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1A202C"/>
          </a:solidFill>
        </p:spPr>
      </p:sp>
      <p:sp>
        <p:nvSpPr>
          <p:cNvPr id="60" name="Text 57"/>
          <p:cNvSpPr/>
          <p:nvPr/>
        </p:nvSpPr>
        <p:spPr>
          <a:xfrm>
            <a:off x="6842125" y="1428750"/>
            <a:ext cx="857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支撑流程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6385719" y="1905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48859" y="59531"/>
                </a:moveTo>
                <a:lnTo>
                  <a:pt x="151309" y="59531"/>
                </a:lnTo>
                <a:cubicBezTo>
                  <a:pt x="155432" y="59531"/>
                  <a:pt x="158750" y="56214"/>
                  <a:pt x="158750" y="52090"/>
                </a:cubicBezTo>
                <a:lnTo>
                  <a:pt x="158750" y="7441"/>
                </a:lnTo>
                <a:cubicBezTo>
                  <a:pt x="158750" y="4434"/>
                  <a:pt x="156952" y="1705"/>
                  <a:pt x="154161" y="558"/>
                </a:cubicBezTo>
                <a:cubicBezTo>
                  <a:pt x="151371" y="-589"/>
                  <a:pt x="148177" y="62"/>
                  <a:pt x="146038" y="2170"/>
                </a:cubicBezTo>
                <a:lnTo>
                  <a:pt x="130008" y="18231"/>
                </a:lnTo>
                <a:cubicBezTo>
                  <a:pt x="116272" y="6852"/>
                  <a:pt x="98599" y="0"/>
                  <a:pt x="79375" y="0"/>
                </a:cubicBezTo>
                <a:cubicBezTo>
                  <a:pt x="39377" y="0"/>
                  <a:pt x="6294" y="29580"/>
                  <a:pt x="806" y="68058"/>
                </a:cubicBezTo>
                <a:cubicBezTo>
                  <a:pt x="31" y="73484"/>
                  <a:pt x="3783" y="78507"/>
                  <a:pt x="9209" y="79282"/>
                </a:cubicBezTo>
                <a:cubicBezTo>
                  <a:pt x="14635" y="80057"/>
                  <a:pt x="19658" y="76274"/>
                  <a:pt x="20433" y="70879"/>
                </a:cubicBezTo>
                <a:cubicBezTo>
                  <a:pt x="24557" y="42013"/>
                  <a:pt x="49392" y="19844"/>
                  <a:pt x="79375" y="19844"/>
                </a:cubicBezTo>
                <a:cubicBezTo>
                  <a:pt x="93142" y="19844"/>
                  <a:pt x="105792" y="24495"/>
                  <a:pt x="115869" y="32339"/>
                </a:cubicBezTo>
                <a:lnTo>
                  <a:pt x="101389" y="46819"/>
                </a:lnTo>
                <a:cubicBezTo>
                  <a:pt x="99250" y="48958"/>
                  <a:pt x="98630" y="52152"/>
                  <a:pt x="99777" y="54942"/>
                </a:cubicBezTo>
                <a:cubicBezTo>
                  <a:pt x="100924" y="57733"/>
                  <a:pt x="103653" y="59531"/>
                  <a:pt x="106660" y="59531"/>
                </a:cubicBezTo>
                <a:lnTo>
                  <a:pt x="148859" y="59531"/>
                </a:lnTo>
                <a:close/>
                <a:moveTo>
                  <a:pt x="157975" y="90692"/>
                </a:moveTo>
                <a:cubicBezTo>
                  <a:pt x="158750" y="85266"/>
                  <a:pt x="154967" y="80243"/>
                  <a:pt x="149572" y="79468"/>
                </a:cubicBezTo>
                <a:cubicBezTo>
                  <a:pt x="144177" y="78693"/>
                  <a:pt x="139123" y="82476"/>
                  <a:pt x="138348" y="87871"/>
                </a:cubicBezTo>
                <a:cubicBezTo>
                  <a:pt x="134224" y="116706"/>
                  <a:pt x="109389" y="138875"/>
                  <a:pt x="79406" y="138875"/>
                </a:cubicBezTo>
                <a:cubicBezTo>
                  <a:pt x="65639" y="138875"/>
                  <a:pt x="52989" y="134224"/>
                  <a:pt x="42912" y="126380"/>
                </a:cubicBezTo>
                <a:lnTo>
                  <a:pt x="57361" y="111931"/>
                </a:lnTo>
                <a:cubicBezTo>
                  <a:pt x="59500" y="109792"/>
                  <a:pt x="60120" y="106598"/>
                  <a:pt x="58973" y="103808"/>
                </a:cubicBezTo>
                <a:cubicBezTo>
                  <a:pt x="57826" y="101017"/>
                  <a:pt x="55097" y="99219"/>
                  <a:pt x="52090" y="99219"/>
                </a:cubicBezTo>
                <a:lnTo>
                  <a:pt x="7441" y="99219"/>
                </a:lnTo>
                <a:cubicBezTo>
                  <a:pt x="3318" y="99219"/>
                  <a:pt x="0" y="102536"/>
                  <a:pt x="0" y="106660"/>
                </a:cubicBezTo>
                <a:lnTo>
                  <a:pt x="0" y="151309"/>
                </a:lnTo>
                <a:cubicBezTo>
                  <a:pt x="0" y="154316"/>
                  <a:pt x="1798" y="157045"/>
                  <a:pt x="4589" y="158192"/>
                </a:cubicBezTo>
                <a:cubicBezTo>
                  <a:pt x="7379" y="159339"/>
                  <a:pt x="10573" y="158688"/>
                  <a:pt x="12712" y="156580"/>
                </a:cubicBezTo>
                <a:lnTo>
                  <a:pt x="28773" y="140519"/>
                </a:lnTo>
                <a:cubicBezTo>
                  <a:pt x="42478" y="151898"/>
                  <a:pt x="60151" y="158750"/>
                  <a:pt x="79375" y="158750"/>
                </a:cubicBezTo>
                <a:cubicBezTo>
                  <a:pt x="119373" y="158750"/>
                  <a:pt x="152456" y="129170"/>
                  <a:pt x="157944" y="90692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62" name="Text 59"/>
          <p:cNvSpPr/>
          <p:nvPr/>
        </p:nvSpPr>
        <p:spPr>
          <a:xfrm>
            <a:off x="6564313" y="1873250"/>
            <a:ext cx="5230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实时数据同步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6365875" y="2159000"/>
            <a:ext cx="5349875" cy="857250"/>
          </a:xfrm>
          <a:custGeom>
            <a:avLst/>
            <a:gdLst/>
            <a:ahLst/>
            <a:cxnLst/>
            <a:rect l="l" t="t" r="r" b="b"/>
            <a:pathLst>
              <a:path w="5349875" h="857250">
                <a:moveTo>
                  <a:pt x="63497" y="0"/>
                </a:moveTo>
                <a:lnTo>
                  <a:pt x="5286378" y="0"/>
                </a:lnTo>
                <a:cubicBezTo>
                  <a:pt x="5321447" y="0"/>
                  <a:pt x="5349875" y="28428"/>
                  <a:pt x="5349875" y="63497"/>
                </a:cubicBezTo>
                <a:lnTo>
                  <a:pt x="5349875" y="793753"/>
                </a:lnTo>
                <a:cubicBezTo>
                  <a:pt x="5349875" y="828822"/>
                  <a:pt x="5321447" y="857250"/>
                  <a:pt x="5286378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4FD1C5">
              <a:alpha val="5098"/>
            </a:srgbClr>
          </a:solidFill>
        </p:spPr>
      </p:sp>
      <p:sp>
        <p:nvSpPr>
          <p:cNvPr id="64" name="Text 61"/>
          <p:cNvSpPr/>
          <p:nvPr/>
        </p:nvSpPr>
        <p:spPr>
          <a:xfrm>
            <a:off x="6461125" y="2254250"/>
            <a:ext cx="522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 → 缓存 → 搜索引擎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6461125" y="2508250"/>
            <a:ext cx="5222875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通过Canal监听MySQL Binlog，经RocketMQ异步通知，实现数据在近实时（&lt;1秒）内同步到Redis缓存和Elasticsearch搜索引擎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6385719" y="3175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1486" y="11255"/>
                </a:moveTo>
                <a:cubicBezTo>
                  <a:pt x="44865" y="13612"/>
                  <a:pt x="45672" y="18262"/>
                  <a:pt x="43315" y="21611"/>
                </a:cubicBezTo>
                <a:lnTo>
                  <a:pt x="25952" y="46416"/>
                </a:lnTo>
                <a:cubicBezTo>
                  <a:pt x="24681" y="48214"/>
                  <a:pt x="22696" y="49361"/>
                  <a:pt x="20495" y="49547"/>
                </a:cubicBezTo>
                <a:cubicBezTo>
                  <a:pt x="18293" y="49733"/>
                  <a:pt x="16123" y="48989"/>
                  <a:pt x="14573" y="47439"/>
                </a:cubicBezTo>
                <a:lnTo>
                  <a:pt x="2170" y="35037"/>
                </a:lnTo>
                <a:cubicBezTo>
                  <a:pt x="-713" y="32122"/>
                  <a:pt x="-713" y="27409"/>
                  <a:pt x="2170" y="24495"/>
                </a:cubicBezTo>
                <a:cubicBezTo>
                  <a:pt x="5054" y="21580"/>
                  <a:pt x="9798" y="21611"/>
                  <a:pt x="12712" y="24495"/>
                </a:cubicBezTo>
                <a:lnTo>
                  <a:pt x="18852" y="30634"/>
                </a:lnTo>
                <a:lnTo>
                  <a:pt x="31130" y="13084"/>
                </a:lnTo>
                <a:cubicBezTo>
                  <a:pt x="33486" y="9705"/>
                  <a:pt x="38137" y="8899"/>
                  <a:pt x="41486" y="11255"/>
                </a:cubicBezTo>
                <a:close/>
                <a:moveTo>
                  <a:pt x="41486" y="60865"/>
                </a:moveTo>
                <a:cubicBezTo>
                  <a:pt x="44865" y="63221"/>
                  <a:pt x="45672" y="67872"/>
                  <a:pt x="43315" y="71220"/>
                </a:cubicBezTo>
                <a:lnTo>
                  <a:pt x="25952" y="96025"/>
                </a:lnTo>
                <a:cubicBezTo>
                  <a:pt x="24681" y="97823"/>
                  <a:pt x="22696" y="98971"/>
                  <a:pt x="20495" y="99157"/>
                </a:cubicBezTo>
                <a:cubicBezTo>
                  <a:pt x="18293" y="99343"/>
                  <a:pt x="16123" y="98599"/>
                  <a:pt x="14573" y="97048"/>
                </a:cubicBezTo>
                <a:lnTo>
                  <a:pt x="2170" y="84646"/>
                </a:lnTo>
                <a:cubicBezTo>
                  <a:pt x="-744" y="81731"/>
                  <a:pt x="-744" y="77019"/>
                  <a:pt x="2170" y="74135"/>
                </a:cubicBezTo>
                <a:cubicBezTo>
                  <a:pt x="5085" y="71251"/>
                  <a:pt x="9798" y="71220"/>
                  <a:pt x="12681" y="74135"/>
                </a:cubicBezTo>
                <a:lnTo>
                  <a:pt x="18821" y="80274"/>
                </a:lnTo>
                <a:lnTo>
                  <a:pt x="31099" y="62725"/>
                </a:lnTo>
                <a:cubicBezTo>
                  <a:pt x="33455" y="59345"/>
                  <a:pt x="38106" y="58539"/>
                  <a:pt x="41455" y="60896"/>
                </a:cubicBezTo>
                <a:close/>
                <a:moveTo>
                  <a:pt x="69453" y="29766"/>
                </a:moveTo>
                <a:cubicBezTo>
                  <a:pt x="69453" y="24278"/>
                  <a:pt x="73887" y="19844"/>
                  <a:pt x="79375" y="19844"/>
                </a:cubicBezTo>
                <a:lnTo>
                  <a:pt x="148828" y="19844"/>
                </a:lnTo>
                <a:cubicBezTo>
                  <a:pt x="154316" y="19844"/>
                  <a:pt x="158750" y="24278"/>
                  <a:pt x="158750" y="29766"/>
                </a:cubicBezTo>
                <a:cubicBezTo>
                  <a:pt x="158750" y="35254"/>
                  <a:pt x="154316" y="39688"/>
                  <a:pt x="148828" y="39688"/>
                </a:cubicBezTo>
                <a:lnTo>
                  <a:pt x="79375" y="39688"/>
                </a:lnTo>
                <a:cubicBezTo>
                  <a:pt x="73887" y="39688"/>
                  <a:pt x="69453" y="35254"/>
                  <a:pt x="69453" y="29766"/>
                </a:cubicBezTo>
                <a:close/>
                <a:moveTo>
                  <a:pt x="69453" y="79375"/>
                </a:moveTo>
                <a:cubicBezTo>
                  <a:pt x="69453" y="73887"/>
                  <a:pt x="73887" y="69453"/>
                  <a:pt x="79375" y="69453"/>
                </a:cubicBez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79375" y="89297"/>
                </a:lnTo>
                <a:cubicBezTo>
                  <a:pt x="73887" y="89297"/>
                  <a:pt x="69453" y="84863"/>
                  <a:pt x="69453" y="79375"/>
                </a:cubicBezTo>
                <a:close/>
                <a:moveTo>
                  <a:pt x="49609" y="128984"/>
                </a:moveTo>
                <a:cubicBezTo>
                  <a:pt x="49609" y="123496"/>
                  <a:pt x="54043" y="119062"/>
                  <a:pt x="59531" y="119062"/>
                </a:cubicBezTo>
                <a:lnTo>
                  <a:pt x="148828" y="119062"/>
                </a:lnTo>
                <a:cubicBezTo>
                  <a:pt x="154316" y="119062"/>
                  <a:pt x="158750" y="123496"/>
                  <a:pt x="158750" y="128984"/>
                </a:cubicBezTo>
                <a:cubicBezTo>
                  <a:pt x="158750" y="134472"/>
                  <a:pt x="154316" y="138906"/>
                  <a:pt x="148828" y="138906"/>
                </a:cubicBezTo>
                <a:lnTo>
                  <a:pt x="59531" y="138906"/>
                </a:lnTo>
                <a:cubicBezTo>
                  <a:pt x="54043" y="138906"/>
                  <a:pt x="49609" y="134472"/>
                  <a:pt x="49609" y="128984"/>
                </a:cubicBezTo>
                <a:close/>
                <a:moveTo>
                  <a:pt x="19844" y="116582"/>
                </a:moveTo>
                <a:cubicBezTo>
                  <a:pt x="26689" y="116582"/>
                  <a:pt x="32246" y="122139"/>
                  <a:pt x="32246" y="128984"/>
                </a:cubicBezTo>
                <a:cubicBezTo>
                  <a:pt x="32246" y="135829"/>
                  <a:pt x="26689" y="141387"/>
                  <a:pt x="19844" y="141387"/>
                </a:cubicBezTo>
                <a:cubicBezTo>
                  <a:pt x="12999" y="141387"/>
                  <a:pt x="7441" y="135829"/>
                  <a:pt x="7441" y="128984"/>
                </a:cubicBezTo>
                <a:cubicBezTo>
                  <a:pt x="7441" y="122139"/>
                  <a:pt x="12999" y="116582"/>
                  <a:pt x="19844" y="116582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67" name="Text 64"/>
          <p:cNvSpPr/>
          <p:nvPr/>
        </p:nvSpPr>
        <p:spPr>
          <a:xfrm>
            <a:off x="6564313" y="3143250"/>
            <a:ext cx="5230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异步任务处理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6365875" y="3429000"/>
            <a:ext cx="5349875" cy="1079500"/>
          </a:xfrm>
          <a:custGeom>
            <a:avLst/>
            <a:gdLst/>
            <a:ahLst/>
            <a:cxnLst/>
            <a:rect l="l" t="t" r="r" b="b"/>
            <a:pathLst>
              <a:path w="5349875" h="1079500">
                <a:moveTo>
                  <a:pt x="63496" y="0"/>
                </a:moveTo>
                <a:lnTo>
                  <a:pt x="5286379" y="0"/>
                </a:lnTo>
                <a:cubicBezTo>
                  <a:pt x="5321447" y="0"/>
                  <a:pt x="5349875" y="28428"/>
                  <a:pt x="5349875" y="63496"/>
                </a:cubicBezTo>
                <a:lnTo>
                  <a:pt x="5349875" y="1016004"/>
                </a:lnTo>
                <a:cubicBezTo>
                  <a:pt x="5349875" y="1051072"/>
                  <a:pt x="5321447" y="1079500"/>
                  <a:pt x="5286379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69" name="Text 66"/>
          <p:cNvSpPr/>
          <p:nvPr/>
        </p:nvSpPr>
        <p:spPr>
          <a:xfrm>
            <a:off x="6461125" y="3524250"/>
            <a:ext cx="522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后台异步任务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6461125" y="3778250"/>
            <a:ext cx="522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订单报表生成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6461125" y="4000500"/>
            <a:ext cx="522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库存预警检查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6461125" y="4222750"/>
            <a:ext cx="522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用户行为分析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81000" y="1219200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0" y="0"/>
                </a:moveTo>
                <a:lnTo>
                  <a:pt x="914400" y="0"/>
                </a:lnTo>
                <a:lnTo>
                  <a:pt x="914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4" name="Text 1"/>
          <p:cNvSpPr/>
          <p:nvPr/>
        </p:nvSpPr>
        <p:spPr>
          <a:xfrm>
            <a:off x="381000" y="1447800"/>
            <a:ext cx="46767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13360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0469" y="396871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7" name="Text 4"/>
          <p:cNvSpPr/>
          <p:nvPr/>
        </p:nvSpPr>
        <p:spPr>
          <a:xfrm>
            <a:off x="759537" y="4102066"/>
            <a:ext cx="438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62469" y="3987766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项目概览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62469" y="4292447"/>
            <a:ext cx="1000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与核心职责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673173" y="401111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15" name="Text 12"/>
          <p:cNvSpPr/>
          <p:nvPr/>
        </p:nvSpPr>
        <p:spPr>
          <a:xfrm>
            <a:off x="3804380" y="4144468"/>
            <a:ext cx="4857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35173" y="4030168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35173" y="4334849"/>
            <a:ext cx="1000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与业务流程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562075" y="396814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19" name="Text 16"/>
          <p:cNvSpPr/>
          <p:nvPr/>
        </p:nvSpPr>
        <p:spPr>
          <a:xfrm>
            <a:off x="6693520" y="4101495"/>
            <a:ext cx="4857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24075" y="398719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技术亮点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324075" y="4291876"/>
            <a:ext cx="1000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与解决方案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450978" y="396228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23" name="Text 20"/>
          <p:cNvSpPr/>
          <p:nvPr/>
        </p:nvSpPr>
        <p:spPr>
          <a:xfrm>
            <a:off x="9580875" y="4095631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212978" y="3981331"/>
            <a:ext cx="1257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问题与解决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212978" y="4286012"/>
            <a:ext cx="122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思路总结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8617" y="479202"/>
            <a:ext cx="589787" cy="36862"/>
          </a:xfrm>
          <a:custGeom>
            <a:avLst/>
            <a:gdLst/>
            <a:ahLst/>
            <a:cxnLst/>
            <a:rect l="l" t="t" r="r" b="b"/>
            <a:pathLst>
              <a:path w="589787" h="36862">
                <a:moveTo>
                  <a:pt x="0" y="0"/>
                </a:moveTo>
                <a:lnTo>
                  <a:pt x="589787" y="0"/>
                </a:lnTo>
                <a:lnTo>
                  <a:pt x="589787" y="36862"/>
                </a:lnTo>
                <a:lnTo>
                  <a:pt x="0" y="36862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4" name="Text 1"/>
          <p:cNvSpPr/>
          <p:nvPr/>
        </p:nvSpPr>
        <p:spPr>
          <a:xfrm>
            <a:off x="1105850" y="368617"/>
            <a:ext cx="2644825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kern="0" spc="65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03-1 · TECHNICAL HIGHLIGHT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8617" y="810957"/>
            <a:ext cx="5778068" cy="4146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1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高性能三级缓存架构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9379" y="1353627"/>
            <a:ext cx="5593760" cy="3944200"/>
          </a:xfrm>
          <a:custGeom>
            <a:avLst/>
            <a:gdLst/>
            <a:ahLst/>
            <a:cxnLst/>
            <a:rect l="l" t="t" r="r" b="b"/>
            <a:pathLst>
              <a:path w="5593760" h="3944200">
                <a:moveTo>
                  <a:pt x="36862" y="0"/>
                </a:moveTo>
                <a:lnTo>
                  <a:pt x="5483164" y="0"/>
                </a:lnTo>
                <a:cubicBezTo>
                  <a:pt x="5544204" y="0"/>
                  <a:pt x="5593760" y="49556"/>
                  <a:pt x="5593760" y="110595"/>
                </a:cubicBezTo>
                <a:lnTo>
                  <a:pt x="5593760" y="3833604"/>
                </a:lnTo>
                <a:cubicBezTo>
                  <a:pt x="5593760" y="3894643"/>
                  <a:pt x="5544204" y="3944200"/>
                  <a:pt x="5483164" y="3944200"/>
                </a:cubicBezTo>
                <a:lnTo>
                  <a:pt x="36862" y="3944200"/>
                </a:lnTo>
                <a:cubicBezTo>
                  <a:pt x="16504" y="3944200"/>
                  <a:pt x="0" y="3927696"/>
                  <a:pt x="0" y="3907338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8" name="Shape 5"/>
          <p:cNvSpPr/>
          <p:nvPr/>
        </p:nvSpPr>
        <p:spPr>
          <a:xfrm>
            <a:off x="349379" y="1353627"/>
            <a:ext cx="36862" cy="3944200"/>
          </a:xfrm>
          <a:custGeom>
            <a:avLst/>
            <a:gdLst/>
            <a:ahLst/>
            <a:cxnLst/>
            <a:rect l="l" t="t" r="r" b="b"/>
            <a:pathLst>
              <a:path w="36862" h="3944200">
                <a:moveTo>
                  <a:pt x="36862" y="0"/>
                </a:moveTo>
                <a:lnTo>
                  <a:pt x="36862" y="0"/>
                </a:lnTo>
                <a:lnTo>
                  <a:pt x="36862" y="3944200"/>
                </a:lnTo>
                <a:lnTo>
                  <a:pt x="36862" y="3944200"/>
                </a:lnTo>
                <a:cubicBezTo>
                  <a:pt x="16504" y="3944200"/>
                  <a:pt x="0" y="3927696"/>
                  <a:pt x="0" y="3907338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9" name="Text 6"/>
          <p:cNvSpPr/>
          <p:nvPr/>
        </p:nvSpPr>
        <p:spPr>
          <a:xfrm>
            <a:off x="552118" y="1960923"/>
            <a:ext cx="5317297" cy="294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架构设计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2118" y="2366284"/>
            <a:ext cx="5206712" cy="700372"/>
          </a:xfrm>
          <a:custGeom>
            <a:avLst/>
            <a:gdLst/>
            <a:ahLst/>
            <a:cxnLst/>
            <a:rect l="l" t="t" r="r" b="b"/>
            <a:pathLst>
              <a:path w="5206712" h="700372">
                <a:moveTo>
                  <a:pt x="73721" y="0"/>
                </a:moveTo>
                <a:lnTo>
                  <a:pt x="5132991" y="0"/>
                </a:lnTo>
                <a:cubicBezTo>
                  <a:pt x="5173706" y="0"/>
                  <a:pt x="5206712" y="33006"/>
                  <a:pt x="5206712" y="73721"/>
                </a:cubicBezTo>
                <a:lnTo>
                  <a:pt x="5206712" y="626651"/>
                </a:lnTo>
                <a:cubicBezTo>
                  <a:pt x="5206712" y="667366"/>
                  <a:pt x="5173706" y="700372"/>
                  <a:pt x="5132991" y="700372"/>
                </a:cubicBezTo>
                <a:lnTo>
                  <a:pt x="73721" y="700372"/>
                </a:lnTo>
                <a:cubicBezTo>
                  <a:pt x="33006" y="700372"/>
                  <a:pt x="0" y="667366"/>
                  <a:pt x="0" y="626651"/>
                </a:cubicBezTo>
                <a:lnTo>
                  <a:pt x="0" y="73721"/>
                </a:lnTo>
                <a:cubicBezTo>
                  <a:pt x="0" y="33033"/>
                  <a:pt x="33033" y="0"/>
                  <a:pt x="73721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662703" y="2495300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73725" y="0"/>
                </a:moveTo>
                <a:lnTo>
                  <a:pt x="368615" y="0"/>
                </a:lnTo>
                <a:cubicBezTo>
                  <a:pt x="409305" y="0"/>
                  <a:pt x="442340" y="33035"/>
                  <a:pt x="442340" y="73725"/>
                </a:cubicBezTo>
                <a:lnTo>
                  <a:pt x="442340" y="368615"/>
                </a:lnTo>
                <a:cubicBezTo>
                  <a:pt x="442340" y="409305"/>
                  <a:pt x="409305" y="442340"/>
                  <a:pt x="368615" y="442340"/>
                </a:cubicBezTo>
                <a:lnTo>
                  <a:pt x="73725" y="442340"/>
                </a:lnTo>
                <a:cubicBezTo>
                  <a:pt x="33035" y="442340"/>
                  <a:pt x="0" y="409305"/>
                  <a:pt x="0" y="368615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795981" y="2587454"/>
            <a:ext cx="267247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52490" y="2476869"/>
            <a:ext cx="2248562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Nginx本地缓存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52490" y="2734901"/>
            <a:ext cx="2239347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Lua脚本实现请求合并与本地缓存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52118" y="3177241"/>
            <a:ext cx="5206712" cy="700372"/>
          </a:xfrm>
          <a:custGeom>
            <a:avLst/>
            <a:gdLst/>
            <a:ahLst/>
            <a:cxnLst/>
            <a:rect l="l" t="t" r="r" b="b"/>
            <a:pathLst>
              <a:path w="5206712" h="700372">
                <a:moveTo>
                  <a:pt x="73721" y="0"/>
                </a:moveTo>
                <a:lnTo>
                  <a:pt x="5132991" y="0"/>
                </a:lnTo>
                <a:cubicBezTo>
                  <a:pt x="5173706" y="0"/>
                  <a:pt x="5206712" y="33006"/>
                  <a:pt x="5206712" y="73721"/>
                </a:cubicBezTo>
                <a:lnTo>
                  <a:pt x="5206712" y="626651"/>
                </a:lnTo>
                <a:cubicBezTo>
                  <a:pt x="5206712" y="667366"/>
                  <a:pt x="5173706" y="700372"/>
                  <a:pt x="5132991" y="700372"/>
                </a:cubicBezTo>
                <a:lnTo>
                  <a:pt x="73721" y="700372"/>
                </a:lnTo>
                <a:cubicBezTo>
                  <a:pt x="33006" y="700372"/>
                  <a:pt x="0" y="667366"/>
                  <a:pt x="0" y="626651"/>
                </a:cubicBezTo>
                <a:lnTo>
                  <a:pt x="0" y="73721"/>
                </a:lnTo>
                <a:cubicBezTo>
                  <a:pt x="0" y="33033"/>
                  <a:pt x="33033" y="0"/>
                  <a:pt x="73721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662703" y="3306257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73725" y="0"/>
                </a:moveTo>
                <a:lnTo>
                  <a:pt x="368615" y="0"/>
                </a:lnTo>
                <a:cubicBezTo>
                  <a:pt x="409305" y="0"/>
                  <a:pt x="442340" y="33035"/>
                  <a:pt x="442340" y="73725"/>
                </a:cubicBezTo>
                <a:lnTo>
                  <a:pt x="442340" y="368615"/>
                </a:lnTo>
                <a:cubicBezTo>
                  <a:pt x="442340" y="409305"/>
                  <a:pt x="409305" y="442340"/>
                  <a:pt x="368615" y="442340"/>
                </a:cubicBezTo>
                <a:lnTo>
                  <a:pt x="73725" y="442340"/>
                </a:lnTo>
                <a:cubicBezTo>
                  <a:pt x="33035" y="442340"/>
                  <a:pt x="0" y="409305"/>
                  <a:pt x="0" y="368615"/>
                </a:cubicBezTo>
                <a:lnTo>
                  <a:pt x="0" y="73725"/>
                </a:lnTo>
                <a:cubicBezTo>
                  <a:pt x="0" y="33035"/>
                  <a:pt x="33035" y="0"/>
                  <a:pt x="73725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</p:spPr>
      </p:sp>
      <p:sp>
        <p:nvSpPr>
          <p:cNvPr id="17" name="Text 14"/>
          <p:cNvSpPr/>
          <p:nvPr/>
        </p:nvSpPr>
        <p:spPr>
          <a:xfrm>
            <a:off x="780430" y="3398411"/>
            <a:ext cx="294893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52490" y="3287826"/>
            <a:ext cx="2322286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Redis分布式缓存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52490" y="3545858"/>
            <a:ext cx="2313070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热点数据永不过期 + 逻辑过期策略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204972" y="810957"/>
            <a:ext cx="5612190" cy="3437351"/>
          </a:xfrm>
          <a:custGeom>
            <a:avLst/>
            <a:gdLst/>
            <a:ahLst/>
            <a:cxnLst/>
            <a:rect l="l" t="t" r="r" b="b"/>
            <a:pathLst>
              <a:path w="5612190" h="3437351">
                <a:moveTo>
                  <a:pt x="110580" y="0"/>
                </a:moveTo>
                <a:lnTo>
                  <a:pt x="5501611" y="0"/>
                </a:lnTo>
                <a:cubicBezTo>
                  <a:pt x="5562682" y="0"/>
                  <a:pt x="5612190" y="49508"/>
                  <a:pt x="5612190" y="110580"/>
                </a:cubicBezTo>
                <a:lnTo>
                  <a:pt x="5612190" y="3326772"/>
                </a:lnTo>
                <a:cubicBezTo>
                  <a:pt x="5612190" y="3387843"/>
                  <a:pt x="5562682" y="3437351"/>
                  <a:pt x="5501611" y="3437351"/>
                </a:cubicBezTo>
                <a:lnTo>
                  <a:pt x="110580" y="3437351"/>
                </a:lnTo>
                <a:cubicBezTo>
                  <a:pt x="49508" y="3437351"/>
                  <a:pt x="0" y="3387843"/>
                  <a:pt x="0" y="3326772"/>
                </a:cubicBezTo>
                <a:lnTo>
                  <a:pt x="0" y="110580"/>
                </a:lnTo>
                <a:cubicBezTo>
                  <a:pt x="0" y="49549"/>
                  <a:pt x="49549" y="0"/>
                  <a:pt x="110580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32" name="Text 29"/>
          <p:cNvSpPr/>
          <p:nvPr/>
        </p:nvSpPr>
        <p:spPr>
          <a:xfrm>
            <a:off x="6389281" y="995265"/>
            <a:ext cx="5354159" cy="294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防护策略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400339" y="1400627"/>
            <a:ext cx="5236201" cy="737234"/>
          </a:xfrm>
          <a:custGeom>
            <a:avLst/>
            <a:gdLst/>
            <a:ahLst/>
            <a:cxnLst/>
            <a:rect l="l" t="t" r="r" b="b"/>
            <a:pathLst>
              <a:path w="5236201" h="737234">
                <a:moveTo>
                  <a:pt x="22117" y="0"/>
                </a:moveTo>
                <a:lnTo>
                  <a:pt x="5162478" y="0"/>
                </a:lnTo>
                <a:cubicBezTo>
                  <a:pt x="5203194" y="0"/>
                  <a:pt x="5236201" y="33007"/>
                  <a:pt x="5236201" y="73723"/>
                </a:cubicBezTo>
                <a:lnTo>
                  <a:pt x="5236201" y="663510"/>
                </a:lnTo>
                <a:cubicBezTo>
                  <a:pt x="5236201" y="704226"/>
                  <a:pt x="5203194" y="737234"/>
                  <a:pt x="5162478" y="737234"/>
                </a:cubicBezTo>
                <a:lnTo>
                  <a:pt x="22117" y="737234"/>
                </a:lnTo>
                <a:cubicBezTo>
                  <a:pt x="9902" y="737234"/>
                  <a:pt x="0" y="727331"/>
                  <a:pt x="0" y="715117"/>
                </a:cubicBezTo>
                <a:lnTo>
                  <a:pt x="0" y="22117"/>
                </a:lnTo>
                <a:cubicBezTo>
                  <a:pt x="0" y="9910"/>
                  <a:pt x="9910" y="0"/>
                  <a:pt x="22117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34" name="Shape 31"/>
          <p:cNvSpPr/>
          <p:nvPr/>
        </p:nvSpPr>
        <p:spPr>
          <a:xfrm>
            <a:off x="6400339" y="1400627"/>
            <a:ext cx="22117" cy="737234"/>
          </a:xfrm>
          <a:custGeom>
            <a:avLst/>
            <a:gdLst/>
            <a:ahLst/>
            <a:cxnLst/>
            <a:rect l="l" t="t" r="r" b="b"/>
            <a:pathLst>
              <a:path w="22117" h="737234">
                <a:moveTo>
                  <a:pt x="22117" y="0"/>
                </a:moveTo>
                <a:lnTo>
                  <a:pt x="22117" y="0"/>
                </a:lnTo>
                <a:lnTo>
                  <a:pt x="22117" y="737234"/>
                </a:lnTo>
                <a:lnTo>
                  <a:pt x="22117" y="737234"/>
                </a:lnTo>
                <a:cubicBezTo>
                  <a:pt x="9902" y="737234"/>
                  <a:pt x="0" y="727331"/>
                  <a:pt x="0" y="715117"/>
                </a:cubicBezTo>
                <a:lnTo>
                  <a:pt x="0" y="22117"/>
                </a:lnTo>
                <a:cubicBezTo>
                  <a:pt x="0" y="9902"/>
                  <a:pt x="9902" y="0"/>
                  <a:pt x="22117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35" name="Shape 32"/>
          <p:cNvSpPr/>
          <p:nvPr/>
        </p:nvSpPr>
        <p:spPr>
          <a:xfrm>
            <a:off x="6507353" y="1552540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82939" y="0"/>
                </a:moveTo>
                <a:cubicBezTo>
                  <a:pt x="84429" y="0"/>
                  <a:pt x="85919" y="324"/>
                  <a:pt x="87280" y="940"/>
                </a:cubicBezTo>
                <a:lnTo>
                  <a:pt x="148318" y="26826"/>
                </a:lnTo>
                <a:cubicBezTo>
                  <a:pt x="155445" y="29839"/>
                  <a:pt x="160759" y="36869"/>
                  <a:pt x="160726" y="45357"/>
                </a:cubicBezTo>
                <a:cubicBezTo>
                  <a:pt x="160564" y="77496"/>
                  <a:pt x="147346" y="136298"/>
                  <a:pt x="91524" y="163027"/>
                </a:cubicBezTo>
                <a:cubicBezTo>
                  <a:pt x="86114" y="165618"/>
                  <a:pt x="79829" y="165618"/>
                  <a:pt x="74418" y="163027"/>
                </a:cubicBezTo>
                <a:cubicBezTo>
                  <a:pt x="18564" y="136298"/>
                  <a:pt x="5378" y="77496"/>
                  <a:pt x="5216" y="45357"/>
                </a:cubicBezTo>
                <a:cubicBezTo>
                  <a:pt x="5184" y="36869"/>
                  <a:pt x="10497" y="29839"/>
                  <a:pt x="17624" y="26826"/>
                </a:cubicBezTo>
                <a:lnTo>
                  <a:pt x="78630" y="940"/>
                </a:lnTo>
                <a:cubicBezTo>
                  <a:pt x="79991" y="324"/>
                  <a:pt x="81448" y="0"/>
                  <a:pt x="82939" y="0"/>
                </a:cubicBezTo>
                <a:close/>
                <a:moveTo>
                  <a:pt x="82939" y="21642"/>
                </a:moveTo>
                <a:lnTo>
                  <a:pt x="82939" y="144139"/>
                </a:lnTo>
                <a:cubicBezTo>
                  <a:pt x="127648" y="122497"/>
                  <a:pt x="139668" y="74548"/>
                  <a:pt x="139959" y="45843"/>
                </a:cubicBezTo>
                <a:lnTo>
                  <a:pt x="82939" y="21674"/>
                </a:lnTo>
                <a:lnTo>
                  <a:pt x="82939" y="21674"/>
                </a:lnTo>
                <a:close/>
              </a:path>
            </a:pathLst>
          </a:custGeom>
          <a:solidFill>
            <a:srgbClr val="F6AD55"/>
          </a:solidFill>
        </p:spPr>
      </p:sp>
      <p:sp>
        <p:nvSpPr>
          <p:cNvPr id="36" name="Text 33"/>
          <p:cNvSpPr/>
          <p:nvPr/>
        </p:nvSpPr>
        <p:spPr>
          <a:xfrm>
            <a:off x="6787433" y="1511212"/>
            <a:ext cx="4821462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缓存穿透防护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521983" y="1806105"/>
            <a:ext cx="5077696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Lua脚本实现布隆过滤器，拦截不存在的数据请求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400339" y="2248445"/>
            <a:ext cx="5236201" cy="737234"/>
          </a:xfrm>
          <a:custGeom>
            <a:avLst/>
            <a:gdLst/>
            <a:ahLst/>
            <a:cxnLst/>
            <a:rect l="l" t="t" r="r" b="b"/>
            <a:pathLst>
              <a:path w="5236201" h="737234">
                <a:moveTo>
                  <a:pt x="22117" y="0"/>
                </a:moveTo>
                <a:lnTo>
                  <a:pt x="5162478" y="0"/>
                </a:lnTo>
                <a:cubicBezTo>
                  <a:pt x="5203194" y="0"/>
                  <a:pt x="5236201" y="33007"/>
                  <a:pt x="5236201" y="73723"/>
                </a:cubicBezTo>
                <a:lnTo>
                  <a:pt x="5236201" y="663510"/>
                </a:lnTo>
                <a:cubicBezTo>
                  <a:pt x="5236201" y="704226"/>
                  <a:pt x="5203194" y="737234"/>
                  <a:pt x="5162478" y="737234"/>
                </a:cubicBezTo>
                <a:lnTo>
                  <a:pt x="22117" y="737234"/>
                </a:lnTo>
                <a:cubicBezTo>
                  <a:pt x="9902" y="737234"/>
                  <a:pt x="0" y="727331"/>
                  <a:pt x="0" y="715117"/>
                </a:cubicBezTo>
                <a:lnTo>
                  <a:pt x="0" y="22117"/>
                </a:lnTo>
                <a:cubicBezTo>
                  <a:pt x="0" y="9910"/>
                  <a:pt x="9910" y="0"/>
                  <a:pt x="22117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39" name="Shape 36"/>
          <p:cNvSpPr/>
          <p:nvPr/>
        </p:nvSpPr>
        <p:spPr>
          <a:xfrm>
            <a:off x="6399565" y="2237268"/>
            <a:ext cx="22117" cy="737234"/>
          </a:xfrm>
          <a:custGeom>
            <a:avLst/>
            <a:gdLst/>
            <a:ahLst/>
            <a:cxnLst/>
            <a:rect l="l" t="t" r="r" b="b"/>
            <a:pathLst>
              <a:path w="22117" h="737234">
                <a:moveTo>
                  <a:pt x="22117" y="0"/>
                </a:moveTo>
                <a:lnTo>
                  <a:pt x="22117" y="0"/>
                </a:lnTo>
                <a:lnTo>
                  <a:pt x="22117" y="737234"/>
                </a:lnTo>
                <a:lnTo>
                  <a:pt x="22117" y="737234"/>
                </a:lnTo>
                <a:cubicBezTo>
                  <a:pt x="9902" y="737234"/>
                  <a:pt x="0" y="727331"/>
                  <a:pt x="0" y="715117"/>
                </a:cubicBezTo>
                <a:lnTo>
                  <a:pt x="0" y="22117"/>
                </a:lnTo>
                <a:cubicBezTo>
                  <a:pt x="0" y="9902"/>
                  <a:pt x="9902" y="0"/>
                  <a:pt x="22117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40" name="Shape 37"/>
          <p:cNvSpPr/>
          <p:nvPr/>
        </p:nvSpPr>
        <p:spPr>
          <a:xfrm>
            <a:off x="6530840" y="2413284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82939" y="0"/>
                </a:moveTo>
                <a:cubicBezTo>
                  <a:pt x="84429" y="0"/>
                  <a:pt x="85919" y="324"/>
                  <a:pt x="87280" y="940"/>
                </a:cubicBezTo>
                <a:lnTo>
                  <a:pt x="148318" y="26826"/>
                </a:lnTo>
                <a:cubicBezTo>
                  <a:pt x="155445" y="29839"/>
                  <a:pt x="160759" y="36869"/>
                  <a:pt x="160726" y="45357"/>
                </a:cubicBezTo>
                <a:cubicBezTo>
                  <a:pt x="160564" y="77496"/>
                  <a:pt x="147346" y="136298"/>
                  <a:pt x="91524" y="163027"/>
                </a:cubicBezTo>
                <a:cubicBezTo>
                  <a:pt x="86114" y="165618"/>
                  <a:pt x="79829" y="165618"/>
                  <a:pt x="74418" y="163027"/>
                </a:cubicBezTo>
                <a:cubicBezTo>
                  <a:pt x="18564" y="136298"/>
                  <a:pt x="5378" y="77496"/>
                  <a:pt x="5216" y="45357"/>
                </a:cubicBezTo>
                <a:cubicBezTo>
                  <a:pt x="5184" y="36869"/>
                  <a:pt x="10497" y="29839"/>
                  <a:pt x="17624" y="26826"/>
                </a:cubicBezTo>
                <a:lnTo>
                  <a:pt x="78630" y="940"/>
                </a:lnTo>
                <a:cubicBezTo>
                  <a:pt x="79991" y="324"/>
                  <a:pt x="81448" y="0"/>
                  <a:pt x="82939" y="0"/>
                </a:cubicBezTo>
                <a:close/>
                <a:moveTo>
                  <a:pt x="82939" y="21642"/>
                </a:moveTo>
                <a:lnTo>
                  <a:pt x="82939" y="144139"/>
                </a:lnTo>
                <a:cubicBezTo>
                  <a:pt x="127648" y="122497"/>
                  <a:pt x="139668" y="74548"/>
                  <a:pt x="139959" y="45843"/>
                </a:cubicBezTo>
                <a:lnTo>
                  <a:pt x="82939" y="21674"/>
                </a:lnTo>
                <a:lnTo>
                  <a:pt x="82939" y="21674"/>
                </a:lnTo>
                <a:close/>
              </a:path>
            </a:pathLst>
          </a:custGeom>
          <a:solidFill>
            <a:srgbClr val="F6AD55"/>
          </a:solidFill>
        </p:spPr>
      </p:sp>
      <p:sp>
        <p:nvSpPr>
          <p:cNvPr id="41" name="Text 38"/>
          <p:cNvSpPr/>
          <p:nvPr/>
        </p:nvSpPr>
        <p:spPr>
          <a:xfrm>
            <a:off x="6787433" y="2359030"/>
            <a:ext cx="4821462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缓存击穿防护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521983" y="2653924"/>
            <a:ext cx="5077696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随机过期时间 + 热点数据永不过期策略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400339" y="3096264"/>
            <a:ext cx="5236201" cy="737234"/>
          </a:xfrm>
          <a:custGeom>
            <a:avLst/>
            <a:gdLst/>
            <a:ahLst/>
            <a:cxnLst/>
            <a:rect l="l" t="t" r="r" b="b"/>
            <a:pathLst>
              <a:path w="5236201" h="737234">
                <a:moveTo>
                  <a:pt x="22117" y="0"/>
                </a:moveTo>
                <a:lnTo>
                  <a:pt x="5162478" y="0"/>
                </a:lnTo>
                <a:cubicBezTo>
                  <a:pt x="5203194" y="0"/>
                  <a:pt x="5236201" y="33007"/>
                  <a:pt x="5236201" y="73723"/>
                </a:cubicBezTo>
                <a:lnTo>
                  <a:pt x="5236201" y="663510"/>
                </a:lnTo>
                <a:cubicBezTo>
                  <a:pt x="5236201" y="704226"/>
                  <a:pt x="5203194" y="737234"/>
                  <a:pt x="5162478" y="737234"/>
                </a:cubicBezTo>
                <a:lnTo>
                  <a:pt x="22117" y="737234"/>
                </a:lnTo>
                <a:cubicBezTo>
                  <a:pt x="9902" y="737234"/>
                  <a:pt x="0" y="727331"/>
                  <a:pt x="0" y="715117"/>
                </a:cubicBezTo>
                <a:lnTo>
                  <a:pt x="0" y="22117"/>
                </a:lnTo>
                <a:cubicBezTo>
                  <a:pt x="0" y="9910"/>
                  <a:pt x="9910" y="0"/>
                  <a:pt x="22117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44" name="Shape 41"/>
          <p:cNvSpPr/>
          <p:nvPr/>
        </p:nvSpPr>
        <p:spPr>
          <a:xfrm>
            <a:off x="6410624" y="3096264"/>
            <a:ext cx="22117" cy="737234"/>
          </a:xfrm>
          <a:custGeom>
            <a:avLst/>
            <a:gdLst/>
            <a:ahLst/>
            <a:cxnLst/>
            <a:rect l="l" t="t" r="r" b="b"/>
            <a:pathLst>
              <a:path w="22117" h="737234">
                <a:moveTo>
                  <a:pt x="22117" y="0"/>
                </a:moveTo>
                <a:lnTo>
                  <a:pt x="22117" y="0"/>
                </a:lnTo>
                <a:lnTo>
                  <a:pt x="22117" y="737234"/>
                </a:lnTo>
                <a:lnTo>
                  <a:pt x="22117" y="737234"/>
                </a:lnTo>
                <a:cubicBezTo>
                  <a:pt x="9902" y="737234"/>
                  <a:pt x="0" y="727331"/>
                  <a:pt x="0" y="715117"/>
                </a:cubicBezTo>
                <a:lnTo>
                  <a:pt x="0" y="22117"/>
                </a:lnTo>
                <a:cubicBezTo>
                  <a:pt x="0" y="9902"/>
                  <a:pt x="9902" y="0"/>
                  <a:pt x="22117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45" name="Shape 42"/>
          <p:cNvSpPr/>
          <p:nvPr/>
        </p:nvSpPr>
        <p:spPr>
          <a:xfrm>
            <a:off x="6530840" y="3249173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82939" y="0"/>
                </a:moveTo>
                <a:cubicBezTo>
                  <a:pt x="84429" y="0"/>
                  <a:pt x="85919" y="324"/>
                  <a:pt x="87280" y="940"/>
                </a:cubicBezTo>
                <a:lnTo>
                  <a:pt x="148318" y="26826"/>
                </a:lnTo>
                <a:cubicBezTo>
                  <a:pt x="155445" y="29839"/>
                  <a:pt x="160759" y="36869"/>
                  <a:pt x="160726" y="45357"/>
                </a:cubicBezTo>
                <a:cubicBezTo>
                  <a:pt x="160564" y="77496"/>
                  <a:pt x="147346" y="136298"/>
                  <a:pt x="91524" y="163027"/>
                </a:cubicBezTo>
                <a:cubicBezTo>
                  <a:pt x="86114" y="165618"/>
                  <a:pt x="79829" y="165618"/>
                  <a:pt x="74418" y="163027"/>
                </a:cubicBezTo>
                <a:cubicBezTo>
                  <a:pt x="18564" y="136298"/>
                  <a:pt x="5378" y="77496"/>
                  <a:pt x="5216" y="45357"/>
                </a:cubicBezTo>
                <a:cubicBezTo>
                  <a:pt x="5184" y="36869"/>
                  <a:pt x="10497" y="29839"/>
                  <a:pt x="17624" y="26826"/>
                </a:cubicBezTo>
                <a:lnTo>
                  <a:pt x="78630" y="940"/>
                </a:lnTo>
                <a:cubicBezTo>
                  <a:pt x="79991" y="324"/>
                  <a:pt x="81448" y="0"/>
                  <a:pt x="82939" y="0"/>
                </a:cubicBezTo>
                <a:close/>
                <a:moveTo>
                  <a:pt x="82939" y="21642"/>
                </a:moveTo>
                <a:lnTo>
                  <a:pt x="82939" y="144139"/>
                </a:lnTo>
                <a:cubicBezTo>
                  <a:pt x="127648" y="122497"/>
                  <a:pt x="139668" y="74548"/>
                  <a:pt x="139959" y="45843"/>
                </a:cubicBezTo>
                <a:lnTo>
                  <a:pt x="82939" y="21674"/>
                </a:lnTo>
                <a:lnTo>
                  <a:pt x="82939" y="21674"/>
                </a:lnTo>
                <a:close/>
              </a:path>
            </a:pathLst>
          </a:custGeom>
          <a:solidFill>
            <a:srgbClr val="F6AD55"/>
          </a:solidFill>
        </p:spPr>
      </p:sp>
      <p:sp>
        <p:nvSpPr>
          <p:cNvPr id="46" name="Text 43"/>
          <p:cNvSpPr/>
          <p:nvPr/>
        </p:nvSpPr>
        <p:spPr>
          <a:xfrm>
            <a:off x="6787433" y="3206849"/>
            <a:ext cx="4821462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缓存雪崩防护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521983" y="3501742"/>
            <a:ext cx="5077696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分散缓存过期时间，避免同时失效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17500" y="412750"/>
            <a:ext cx="508000" cy="31750"/>
          </a:xfrm>
          <a:custGeom>
            <a:avLst/>
            <a:gdLst/>
            <a:ahLst/>
            <a:cxnLst/>
            <a:rect l="l" t="t" r="r" b="b"/>
            <a:pathLst>
              <a:path w="508000" h="31750">
                <a:moveTo>
                  <a:pt x="0" y="0"/>
                </a:moveTo>
                <a:lnTo>
                  <a:pt x="508000" y="0"/>
                </a:lnTo>
                <a:lnTo>
                  <a:pt x="508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</p:spPr>
      </p:sp>
      <p:sp>
        <p:nvSpPr>
          <p:cNvPr id="4" name="Text 1"/>
          <p:cNvSpPr/>
          <p:nvPr/>
        </p:nvSpPr>
        <p:spPr>
          <a:xfrm>
            <a:off x="952500" y="317500"/>
            <a:ext cx="2301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kern="0" spc="56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03-2 · TECHNICAL HIGHLIGHT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7500" y="698500"/>
            <a:ext cx="5826125" cy="3571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近实时搜索系统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17500" y="1150938"/>
            <a:ext cx="4397823" cy="98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数据同步延迟 &lt; 1秒，一致性 99.99%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3376" y="1492343"/>
            <a:ext cx="5667375" cy="3262537"/>
          </a:xfrm>
          <a:custGeom>
            <a:avLst/>
            <a:gdLst/>
            <a:ahLst/>
            <a:cxnLst/>
            <a:rect l="l" t="t" r="r" b="b"/>
            <a:pathLst>
              <a:path w="5667375" h="7151688">
                <a:moveTo>
                  <a:pt x="31750" y="0"/>
                </a:moveTo>
                <a:lnTo>
                  <a:pt x="5572106" y="0"/>
                </a:lnTo>
                <a:cubicBezTo>
                  <a:pt x="5624722" y="0"/>
                  <a:pt x="5667375" y="42653"/>
                  <a:pt x="5667375" y="95269"/>
                </a:cubicBezTo>
                <a:lnTo>
                  <a:pt x="5667375" y="7056419"/>
                </a:lnTo>
                <a:cubicBezTo>
                  <a:pt x="5667375" y="7109034"/>
                  <a:pt x="5624722" y="7151688"/>
                  <a:pt x="5572106" y="7151688"/>
                </a:cubicBezTo>
                <a:lnTo>
                  <a:pt x="31750" y="7151688"/>
                </a:lnTo>
                <a:cubicBezTo>
                  <a:pt x="14215" y="7151688"/>
                  <a:pt x="0" y="7137473"/>
                  <a:pt x="0" y="71199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8" name="Shape 5"/>
          <p:cNvSpPr/>
          <p:nvPr/>
        </p:nvSpPr>
        <p:spPr>
          <a:xfrm>
            <a:off x="339220" y="1484166"/>
            <a:ext cx="49718" cy="3270714"/>
          </a:xfrm>
          <a:custGeom>
            <a:avLst/>
            <a:gdLst/>
            <a:ahLst/>
            <a:cxnLst/>
            <a:rect l="l" t="t" r="r" b="b"/>
            <a:pathLst>
              <a:path w="31750" h="7151688">
                <a:moveTo>
                  <a:pt x="31750" y="0"/>
                </a:moveTo>
                <a:lnTo>
                  <a:pt x="31750" y="0"/>
                </a:lnTo>
                <a:lnTo>
                  <a:pt x="31750" y="7151688"/>
                </a:lnTo>
                <a:lnTo>
                  <a:pt x="31750" y="7151688"/>
                </a:lnTo>
                <a:cubicBezTo>
                  <a:pt x="14227" y="7151688"/>
                  <a:pt x="0" y="7137461"/>
                  <a:pt x="0" y="71199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9" name="Text 6"/>
          <p:cNvSpPr/>
          <p:nvPr/>
        </p:nvSpPr>
        <p:spPr>
          <a:xfrm>
            <a:off x="468313" y="1598582"/>
            <a:ext cx="5429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数据同步架构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8313" y="1947732"/>
            <a:ext cx="5334000" cy="603250"/>
          </a:xfrm>
          <a:custGeom>
            <a:avLst/>
            <a:gdLst/>
            <a:ahLst/>
            <a:cxnLst/>
            <a:rect l="l" t="t" r="r" b="b"/>
            <a:pathLst>
              <a:path w="5334000" h="603250">
                <a:moveTo>
                  <a:pt x="63498" y="0"/>
                </a:moveTo>
                <a:lnTo>
                  <a:pt x="5270502" y="0"/>
                </a:lnTo>
                <a:cubicBezTo>
                  <a:pt x="5305571" y="0"/>
                  <a:pt x="5334000" y="28429"/>
                  <a:pt x="5334000" y="63498"/>
                </a:cubicBezTo>
                <a:lnTo>
                  <a:pt x="5334000" y="539752"/>
                </a:lnTo>
                <a:cubicBezTo>
                  <a:pt x="5334000" y="574821"/>
                  <a:pt x="5305571" y="603250"/>
                  <a:pt x="527050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563563" y="209060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666751" y="2185857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13" name="Text 10"/>
          <p:cNvSpPr/>
          <p:nvPr/>
        </p:nvSpPr>
        <p:spPr>
          <a:xfrm>
            <a:off x="976313" y="2042982"/>
            <a:ext cx="48021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MySQL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76313" y="2265232"/>
            <a:ext cx="4794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业务数据库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075782" y="2646232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16" name="Shape 13"/>
          <p:cNvSpPr/>
          <p:nvPr/>
        </p:nvSpPr>
        <p:spPr>
          <a:xfrm>
            <a:off x="468313" y="2900232"/>
            <a:ext cx="5334000" cy="603250"/>
          </a:xfrm>
          <a:custGeom>
            <a:avLst/>
            <a:gdLst/>
            <a:ahLst/>
            <a:cxnLst/>
            <a:rect l="l" t="t" r="r" b="b"/>
            <a:pathLst>
              <a:path w="5334000" h="603250">
                <a:moveTo>
                  <a:pt x="63498" y="0"/>
                </a:moveTo>
                <a:lnTo>
                  <a:pt x="5270502" y="0"/>
                </a:lnTo>
                <a:cubicBezTo>
                  <a:pt x="5305571" y="0"/>
                  <a:pt x="5334000" y="28429"/>
                  <a:pt x="5334000" y="63498"/>
                </a:cubicBezTo>
                <a:lnTo>
                  <a:pt x="5334000" y="539752"/>
                </a:lnTo>
                <a:cubicBezTo>
                  <a:pt x="5334000" y="574821"/>
                  <a:pt x="5305571" y="603250"/>
                  <a:pt x="527050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6AD55">
              <a:alpha val="10196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563563" y="304310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6AD55">
              <a:alpha val="30196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658813" y="313835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7938"/>
                </a:moveTo>
                <a:lnTo>
                  <a:pt x="39688" y="7938"/>
                </a:lnTo>
                <a:cubicBezTo>
                  <a:pt x="44078" y="7938"/>
                  <a:pt x="47625" y="11485"/>
                  <a:pt x="47625" y="15875"/>
                </a:cubicBezTo>
                <a:lnTo>
                  <a:pt x="47625" y="23812"/>
                </a:lnTo>
                <a:lnTo>
                  <a:pt x="23812" y="23812"/>
                </a:lnTo>
                <a:lnTo>
                  <a:pt x="23812" y="15875"/>
                </a:lnTo>
                <a:cubicBezTo>
                  <a:pt x="23812" y="11485"/>
                  <a:pt x="27360" y="7938"/>
                  <a:pt x="31750" y="7938"/>
                </a:cubicBezTo>
                <a:close/>
                <a:moveTo>
                  <a:pt x="47625" y="31750"/>
                </a:moveTo>
                <a:lnTo>
                  <a:pt x="47625" y="111125"/>
                </a:lnTo>
                <a:cubicBezTo>
                  <a:pt x="47625" y="115515"/>
                  <a:pt x="44078" y="119063"/>
                  <a:pt x="39688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96465"/>
                </a:lnTo>
                <a:cubicBezTo>
                  <a:pt x="0" y="87883"/>
                  <a:pt x="2332" y="79449"/>
                  <a:pt x="6747" y="72082"/>
                </a:cubicBezTo>
                <a:cubicBezTo>
                  <a:pt x="10145" y="66427"/>
                  <a:pt x="12328" y="60127"/>
                  <a:pt x="13146" y="53578"/>
                </a:cubicBezTo>
                <a:lnTo>
                  <a:pt x="15007" y="38695"/>
                </a:lnTo>
                <a:cubicBezTo>
                  <a:pt x="15503" y="34727"/>
                  <a:pt x="18876" y="31750"/>
                  <a:pt x="22895" y="31750"/>
                </a:cubicBezTo>
                <a:lnTo>
                  <a:pt x="47650" y="31750"/>
                </a:lnTo>
                <a:close/>
                <a:moveTo>
                  <a:pt x="104130" y="31750"/>
                </a:moveTo>
                <a:cubicBezTo>
                  <a:pt x="108124" y="31750"/>
                  <a:pt x="111522" y="34727"/>
                  <a:pt x="112018" y="38695"/>
                </a:cubicBezTo>
                <a:lnTo>
                  <a:pt x="113854" y="53578"/>
                </a:lnTo>
                <a:cubicBezTo>
                  <a:pt x="114672" y="60127"/>
                  <a:pt x="116855" y="66427"/>
                  <a:pt x="120253" y="72082"/>
                </a:cubicBezTo>
                <a:cubicBezTo>
                  <a:pt x="124668" y="79449"/>
                  <a:pt x="127000" y="87883"/>
                  <a:pt x="127000" y="96465"/>
                </a:cubicBezTo>
                <a:lnTo>
                  <a:pt x="127000" y="111125"/>
                </a:lnTo>
                <a:cubicBezTo>
                  <a:pt x="127000" y="115515"/>
                  <a:pt x="123453" y="119063"/>
                  <a:pt x="119063" y="119063"/>
                </a:cubicBezTo>
                <a:lnTo>
                  <a:pt x="87313" y="119063"/>
                </a:lnTo>
                <a:cubicBezTo>
                  <a:pt x="82922" y="119063"/>
                  <a:pt x="79375" y="115515"/>
                  <a:pt x="79375" y="111125"/>
                </a:cubicBezTo>
                <a:lnTo>
                  <a:pt x="79375" y="31750"/>
                </a:lnTo>
                <a:lnTo>
                  <a:pt x="104130" y="31750"/>
                </a:lnTo>
                <a:close/>
                <a:moveTo>
                  <a:pt x="79375" y="15875"/>
                </a:moveTo>
                <a:cubicBezTo>
                  <a:pt x="79375" y="11485"/>
                  <a:pt x="82922" y="7938"/>
                  <a:pt x="87313" y="7938"/>
                </a:cubicBezTo>
                <a:lnTo>
                  <a:pt x="95250" y="7938"/>
                </a:lnTo>
                <a:cubicBezTo>
                  <a:pt x="99640" y="7938"/>
                  <a:pt x="103188" y="11485"/>
                  <a:pt x="103188" y="15875"/>
                </a:cubicBezTo>
                <a:lnTo>
                  <a:pt x="103188" y="23812"/>
                </a:lnTo>
                <a:lnTo>
                  <a:pt x="79375" y="23812"/>
                </a:lnTo>
                <a:lnTo>
                  <a:pt x="79375" y="15875"/>
                </a:lnTo>
                <a:close/>
                <a:moveTo>
                  <a:pt x="71438" y="31750"/>
                </a:moveTo>
                <a:lnTo>
                  <a:pt x="71438" y="71438"/>
                </a:lnTo>
                <a:lnTo>
                  <a:pt x="55563" y="71438"/>
                </a:lnTo>
                <a:lnTo>
                  <a:pt x="55563" y="31750"/>
                </a:lnTo>
                <a:lnTo>
                  <a:pt x="71438" y="31750"/>
                </a:lnTo>
                <a:close/>
              </a:path>
            </a:pathLst>
          </a:custGeom>
          <a:solidFill>
            <a:srgbClr val="F6AD55"/>
          </a:solidFill>
        </p:spPr>
      </p:sp>
      <p:sp>
        <p:nvSpPr>
          <p:cNvPr id="19" name="Text 16"/>
          <p:cNvSpPr/>
          <p:nvPr/>
        </p:nvSpPr>
        <p:spPr>
          <a:xfrm>
            <a:off x="976313" y="2995482"/>
            <a:ext cx="48021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Canal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76313" y="3217732"/>
            <a:ext cx="4794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监听Binlog变更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075782" y="3564819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28" name="Shape 25"/>
          <p:cNvSpPr/>
          <p:nvPr/>
        </p:nvSpPr>
        <p:spPr>
          <a:xfrm>
            <a:off x="468313" y="3818819"/>
            <a:ext cx="5334000" cy="603250"/>
          </a:xfrm>
          <a:custGeom>
            <a:avLst/>
            <a:gdLst/>
            <a:ahLst/>
            <a:cxnLst/>
            <a:rect l="l" t="t" r="r" b="b"/>
            <a:pathLst>
              <a:path w="5334000" h="603250">
                <a:moveTo>
                  <a:pt x="63498" y="0"/>
                </a:moveTo>
                <a:lnTo>
                  <a:pt x="5270502" y="0"/>
                </a:lnTo>
                <a:cubicBezTo>
                  <a:pt x="5305571" y="0"/>
                  <a:pt x="5334000" y="28429"/>
                  <a:pt x="5334000" y="63498"/>
                </a:cubicBezTo>
                <a:lnTo>
                  <a:pt x="5334000" y="539752"/>
                </a:lnTo>
                <a:cubicBezTo>
                  <a:pt x="5334000" y="574821"/>
                  <a:pt x="5305571" y="603250"/>
                  <a:pt x="527050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6AD55">
              <a:alpha val="10196"/>
            </a:srgbClr>
          </a:solidFill>
        </p:spPr>
      </p:sp>
      <p:sp>
        <p:nvSpPr>
          <p:cNvPr id="29" name="Shape 26"/>
          <p:cNvSpPr/>
          <p:nvPr/>
        </p:nvSpPr>
        <p:spPr>
          <a:xfrm>
            <a:off x="563563" y="3961694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6AD55">
              <a:alpha val="30196"/>
            </a:srgbClr>
          </a:solidFill>
        </p:spPr>
      </p:sp>
      <p:sp>
        <p:nvSpPr>
          <p:cNvPr id="30" name="Shape 27"/>
          <p:cNvSpPr/>
          <p:nvPr/>
        </p:nvSpPr>
        <p:spPr>
          <a:xfrm>
            <a:off x="658813" y="405694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3188" y="51594"/>
                </a:moveTo>
                <a:cubicBezTo>
                  <a:pt x="103188" y="62979"/>
                  <a:pt x="99492" y="73496"/>
                  <a:pt x="93266" y="82029"/>
                </a:cubicBezTo>
                <a:lnTo>
                  <a:pt x="124668" y="113457"/>
                </a:lnTo>
                <a:cubicBezTo>
                  <a:pt x="127769" y="116557"/>
                  <a:pt x="127769" y="121593"/>
                  <a:pt x="124668" y="124693"/>
                </a:cubicBezTo>
                <a:cubicBezTo>
                  <a:pt x="121568" y="127794"/>
                  <a:pt x="116532" y="127794"/>
                  <a:pt x="113432" y="124693"/>
                </a:cubicBezTo>
                <a:lnTo>
                  <a:pt x="82029" y="93266"/>
                </a:lnTo>
                <a:cubicBezTo>
                  <a:pt x="73496" y="99492"/>
                  <a:pt x="62979" y="103188"/>
                  <a:pt x="51594" y="103188"/>
                </a:cubicBezTo>
                <a:cubicBezTo>
                  <a:pt x="23093" y="103188"/>
                  <a:pt x="0" y="80094"/>
                  <a:pt x="0" y="51594"/>
                </a:cubicBezTo>
                <a:cubicBezTo>
                  <a:pt x="0" y="23093"/>
                  <a:pt x="23093" y="0"/>
                  <a:pt x="51594" y="0"/>
                </a:cubicBezTo>
                <a:cubicBezTo>
                  <a:pt x="80094" y="0"/>
                  <a:pt x="103188" y="23093"/>
                  <a:pt x="103188" y="51594"/>
                </a:cubicBezTo>
                <a:close/>
                <a:moveTo>
                  <a:pt x="51594" y="87313"/>
                </a:moveTo>
                <a:cubicBezTo>
                  <a:pt x="71307" y="87313"/>
                  <a:pt x="87313" y="71307"/>
                  <a:pt x="87313" y="51594"/>
                </a:cubicBezTo>
                <a:cubicBezTo>
                  <a:pt x="87313" y="31880"/>
                  <a:pt x="71307" y="15875"/>
                  <a:pt x="51594" y="15875"/>
                </a:cubicBezTo>
                <a:cubicBezTo>
                  <a:pt x="31880" y="15875"/>
                  <a:pt x="15875" y="31880"/>
                  <a:pt x="15875" y="51594"/>
                </a:cubicBezTo>
                <a:cubicBezTo>
                  <a:pt x="15875" y="71307"/>
                  <a:pt x="31880" y="87313"/>
                  <a:pt x="51594" y="87313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31" name="Text 28"/>
          <p:cNvSpPr/>
          <p:nvPr/>
        </p:nvSpPr>
        <p:spPr>
          <a:xfrm>
            <a:off x="976313" y="3914069"/>
            <a:ext cx="48021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Elasticsearch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76313" y="4136319"/>
            <a:ext cx="4794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构建搜索索引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215063" y="1515074"/>
            <a:ext cx="5683250" cy="2811746"/>
          </a:xfrm>
          <a:custGeom>
            <a:avLst/>
            <a:gdLst/>
            <a:ahLst/>
            <a:cxnLst/>
            <a:rect l="l" t="t" r="r" b="b"/>
            <a:pathLst>
              <a:path w="5683250" h="4318000">
                <a:moveTo>
                  <a:pt x="95255" y="0"/>
                </a:moveTo>
                <a:lnTo>
                  <a:pt x="5587995" y="0"/>
                </a:lnTo>
                <a:cubicBezTo>
                  <a:pt x="5640603" y="0"/>
                  <a:pt x="5683250" y="42647"/>
                  <a:pt x="5683250" y="95255"/>
                </a:cubicBezTo>
                <a:lnTo>
                  <a:pt x="5683250" y="4222745"/>
                </a:lnTo>
                <a:cubicBezTo>
                  <a:pt x="5683250" y="4275353"/>
                  <a:pt x="5640603" y="4318000"/>
                  <a:pt x="5587995" y="4318000"/>
                </a:cubicBezTo>
                <a:lnTo>
                  <a:pt x="95255" y="4318000"/>
                </a:lnTo>
                <a:cubicBezTo>
                  <a:pt x="42647" y="4318000"/>
                  <a:pt x="0" y="4275353"/>
                  <a:pt x="0" y="4222745"/>
                </a:cubicBezTo>
                <a:lnTo>
                  <a:pt x="0" y="95255"/>
                </a:lnTo>
                <a:cubicBezTo>
                  <a:pt x="0" y="42647"/>
                  <a:pt x="42647" y="0"/>
                  <a:pt x="95255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46" name="Text 43"/>
          <p:cNvSpPr/>
          <p:nvPr/>
        </p:nvSpPr>
        <p:spPr>
          <a:xfrm>
            <a:off x="6357938" y="1673823"/>
            <a:ext cx="5461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搜索功能特性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57938" y="2022976"/>
            <a:ext cx="5365750" cy="381000"/>
          </a:xfrm>
          <a:custGeom>
            <a:avLst/>
            <a:gdLst/>
            <a:ahLst/>
            <a:cxnLst/>
            <a:rect l="l" t="t" r="r" b="b"/>
            <a:pathLst>
              <a:path w="5365750" h="38100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317499"/>
                </a:lnTo>
                <a:cubicBezTo>
                  <a:pt x="5365750" y="352570"/>
                  <a:pt x="5337320" y="381000"/>
                  <a:pt x="53022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48" name="Shape 45"/>
          <p:cNvSpPr/>
          <p:nvPr/>
        </p:nvSpPr>
        <p:spPr>
          <a:xfrm>
            <a:off x="6469063" y="214997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49" name="Text 46"/>
          <p:cNvSpPr/>
          <p:nvPr/>
        </p:nvSpPr>
        <p:spPr>
          <a:xfrm>
            <a:off x="6707188" y="2118226"/>
            <a:ext cx="2349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多维度筛选（价格、品牌、分类、库存）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357938" y="2467476"/>
            <a:ext cx="5365750" cy="381000"/>
          </a:xfrm>
          <a:custGeom>
            <a:avLst/>
            <a:gdLst/>
            <a:ahLst/>
            <a:cxnLst/>
            <a:rect l="l" t="t" r="r" b="b"/>
            <a:pathLst>
              <a:path w="5365750" h="38100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317499"/>
                </a:lnTo>
                <a:cubicBezTo>
                  <a:pt x="5365750" y="352570"/>
                  <a:pt x="5337320" y="381000"/>
                  <a:pt x="53022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51" name="Shape 48"/>
          <p:cNvSpPr/>
          <p:nvPr/>
        </p:nvSpPr>
        <p:spPr>
          <a:xfrm>
            <a:off x="6469063" y="259447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52" name="Text 49"/>
          <p:cNvSpPr/>
          <p:nvPr/>
        </p:nvSpPr>
        <p:spPr>
          <a:xfrm>
            <a:off x="6707188" y="2562726"/>
            <a:ext cx="120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全文搜索与高亮显示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357938" y="2911976"/>
            <a:ext cx="5365750" cy="381000"/>
          </a:xfrm>
          <a:custGeom>
            <a:avLst/>
            <a:gdLst/>
            <a:ahLst/>
            <a:cxnLst/>
            <a:rect l="l" t="t" r="r" b="b"/>
            <a:pathLst>
              <a:path w="5365750" h="38100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317499"/>
                </a:lnTo>
                <a:cubicBezTo>
                  <a:pt x="5365750" y="352570"/>
                  <a:pt x="5337320" y="381000"/>
                  <a:pt x="53022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54" name="Shape 51"/>
          <p:cNvSpPr/>
          <p:nvPr/>
        </p:nvSpPr>
        <p:spPr>
          <a:xfrm>
            <a:off x="6469063" y="39350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55" name="Text 52"/>
          <p:cNvSpPr/>
          <p:nvPr/>
        </p:nvSpPr>
        <p:spPr>
          <a:xfrm>
            <a:off x="6707188" y="3007226"/>
            <a:ext cx="133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智能推荐与相关性排序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357938" y="3356476"/>
            <a:ext cx="5365750" cy="381000"/>
          </a:xfrm>
          <a:custGeom>
            <a:avLst/>
            <a:gdLst/>
            <a:ahLst/>
            <a:cxnLst/>
            <a:rect l="l" t="t" r="r" b="b"/>
            <a:pathLst>
              <a:path w="5365750" h="38100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317499"/>
                </a:lnTo>
                <a:cubicBezTo>
                  <a:pt x="5365750" y="352570"/>
                  <a:pt x="5337320" y="381000"/>
                  <a:pt x="53022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57" name="Shape 54"/>
          <p:cNvSpPr/>
          <p:nvPr/>
        </p:nvSpPr>
        <p:spPr>
          <a:xfrm>
            <a:off x="6469063" y="348347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58" name="Text 55"/>
          <p:cNvSpPr/>
          <p:nvPr/>
        </p:nvSpPr>
        <p:spPr>
          <a:xfrm>
            <a:off x="6707188" y="3451726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聚合分析（品牌分布、价格区间）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6357938" y="3800976"/>
            <a:ext cx="5365750" cy="381000"/>
          </a:xfrm>
          <a:custGeom>
            <a:avLst/>
            <a:gdLst/>
            <a:ahLst/>
            <a:cxnLst/>
            <a:rect l="l" t="t" r="r" b="b"/>
            <a:pathLst>
              <a:path w="5365750" h="38100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317499"/>
                </a:lnTo>
                <a:cubicBezTo>
                  <a:pt x="5365750" y="352570"/>
                  <a:pt x="5337320" y="381000"/>
                  <a:pt x="53022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7"/>
          <p:cNvSpPr/>
          <p:nvPr/>
        </p:nvSpPr>
        <p:spPr>
          <a:xfrm>
            <a:off x="6469063" y="303300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61" name="Text 58"/>
          <p:cNvSpPr/>
          <p:nvPr/>
        </p:nvSpPr>
        <p:spPr>
          <a:xfrm>
            <a:off x="6707188" y="3896226"/>
            <a:ext cx="120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搜索建议与自动补全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70296" y="481385"/>
            <a:ext cx="592474" cy="37030"/>
          </a:xfrm>
          <a:custGeom>
            <a:avLst/>
            <a:gdLst/>
            <a:ahLst/>
            <a:cxnLst/>
            <a:rect l="l" t="t" r="r" b="b"/>
            <a:pathLst>
              <a:path w="592474" h="37030">
                <a:moveTo>
                  <a:pt x="0" y="0"/>
                </a:moveTo>
                <a:lnTo>
                  <a:pt x="592474" y="0"/>
                </a:lnTo>
                <a:lnTo>
                  <a:pt x="592474" y="37030"/>
                </a:lnTo>
                <a:lnTo>
                  <a:pt x="0" y="3703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4" name="Text 1"/>
          <p:cNvSpPr/>
          <p:nvPr/>
        </p:nvSpPr>
        <p:spPr>
          <a:xfrm>
            <a:off x="1110888" y="370296"/>
            <a:ext cx="2693904" cy="259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kern="0" spc="66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03-3 · TECHNICAL HIGHLIGHT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0296" y="814651"/>
            <a:ext cx="5785877" cy="4165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2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可靠的分布式事务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5841" y="1416382"/>
            <a:ext cx="5600729" cy="2295836"/>
          </a:xfrm>
          <a:custGeom>
            <a:avLst/>
            <a:gdLst/>
            <a:ahLst/>
            <a:cxnLst/>
            <a:rect l="l" t="t" r="r" b="b"/>
            <a:pathLst>
              <a:path w="5600729" h="2295836">
                <a:moveTo>
                  <a:pt x="37030" y="0"/>
                </a:moveTo>
                <a:lnTo>
                  <a:pt x="5489633" y="0"/>
                </a:lnTo>
                <a:cubicBezTo>
                  <a:pt x="5550990" y="0"/>
                  <a:pt x="5600729" y="49739"/>
                  <a:pt x="5600729" y="111096"/>
                </a:cubicBezTo>
                <a:lnTo>
                  <a:pt x="5600729" y="2184740"/>
                </a:lnTo>
                <a:cubicBezTo>
                  <a:pt x="5600729" y="2246097"/>
                  <a:pt x="5550990" y="2295836"/>
                  <a:pt x="5489633" y="2295836"/>
                </a:cubicBezTo>
                <a:lnTo>
                  <a:pt x="37030" y="2295836"/>
                </a:lnTo>
                <a:cubicBezTo>
                  <a:pt x="16579" y="2295836"/>
                  <a:pt x="0" y="2279257"/>
                  <a:pt x="0" y="2258806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8" name="Shape 5"/>
          <p:cNvSpPr/>
          <p:nvPr/>
        </p:nvSpPr>
        <p:spPr>
          <a:xfrm>
            <a:off x="425841" y="1416382"/>
            <a:ext cx="37030" cy="2295836"/>
          </a:xfrm>
          <a:custGeom>
            <a:avLst/>
            <a:gdLst/>
            <a:ahLst/>
            <a:cxnLst/>
            <a:rect l="l" t="t" r="r" b="b"/>
            <a:pathLst>
              <a:path w="37030" h="2295836">
                <a:moveTo>
                  <a:pt x="37030" y="0"/>
                </a:moveTo>
                <a:lnTo>
                  <a:pt x="37030" y="0"/>
                </a:lnTo>
                <a:lnTo>
                  <a:pt x="37030" y="2295836"/>
                </a:lnTo>
                <a:lnTo>
                  <a:pt x="37030" y="2295836"/>
                </a:lnTo>
                <a:cubicBezTo>
                  <a:pt x="16579" y="2295836"/>
                  <a:pt x="0" y="2279257"/>
                  <a:pt x="0" y="2258806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9" name="Text 6"/>
          <p:cNvSpPr/>
          <p:nvPr/>
        </p:nvSpPr>
        <p:spPr>
          <a:xfrm>
            <a:off x="629504" y="1684847"/>
            <a:ext cx="5323007" cy="2962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Seata AT模式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9504" y="2092060"/>
            <a:ext cx="5285977" cy="2406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用于"创建订单-扣库存-用优惠券"核心链路，自动管理事务，对业务代码无侵入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9504" y="2443841"/>
            <a:ext cx="5211918" cy="999800"/>
          </a:xfrm>
          <a:custGeom>
            <a:avLst/>
            <a:gdLst/>
            <a:ahLst/>
            <a:cxnLst/>
            <a:rect l="l" t="t" r="r" b="b"/>
            <a:pathLst>
              <a:path w="5211918" h="999800">
                <a:moveTo>
                  <a:pt x="74055" y="0"/>
                </a:moveTo>
                <a:lnTo>
                  <a:pt x="5137863" y="0"/>
                </a:lnTo>
                <a:cubicBezTo>
                  <a:pt x="5178762" y="0"/>
                  <a:pt x="5211918" y="33156"/>
                  <a:pt x="5211918" y="74055"/>
                </a:cubicBezTo>
                <a:lnTo>
                  <a:pt x="5211918" y="925744"/>
                </a:lnTo>
                <a:cubicBezTo>
                  <a:pt x="5211918" y="966644"/>
                  <a:pt x="5178762" y="999800"/>
                  <a:pt x="5137863" y="999800"/>
                </a:cubicBezTo>
                <a:lnTo>
                  <a:pt x="74055" y="999800"/>
                </a:lnTo>
                <a:cubicBezTo>
                  <a:pt x="33156" y="999800"/>
                  <a:pt x="0" y="966644"/>
                  <a:pt x="0" y="925744"/>
                </a:cubicBezTo>
                <a:lnTo>
                  <a:pt x="0" y="74055"/>
                </a:lnTo>
                <a:cubicBezTo>
                  <a:pt x="0" y="33183"/>
                  <a:pt x="33183" y="0"/>
                  <a:pt x="74055" y="0"/>
                </a:cubicBezTo>
                <a:close/>
              </a:path>
            </a:pathLst>
          </a:custGeom>
          <a:solidFill>
            <a:srgbClr val="4FD1C5">
              <a:alpha val="5098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740593" y="2554930"/>
            <a:ext cx="5063800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0593" y="2851167"/>
            <a:ext cx="5063800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下单流程：订单服务 + 库存服务 + 优惠券服务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40593" y="3110374"/>
            <a:ext cx="5063800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支付流程：支付服务 + 订单状态更新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19706" y="3926504"/>
            <a:ext cx="5600729" cy="2295836"/>
          </a:xfrm>
          <a:custGeom>
            <a:avLst/>
            <a:gdLst/>
            <a:ahLst/>
            <a:cxnLst/>
            <a:rect l="l" t="t" r="r" b="b"/>
            <a:pathLst>
              <a:path w="5600729" h="2295836">
                <a:moveTo>
                  <a:pt x="37030" y="0"/>
                </a:moveTo>
                <a:lnTo>
                  <a:pt x="5489633" y="0"/>
                </a:lnTo>
                <a:cubicBezTo>
                  <a:pt x="5550990" y="0"/>
                  <a:pt x="5600729" y="49739"/>
                  <a:pt x="5600729" y="111096"/>
                </a:cubicBezTo>
                <a:lnTo>
                  <a:pt x="5600729" y="2184740"/>
                </a:lnTo>
                <a:cubicBezTo>
                  <a:pt x="5600729" y="2246097"/>
                  <a:pt x="5550990" y="2295836"/>
                  <a:pt x="5489633" y="2295836"/>
                </a:cubicBezTo>
                <a:lnTo>
                  <a:pt x="37030" y="2295836"/>
                </a:lnTo>
                <a:cubicBezTo>
                  <a:pt x="16579" y="2295836"/>
                  <a:pt x="0" y="2279257"/>
                  <a:pt x="0" y="2258806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16" name="Shape 13"/>
          <p:cNvSpPr/>
          <p:nvPr/>
        </p:nvSpPr>
        <p:spPr>
          <a:xfrm>
            <a:off x="419706" y="3926504"/>
            <a:ext cx="37030" cy="2295836"/>
          </a:xfrm>
          <a:custGeom>
            <a:avLst/>
            <a:gdLst/>
            <a:ahLst/>
            <a:cxnLst/>
            <a:rect l="l" t="t" r="r" b="b"/>
            <a:pathLst>
              <a:path w="37030" h="2295836">
                <a:moveTo>
                  <a:pt x="37030" y="0"/>
                </a:moveTo>
                <a:lnTo>
                  <a:pt x="37030" y="0"/>
                </a:lnTo>
                <a:lnTo>
                  <a:pt x="37030" y="2295836"/>
                </a:lnTo>
                <a:lnTo>
                  <a:pt x="37030" y="2295836"/>
                </a:lnTo>
                <a:cubicBezTo>
                  <a:pt x="16579" y="2295836"/>
                  <a:pt x="0" y="2279257"/>
                  <a:pt x="0" y="2258806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17" name="Text 14"/>
          <p:cNvSpPr/>
          <p:nvPr/>
        </p:nvSpPr>
        <p:spPr>
          <a:xfrm>
            <a:off x="364162" y="3926504"/>
            <a:ext cx="5656273" cy="2295836"/>
          </a:xfrm>
          <a:prstGeom prst="rect">
            <a:avLst/>
          </a:prstGeom>
          <a:noFill/>
        </p:spPr>
        <p:txBody>
          <a:bodyPr wrap="square" lIns="185148" tIns="185148" rIns="185148" bIns="185148" rtlCol="0" anchor="ctr"/>
          <a:lstStyle/>
          <a:p>
            <a:pPr algn="ctr">
              <a:lnSpc>
                <a:spcPct val="130000"/>
              </a:lnSpc>
            </a:pPr>
            <a:r>
              <a:rPr lang="en-US" sz="1750" b="1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Seata TCC模式</a:t>
            </a: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用于"积分兑换"等复杂业务，手动实现Try-Confirm-Cancel逻辑，灵活控制事务边界 </a:t>
            </a:r>
            <a:r>
              <a:rPr lang="en-US" sz="1165" dirty="0">
                <a:solidFill>
                  <a:srgbClr val="E2E8F0"/>
                </a:solidFill>
                <a:highlight>
                  <a:srgbClr val="F6AD55">
                    <a:alpha val="5000"/>
                  </a:srgbClr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适用场景 · 积分兑换：需要自定义回滚逻辑 · 复杂业务：跨库跨服务的复杂操作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87068" y="1416383"/>
            <a:ext cx="5619244" cy="2295836"/>
          </a:xfrm>
          <a:custGeom>
            <a:avLst/>
            <a:gdLst/>
            <a:ahLst/>
            <a:cxnLst/>
            <a:rect l="l" t="t" r="r" b="b"/>
            <a:pathLst>
              <a:path w="5619244" h="2434697">
                <a:moveTo>
                  <a:pt x="111095" y="0"/>
                </a:moveTo>
                <a:lnTo>
                  <a:pt x="5508149" y="0"/>
                </a:lnTo>
                <a:cubicBezTo>
                  <a:pt x="5569505" y="0"/>
                  <a:pt x="5619244" y="49739"/>
                  <a:pt x="5619244" y="111095"/>
                </a:cubicBezTo>
                <a:lnTo>
                  <a:pt x="5619244" y="2323602"/>
                </a:lnTo>
                <a:cubicBezTo>
                  <a:pt x="5619244" y="2384958"/>
                  <a:pt x="5569505" y="2434697"/>
                  <a:pt x="5508149" y="2434697"/>
                </a:cubicBezTo>
                <a:lnTo>
                  <a:pt x="111095" y="2434697"/>
                </a:lnTo>
                <a:cubicBezTo>
                  <a:pt x="49739" y="2434697"/>
                  <a:pt x="0" y="2384958"/>
                  <a:pt x="0" y="2323602"/>
                </a:cubicBezTo>
                <a:lnTo>
                  <a:pt x="0" y="111095"/>
                </a:lnTo>
                <a:cubicBezTo>
                  <a:pt x="0" y="49780"/>
                  <a:pt x="49780" y="0"/>
                  <a:pt x="111095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25" name="Text 22"/>
          <p:cNvSpPr/>
          <p:nvPr/>
        </p:nvSpPr>
        <p:spPr>
          <a:xfrm>
            <a:off x="6372216" y="1601530"/>
            <a:ext cx="5360036" cy="2962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分布式事务执行流程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72216" y="2008742"/>
            <a:ext cx="296237" cy="296237"/>
          </a:xfrm>
          <a:custGeom>
            <a:avLst/>
            <a:gdLst/>
            <a:ahLst/>
            <a:cxnLst/>
            <a:rect l="l" t="t" r="r" b="b"/>
            <a:pathLst>
              <a:path w="296237" h="296237">
                <a:moveTo>
                  <a:pt x="74059" y="0"/>
                </a:moveTo>
                <a:lnTo>
                  <a:pt x="222178" y="0"/>
                </a:lnTo>
                <a:cubicBezTo>
                  <a:pt x="263052" y="0"/>
                  <a:pt x="296237" y="33185"/>
                  <a:pt x="296237" y="74059"/>
                </a:cubicBezTo>
                <a:lnTo>
                  <a:pt x="296237" y="222178"/>
                </a:lnTo>
                <a:cubicBezTo>
                  <a:pt x="296237" y="263079"/>
                  <a:pt x="263079" y="296237"/>
                  <a:pt x="222178" y="296237"/>
                </a:cubicBezTo>
                <a:lnTo>
                  <a:pt x="74059" y="296237"/>
                </a:lnTo>
                <a:cubicBezTo>
                  <a:pt x="33185" y="296237"/>
                  <a:pt x="0" y="263052"/>
                  <a:pt x="0" y="222178"/>
                </a:cubicBezTo>
                <a:lnTo>
                  <a:pt x="0" y="74059"/>
                </a:lnTo>
                <a:cubicBezTo>
                  <a:pt x="0" y="33157"/>
                  <a:pt x="33157" y="0"/>
                  <a:pt x="74059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</p:spPr>
      </p:sp>
      <p:sp>
        <p:nvSpPr>
          <p:cNvPr id="27" name="Text 24"/>
          <p:cNvSpPr/>
          <p:nvPr/>
        </p:nvSpPr>
        <p:spPr>
          <a:xfrm>
            <a:off x="6491173" y="2045772"/>
            <a:ext cx="129604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779541" y="2045772"/>
            <a:ext cx="1962569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TM发起全局事务，注册到TC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72216" y="2379039"/>
            <a:ext cx="296237" cy="296237"/>
          </a:xfrm>
          <a:custGeom>
            <a:avLst/>
            <a:gdLst/>
            <a:ahLst/>
            <a:cxnLst/>
            <a:rect l="l" t="t" r="r" b="b"/>
            <a:pathLst>
              <a:path w="296237" h="296237">
                <a:moveTo>
                  <a:pt x="74059" y="0"/>
                </a:moveTo>
                <a:lnTo>
                  <a:pt x="222178" y="0"/>
                </a:lnTo>
                <a:cubicBezTo>
                  <a:pt x="263052" y="0"/>
                  <a:pt x="296237" y="33185"/>
                  <a:pt x="296237" y="74059"/>
                </a:cubicBezTo>
                <a:lnTo>
                  <a:pt x="296237" y="222178"/>
                </a:lnTo>
                <a:cubicBezTo>
                  <a:pt x="296237" y="263079"/>
                  <a:pt x="263079" y="296237"/>
                  <a:pt x="222178" y="296237"/>
                </a:cubicBezTo>
                <a:lnTo>
                  <a:pt x="74059" y="296237"/>
                </a:lnTo>
                <a:cubicBezTo>
                  <a:pt x="33185" y="296237"/>
                  <a:pt x="0" y="263052"/>
                  <a:pt x="0" y="222178"/>
                </a:cubicBezTo>
                <a:lnTo>
                  <a:pt x="0" y="74059"/>
                </a:lnTo>
                <a:cubicBezTo>
                  <a:pt x="0" y="33157"/>
                  <a:pt x="33157" y="0"/>
                  <a:pt x="74059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</p:spPr>
      </p:sp>
      <p:sp>
        <p:nvSpPr>
          <p:cNvPr id="30" name="Text 27"/>
          <p:cNvSpPr/>
          <p:nvPr/>
        </p:nvSpPr>
        <p:spPr>
          <a:xfrm>
            <a:off x="6478676" y="2416068"/>
            <a:ext cx="157376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779541" y="2416068"/>
            <a:ext cx="2221777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RM执行本地事务，上报执行结果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72216" y="2749335"/>
            <a:ext cx="296237" cy="296237"/>
          </a:xfrm>
          <a:custGeom>
            <a:avLst/>
            <a:gdLst/>
            <a:ahLst/>
            <a:cxnLst/>
            <a:rect l="l" t="t" r="r" b="b"/>
            <a:pathLst>
              <a:path w="296237" h="296237">
                <a:moveTo>
                  <a:pt x="74059" y="0"/>
                </a:moveTo>
                <a:lnTo>
                  <a:pt x="222178" y="0"/>
                </a:lnTo>
                <a:cubicBezTo>
                  <a:pt x="263052" y="0"/>
                  <a:pt x="296237" y="33185"/>
                  <a:pt x="296237" y="74059"/>
                </a:cubicBezTo>
                <a:lnTo>
                  <a:pt x="296237" y="222178"/>
                </a:lnTo>
                <a:cubicBezTo>
                  <a:pt x="296237" y="263079"/>
                  <a:pt x="263079" y="296237"/>
                  <a:pt x="222178" y="296237"/>
                </a:cubicBezTo>
                <a:lnTo>
                  <a:pt x="74059" y="296237"/>
                </a:lnTo>
                <a:cubicBezTo>
                  <a:pt x="33185" y="296237"/>
                  <a:pt x="0" y="263052"/>
                  <a:pt x="0" y="222178"/>
                </a:cubicBezTo>
                <a:lnTo>
                  <a:pt x="0" y="74059"/>
                </a:lnTo>
                <a:cubicBezTo>
                  <a:pt x="0" y="33157"/>
                  <a:pt x="33157" y="0"/>
                  <a:pt x="74059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</p:spPr>
      </p:sp>
      <p:sp>
        <p:nvSpPr>
          <p:cNvPr id="33" name="Text 30"/>
          <p:cNvSpPr/>
          <p:nvPr/>
        </p:nvSpPr>
        <p:spPr>
          <a:xfrm>
            <a:off x="6476708" y="2786364"/>
            <a:ext cx="157376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79541" y="2786364"/>
            <a:ext cx="1925540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TM决议提交或回滚全局事务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72216" y="3119631"/>
            <a:ext cx="296237" cy="296237"/>
          </a:xfrm>
          <a:custGeom>
            <a:avLst/>
            <a:gdLst/>
            <a:ahLst/>
            <a:cxnLst/>
            <a:rect l="l" t="t" r="r" b="b"/>
            <a:pathLst>
              <a:path w="296237" h="296237">
                <a:moveTo>
                  <a:pt x="74059" y="0"/>
                </a:moveTo>
                <a:lnTo>
                  <a:pt x="222178" y="0"/>
                </a:lnTo>
                <a:cubicBezTo>
                  <a:pt x="263052" y="0"/>
                  <a:pt x="296237" y="33185"/>
                  <a:pt x="296237" y="74059"/>
                </a:cubicBezTo>
                <a:lnTo>
                  <a:pt x="296237" y="222178"/>
                </a:lnTo>
                <a:cubicBezTo>
                  <a:pt x="296237" y="263079"/>
                  <a:pt x="263079" y="296237"/>
                  <a:pt x="222178" y="296237"/>
                </a:cubicBezTo>
                <a:lnTo>
                  <a:pt x="74059" y="296237"/>
                </a:lnTo>
                <a:cubicBezTo>
                  <a:pt x="33185" y="296237"/>
                  <a:pt x="0" y="263052"/>
                  <a:pt x="0" y="222178"/>
                </a:cubicBezTo>
                <a:lnTo>
                  <a:pt x="0" y="74059"/>
                </a:lnTo>
                <a:cubicBezTo>
                  <a:pt x="0" y="33157"/>
                  <a:pt x="33157" y="0"/>
                  <a:pt x="74059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</p:spPr>
      </p:sp>
      <p:sp>
        <p:nvSpPr>
          <p:cNvPr id="36" name="Text 33"/>
          <p:cNvSpPr/>
          <p:nvPr/>
        </p:nvSpPr>
        <p:spPr>
          <a:xfrm>
            <a:off x="6476824" y="3156660"/>
            <a:ext cx="157376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779541" y="3156660"/>
            <a:ext cx="2119945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TC通知所有RM执行提交或回滚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28183" y="426638"/>
            <a:ext cx="525093" cy="32818"/>
          </a:xfrm>
          <a:custGeom>
            <a:avLst/>
            <a:gdLst/>
            <a:ahLst/>
            <a:cxnLst/>
            <a:rect l="l" t="t" r="r" b="b"/>
            <a:pathLst>
              <a:path w="525093" h="32818">
                <a:moveTo>
                  <a:pt x="0" y="0"/>
                </a:moveTo>
                <a:lnTo>
                  <a:pt x="525093" y="0"/>
                </a:lnTo>
                <a:lnTo>
                  <a:pt x="525093" y="32818"/>
                </a:lnTo>
                <a:lnTo>
                  <a:pt x="0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</p:spPr>
      </p:sp>
      <p:sp>
        <p:nvSpPr>
          <p:cNvPr id="4" name="Text 1"/>
          <p:cNvSpPr/>
          <p:nvPr/>
        </p:nvSpPr>
        <p:spPr>
          <a:xfrm>
            <a:off x="984549" y="328183"/>
            <a:ext cx="2379327" cy="22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58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03-4 · TECHNICAL HIGHLIGHT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28183" y="722003"/>
            <a:ext cx="5817044" cy="3692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325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高可用微服务治理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28183" y="1189664"/>
            <a:ext cx="5751408" cy="22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Cloud Alibaba 技术栈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4592" y="1650755"/>
            <a:ext cx="5652953" cy="2415646"/>
          </a:xfrm>
          <a:custGeom>
            <a:avLst/>
            <a:gdLst/>
            <a:ahLst/>
            <a:cxnLst/>
            <a:rect l="l" t="t" r="r" b="b"/>
            <a:pathLst>
              <a:path w="5652953" h="2978261">
                <a:moveTo>
                  <a:pt x="32818" y="0"/>
                </a:moveTo>
                <a:lnTo>
                  <a:pt x="5554492" y="0"/>
                </a:lnTo>
                <a:cubicBezTo>
                  <a:pt x="5608870" y="0"/>
                  <a:pt x="5652953" y="44083"/>
                  <a:pt x="5652953" y="98461"/>
                </a:cubicBezTo>
                <a:lnTo>
                  <a:pt x="5652953" y="2879800"/>
                </a:lnTo>
                <a:cubicBezTo>
                  <a:pt x="5652953" y="2934178"/>
                  <a:pt x="5608870" y="2978261"/>
                  <a:pt x="5554492" y="2978261"/>
                </a:cubicBezTo>
                <a:lnTo>
                  <a:pt x="32818" y="2978261"/>
                </a:lnTo>
                <a:cubicBezTo>
                  <a:pt x="14693" y="2978261"/>
                  <a:pt x="0" y="2963568"/>
                  <a:pt x="0" y="2945443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8" name="Shape 5"/>
          <p:cNvSpPr/>
          <p:nvPr/>
        </p:nvSpPr>
        <p:spPr>
          <a:xfrm flipH="1">
            <a:off x="377409" y="1650755"/>
            <a:ext cx="45719" cy="2415646"/>
          </a:xfrm>
          <a:custGeom>
            <a:avLst/>
            <a:gdLst/>
            <a:ahLst/>
            <a:cxnLst/>
            <a:rect l="l" t="t" r="r" b="b"/>
            <a:pathLst>
              <a:path w="32818" h="2978261">
                <a:moveTo>
                  <a:pt x="32818" y="0"/>
                </a:moveTo>
                <a:lnTo>
                  <a:pt x="32818" y="0"/>
                </a:lnTo>
                <a:lnTo>
                  <a:pt x="32818" y="2978261"/>
                </a:lnTo>
                <a:lnTo>
                  <a:pt x="32818" y="2978261"/>
                </a:lnTo>
                <a:cubicBezTo>
                  <a:pt x="14693" y="2978261"/>
                  <a:pt x="0" y="2963568"/>
                  <a:pt x="0" y="2945443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9" name="Text 6"/>
          <p:cNvSpPr/>
          <p:nvPr/>
        </p:nvSpPr>
        <p:spPr>
          <a:xfrm>
            <a:off x="525093" y="1789018"/>
            <a:ext cx="5406816" cy="2625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服务注册与发现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5093" y="2149915"/>
            <a:ext cx="459456" cy="459456"/>
          </a:xfrm>
          <a:custGeom>
            <a:avLst/>
            <a:gdLst/>
            <a:ahLst/>
            <a:cxnLst/>
            <a:rect l="l" t="t" r="r" b="b"/>
            <a:pathLst>
              <a:path w="459456" h="459456">
                <a:moveTo>
                  <a:pt x="98457" y="0"/>
                </a:moveTo>
                <a:lnTo>
                  <a:pt x="360999" y="0"/>
                </a:lnTo>
                <a:cubicBezTo>
                  <a:pt x="415339" y="0"/>
                  <a:pt x="459456" y="44117"/>
                  <a:pt x="459456" y="98457"/>
                </a:cubicBezTo>
                <a:lnTo>
                  <a:pt x="459456" y="360999"/>
                </a:lnTo>
                <a:cubicBezTo>
                  <a:pt x="459456" y="415376"/>
                  <a:pt x="415376" y="459456"/>
                  <a:pt x="360999" y="459456"/>
                </a:cubicBezTo>
                <a:lnTo>
                  <a:pt x="98457" y="459456"/>
                </a:lnTo>
                <a:cubicBezTo>
                  <a:pt x="44117" y="459456"/>
                  <a:pt x="0" y="415339"/>
                  <a:pt x="0" y="360999"/>
                </a:cubicBezTo>
                <a:lnTo>
                  <a:pt x="0" y="98457"/>
                </a:lnTo>
                <a:cubicBezTo>
                  <a:pt x="0" y="44117"/>
                  <a:pt x="44117" y="0"/>
                  <a:pt x="9845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631752" y="2281189"/>
            <a:ext cx="246137" cy="196910"/>
          </a:xfrm>
          <a:custGeom>
            <a:avLst/>
            <a:gdLst/>
            <a:ahLst/>
            <a:cxnLst/>
            <a:rect l="l" t="t" r="r" b="b"/>
            <a:pathLst>
              <a:path w="246137" h="196910">
                <a:moveTo>
                  <a:pt x="221524" y="18460"/>
                </a:moveTo>
                <a:cubicBezTo>
                  <a:pt x="221524" y="14191"/>
                  <a:pt x="219331" y="10230"/>
                  <a:pt x="215678" y="7999"/>
                </a:cubicBezTo>
                <a:cubicBezTo>
                  <a:pt x="212024" y="5769"/>
                  <a:pt x="207524" y="5538"/>
                  <a:pt x="203717" y="7461"/>
                </a:cubicBezTo>
                <a:lnTo>
                  <a:pt x="159028" y="29806"/>
                </a:lnTo>
                <a:lnTo>
                  <a:pt x="90032" y="6769"/>
                </a:lnTo>
                <a:cubicBezTo>
                  <a:pt x="86917" y="5730"/>
                  <a:pt x="83571" y="5961"/>
                  <a:pt x="80648" y="7423"/>
                </a:cubicBezTo>
                <a:lnTo>
                  <a:pt x="31421" y="32036"/>
                </a:lnTo>
                <a:cubicBezTo>
                  <a:pt x="27229" y="34152"/>
                  <a:pt x="24614" y="38420"/>
                  <a:pt x="24614" y="43074"/>
                </a:cubicBezTo>
                <a:lnTo>
                  <a:pt x="24614" y="178450"/>
                </a:lnTo>
                <a:cubicBezTo>
                  <a:pt x="24614" y="182718"/>
                  <a:pt x="26806" y="186680"/>
                  <a:pt x="30459" y="188910"/>
                </a:cubicBezTo>
                <a:cubicBezTo>
                  <a:pt x="34113" y="191141"/>
                  <a:pt x="38613" y="191372"/>
                  <a:pt x="42420" y="189449"/>
                </a:cubicBezTo>
                <a:lnTo>
                  <a:pt x="87071" y="167104"/>
                </a:lnTo>
                <a:lnTo>
                  <a:pt x="153720" y="189333"/>
                </a:lnTo>
                <a:cubicBezTo>
                  <a:pt x="152067" y="186872"/>
                  <a:pt x="150451" y="184295"/>
                  <a:pt x="148875" y="181680"/>
                </a:cubicBezTo>
                <a:cubicBezTo>
                  <a:pt x="144644" y="174642"/>
                  <a:pt x="140452" y="166566"/>
                  <a:pt x="137337" y="157912"/>
                </a:cubicBezTo>
                <a:lnTo>
                  <a:pt x="98416" y="144952"/>
                </a:lnTo>
                <a:lnTo>
                  <a:pt x="98416" y="35536"/>
                </a:lnTo>
                <a:lnTo>
                  <a:pt x="147644" y="51958"/>
                </a:lnTo>
                <a:lnTo>
                  <a:pt x="147644" y="90148"/>
                </a:lnTo>
                <a:cubicBezTo>
                  <a:pt x="159566" y="76379"/>
                  <a:pt x="177257" y="67688"/>
                  <a:pt x="196871" y="67688"/>
                </a:cubicBezTo>
                <a:cubicBezTo>
                  <a:pt x="205563" y="67688"/>
                  <a:pt x="213870" y="69380"/>
                  <a:pt x="221485" y="72495"/>
                </a:cubicBezTo>
                <a:lnTo>
                  <a:pt x="221524" y="18460"/>
                </a:lnTo>
                <a:close/>
                <a:moveTo>
                  <a:pt x="196910" y="86148"/>
                </a:moveTo>
                <a:cubicBezTo>
                  <a:pt x="171412" y="86148"/>
                  <a:pt x="150759" y="106454"/>
                  <a:pt x="150759" y="131491"/>
                </a:cubicBezTo>
                <a:cubicBezTo>
                  <a:pt x="150759" y="157989"/>
                  <a:pt x="175411" y="189333"/>
                  <a:pt x="188680" y="204294"/>
                </a:cubicBezTo>
                <a:cubicBezTo>
                  <a:pt x="193141" y="209294"/>
                  <a:pt x="200717" y="209294"/>
                  <a:pt x="205178" y="204294"/>
                </a:cubicBezTo>
                <a:cubicBezTo>
                  <a:pt x="218447" y="189333"/>
                  <a:pt x="243099" y="157989"/>
                  <a:pt x="243099" y="131491"/>
                </a:cubicBezTo>
                <a:cubicBezTo>
                  <a:pt x="243099" y="106454"/>
                  <a:pt x="222447" y="86148"/>
                  <a:pt x="196948" y="86148"/>
                </a:cubicBezTo>
                <a:close/>
                <a:moveTo>
                  <a:pt x="181526" y="132299"/>
                </a:moveTo>
                <a:cubicBezTo>
                  <a:pt x="181526" y="123808"/>
                  <a:pt x="188419" y="116915"/>
                  <a:pt x="196910" y="116915"/>
                </a:cubicBezTo>
                <a:cubicBezTo>
                  <a:pt x="205400" y="116915"/>
                  <a:pt x="212293" y="123808"/>
                  <a:pt x="212293" y="132299"/>
                </a:cubicBezTo>
                <a:cubicBezTo>
                  <a:pt x="212293" y="140789"/>
                  <a:pt x="205400" y="147682"/>
                  <a:pt x="196910" y="147682"/>
                </a:cubicBezTo>
                <a:cubicBezTo>
                  <a:pt x="188419" y="147682"/>
                  <a:pt x="181526" y="140789"/>
                  <a:pt x="181526" y="132299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12" name="Text 9"/>
          <p:cNvSpPr/>
          <p:nvPr/>
        </p:nvSpPr>
        <p:spPr>
          <a:xfrm>
            <a:off x="1115822" y="2166325"/>
            <a:ext cx="869685" cy="22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Nacos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115822" y="2396053"/>
            <a:ext cx="1698498" cy="196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服务注册中心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25093" y="2707827"/>
            <a:ext cx="5373997" cy="196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服务健康检查与自动剔除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525093" y="2937555"/>
            <a:ext cx="5373997" cy="196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支持权重路由与灰度发布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525093" y="3167283"/>
            <a:ext cx="5373997" cy="196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配置动态刷新（@RefreshScope）</a:t>
            </a:r>
            <a:endParaRPr lang="en-US" sz="3200" dirty="0"/>
          </a:p>
        </p:txBody>
      </p:sp>
      <p:sp>
        <p:nvSpPr>
          <p:cNvPr id="17" name="Shape 14"/>
          <p:cNvSpPr/>
          <p:nvPr/>
        </p:nvSpPr>
        <p:spPr>
          <a:xfrm>
            <a:off x="6278033" y="1650755"/>
            <a:ext cx="5652953" cy="2415647"/>
          </a:xfrm>
          <a:custGeom>
            <a:avLst/>
            <a:gdLst/>
            <a:ahLst/>
            <a:cxnLst/>
            <a:rect l="l" t="t" r="r" b="b"/>
            <a:pathLst>
              <a:path w="5652953" h="2978261">
                <a:moveTo>
                  <a:pt x="32818" y="0"/>
                </a:moveTo>
                <a:lnTo>
                  <a:pt x="5554492" y="0"/>
                </a:lnTo>
                <a:cubicBezTo>
                  <a:pt x="5608870" y="0"/>
                  <a:pt x="5652953" y="44083"/>
                  <a:pt x="5652953" y="98461"/>
                </a:cubicBezTo>
                <a:lnTo>
                  <a:pt x="5652953" y="2879800"/>
                </a:lnTo>
                <a:cubicBezTo>
                  <a:pt x="5652953" y="2934178"/>
                  <a:pt x="5608870" y="2978261"/>
                  <a:pt x="5554492" y="2978261"/>
                </a:cubicBezTo>
                <a:lnTo>
                  <a:pt x="32818" y="2978261"/>
                </a:lnTo>
                <a:cubicBezTo>
                  <a:pt x="14693" y="2978261"/>
                  <a:pt x="0" y="2963568"/>
                  <a:pt x="0" y="2945443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2D3748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Shape 15"/>
          <p:cNvSpPr/>
          <p:nvPr/>
        </p:nvSpPr>
        <p:spPr>
          <a:xfrm>
            <a:off x="6278032" y="1650756"/>
            <a:ext cx="45719" cy="2415646"/>
          </a:xfrm>
          <a:custGeom>
            <a:avLst/>
            <a:gdLst/>
            <a:ahLst/>
            <a:cxnLst/>
            <a:rect l="l" t="t" r="r" b="b"/>
            <a:pathLst>
              <a:path w="32818" h="2978261">
                <a:moveTo>
                  <a:pt x="32818" y="0"/>
                </a:moveTo>
                <a:lnTo>
                  <a:pt x="32818" y="0"/>
                </a:lnTo>
                <a:lnTo>
                  <a:pt x="32818" y="2978261"/>
                </a:lnTo>
                <a:lnTo>
                  <a:pt x="32818" y="2978261"/>
                </a:lnTo>
                <a:cubicBezTo>
                  <a:pt x="14693" y="2978261"/>
                  <a:pt x="0" y="2963568"/>
                  <a:pt x="0" y="2945443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19" name="Text 16"/>
          <p:cNvSpPr/>
          <p:nvPr/>
        </p:nvSpPr>
        <p:spPr>
          <a:xfrm>
            <a:off x="6442124" y="1790160"/>
            <a:ext cx="5406816" cy="2625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服务间调用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58534" y="2175702"/>
            <a:ext cx="459456" cy="459456"/>
          </a:xfrm>
          <a:custGeom>
            <a:avLst/>
            <a:gdLst/>
            <a:ahLst/>
            <a:cxnLst/>
            <a:rect l="l" t="t" r="r" b="b"/>
            <a:pathLst>
              <a:path w="459456" h="459456">
                <a:moveTo>
                  <a:pt x="98457" y="0"/>
                </a:moveTo>
                <a:lnTo>
                  <a:pt x="360999" y="0"/>
                </a:lnTo>
                <a:cubicBezTo>
                  <a:pt x="415339" y="0"/>
                  <a:pt x="459456" y="44117"/>
                  <a:pt x="459456" y="98457"/>
                </a:cubicBezTo>
                <a:lnTo>
                  <a:pt x="459456" y="360999"/>
                </a:lnTo>
                <a:cubicBezTo>
                  <a:pt x="459456" y="415376"/>
                  <a:pt x="415376" y="459456"/>
                  <a:pt x="360999" y="459456"/>
                </a:cubicBezTo>
                <a:lnTo>
                  <a:pt x="98457" y="459456"/>
                </a:lnTo>
                <a:cubicBezTo>
                  <a:pt x="44117" y="459456"/>
                  <a:pt x="0" y="415339"/>
                  <a:pt x="0" y="360999"/>
                </a:cubicBezTo>
                <a:lnTo>
                  <a:pt x="0" y="98457"/>
                </a:lnTo>
                <a:cubicBezTo>
                  <a:pt x="0" y="44117"/>
                  <a:pt x="44117" y="0"/>
                  <a:pt x="98457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6589807" y="2306975"/>
            <a:ext cx="196910" cy="196910"/>
          </a:xfrm>
          <a:custGeom>
            <a:avLst/>
            <a:gdLst/>
            <a:ahLst/>
            <a:cxnLst/>
            <a:rect l="l" t="t" r="r" b="b"/>
            <a:pathLst>
              <a:path w="196910" h="196910">
                <a:moveTo>
                  <a:pt x="193295" y="57919"/>
                </a:moveTo>
                <a:lnTo>
                  <a:pt x="156374" y="94840"/>
                </a:lnTo>
                <a:cubicBezTo>
                  <a:pt x="152836" y="98378"/>
                  <a:pt x="147567" y="99416"/>
                  <a:pt x="142952" y="97493"/>
                </a:cubicBezTo>
                <a:cubicBezTo>
                  <a:pt x="138337" y="95570"/>
                  <a:pt x="135376" y="91109"/>
                  <a:pt x="135376" y="86148"/>
                </a:cubicBezTo>
                <a:lnTo>
                  <a:pt x="135376" y="61534"/>
                </a:lnTo>
                <a:lnTo>
                  <a:pt x="12307" y="61534"/>
                </a:lnTo>
                <a:cubicBezTo>
                  <a:pt x="5500" y="61534"/>
                  <a:pt x="0" y="56035"/>
                  <a:pt x="0" y="49227"/>
                </a:cubicBezTo>
                <a:cubicBezTo>
                  <a:pt x="0" y="42420"/>
                  <a:pt x="5500" y="36921"/>
                  <a:pt x="12307" y="36921"/>
                </a:cubicBezTo>
                <a:lnTo>
                  <a:pt x="135376" y="36921"/>
                </a:lnTo>
                <a:lnTo>
                  <a:pt x="135376" y="12307"/>
                </a:lnTo>
                <a:cubicBezTo>
                  <a:pt x="135376" y="7346"/>
                  <a:pt x="138375" y="2846"/>
                  <a:pt x="142990" y="923"/>
                </a:cubicBezTo>
                <a:cubicBezTo>
                  <a:pt x="147605" y="-1000"/>
                  <a:pt x="152874" y="77"/>
                  <a:pt x="156413" y="3577"/>
                </a:cubicBezTo>
                <a:lnTo>
                  <a:pt x="193333" y="40497"/>
                </a:lnTo>
                <a:cubicBezTo>
                  <a:pt x="198141" y="45305"/>
                  <a:pt x="198141" y="53112"/>
                  <a:pt x="193333" y="57919"/>
                </a:cubicBezTo>
                <a:close/>
                <a:moveTo>
                  <a:pt x="40497" y="193295"/>
                </a:moveTo>
                <a:lnTo>
                  <a:pt x="3577" y="156374"/>
                </a:lnTo>
                <a:cubicBezTo>
                  <a:pt x="-1231" y="151567"/>
                  <a:pt x="-1231" y="143760"/>
                  <a:pt x="3577" y="138952"/>
                </a:cubicBezTo>
                <a:lnTo>
                  <a:pt x="40497" y="102032"/>
                </a:lnTo>
                <a:cubicBezTo>
                  <a:pt x="44035" y="98493"/>
                  <a:pt x="49304" y="97455"/>
                  <a:pt x="53919" y="99378"/>
                </a:cubicBezTo>
                <a:cubicBezTo>
                  <a:pt x="58535" y="101301"/>
                  <a:pt x="61534" y="105801"/>
                  <a:pt x="61534" y="110762"/>
                </a:cubicBezTo>
                <a:lnTo>
                  <a:pt x="61534" y="135376"/>
                </a:lnTo>
                <a:lnTo>
                  <a:pt x="184603" y="135376"/>
                </a:lnTo>
                <a:cubicBezTo>
                  <a:pt x="191410" y="135376"/>
                  <a:pt x="196910" y="140875"/>
                  <a:pt x="196910" y="147682"/>
                </a:cubicBezTo>
                <a:cubicBezTo>
                  <a:pt x="196910" y="154490"/>
                  <a:pt x="191410" y="159989"/>
                  <a:pt x="184603" y="159989"/>
                </a:cubicBezTo>
                <a:lnTo>
                  <a:pt x="61534" y="159989"/>
                </a:lnTo>
                <a:lnTo>
                  <a:pt x="61534" y="184603"/>
                </a:lnTo>
                <a:cubicBezTo>
                  <a:pt x="61534" y="189564"/>
                  <a:pt x="58535" y="194064"/>
                  <a:pt x="53919" y="195987"/>
                </a:cubicBezTo>
                <a:cubicBezTo>
                  <a:pt x="49304" y="197910"/>
                  <a:pt x="44035" y="196833"/>
                  <a:pt x="40497" y="193333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22" name="Text 19"/>
          <p:cNvSpPr/>
          <p:nvPr/>
        </p:nvSpPr>
        <p:spPr>
          <a:xfrm>
            <a:off x="7049262" y="2192111"/>
            <a:ext cx="2694177" cy="2625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Feign + Ribbon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067205" y="2385373"/>
            <a:ext cx="1830577" cy="262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声明式HTTP客户端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458534" y="2733613"/>
            <a:ext cx="5373997" cy="196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负载均衡（轮询、权重、最少连接）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458534" y="2963341"/>
            <a:ext cx="5373997" cy="196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熔断降级（Hystrix/Sentinel）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6458534" y="3193069"/>
            <a:ext cx="5373997" cy="196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请求重试与超时控制</a:t>
            </a:r>
            <a:endParaRPr lang="en-US" sz="3200" dirty="0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98D584D7-822E-B36B-2E0F-26CC47961B63}"/>
              </a:ext>
            </a:extLst>
          </p:cNvPr>
          <p:cNvSpPr/>
          <p:nvPr/>
        </p:nvSpPr>
        <p:spPr>
          <a:xfrm>
            <a:off x="344592" y="4299416"/>
            <a:ext cx="5652953" cy="2415646"/>
          </a:xfrm>
          <a:custGeom>
            <a:avLst/>
            <a:gdLst/>
            <a:ahLst/>
            <a:cxnLst/>
            <a:rect l="l" t="t" r="r" b="b"/>
            <a:pathLst>
              <a:path w="5652953" h="2978261">
                <a:moveTo>
                  <a:pt x="32818" y="0"/>
                </a:moveTo>
                <a:lnTo>
                  <a:pt x="5554492" y="0"/>
                </a:lnTo>
                <a:cubicBezTo>
                  <a:pt x="5608870" y="0"/>
                  <a:pt x="5652953" y="44083"/>
                  <a:pt x="5652953" y="98461"/>
                </a:cubicBezTo>
                <a:lnTo>
                  <a:pt x="5652953" y="2879800"/>
                </a:lnTo>
                <a:cubicBezTo>
                  <a:pt x="5652953" y="2934178"/>
                  <a:pt x="5608870" y="2978261"/>
                  <a:pt x="5554492" y="2978261"/>
                </a:cubicBezTo>
                <a:lnTo>
                  <a:pt x="32818" y="2978261"/>
                </a:lnTo>
                <a:cubicBezTo>
                  <a:pt x="14693" y="2978261"/>
                  <a:pt x="0" y="2963568"/>
                  <a:pt x="0" y="2945443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2D3748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6EF7EA45-2FEA-A86E-3AD4-AAD71DCBC4C1}"/>
              </a:ext>
            </a:extLst>
          </p:cNvPr>
          <p:cNvSpPr/>
          <p:nvPr/>
        </p:nvSpPr>
        <p:spPr>
          <a:xfrm flipH="1">
            <a:off x="377409" y="4299416"/>
            <a:ext cx="45719" cy="2415646"/>
          </a:xfrm>
          <a:custGeom>
            <a:avLst/>
            <a:gdLst/>
            <a:ahLst/>
            <a:cxnLst/>
            <a:rect l="l" t="t" r="r" b="b"/>
            <a:pathLst>
              <a:path w="32818" h="2978261">
                <a:moveTo>
                  <a:pt x="32818" y="0"/>
                </a:moveTo>
                <a:lnTo>
                  <a:pt x="32818" y="0"/>
                </a:lnTo>
                <a:lnTo>
                  <a:pt x="32818" y="2978261"/>
                </a:lnTo>
                <a:lnTo>
                  <a:pt x="32818" y="2978261"/>
                </a:lnTo>
                <a:cubicBezTo>
                  <a:pt x="14693" y="2978261"/>
                  <a:pt x="0" y="2963568"/>
                  <a:pt x="0" y="2945443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CEC24DB0-6F76-6F4D-EE7C-F0B5D03E5D75}"/>
              </a:ext>
            </a:extLst>
          </p:cNvPr>
          <p:cNvSpPr/>
          <p:nvPr/>
        </p:nvSpPr>
        <p:spPr>
          <a:xfrm>
            <a:off x="525093" y="4437679"/>
            <a:ext cx="5406816" cy="2625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服务注册与发现</a:t>
            </a:r>
            <a:endParaRPr lang="en-US" sz="160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DAEDE9D5-763B-3270-AB8E-825F8D77F984}"/>
              </a:ext>
            </a:extLst>
          </p:cNvPr>
          <p:cNvSpPr/>
          <p:nvPr/>
        </p:nvSpPr>
        <p:spPr>
          <a:xfrm>
            <a:off x="525093" y="4798576"/>
            <a:ext cx="459456" cy="459456"/>
          </a:xfrm>
          <a:custGeom>
            <a:avLst/>
            <a:gdLst/>
            <a:ahLst/>
            <a:cxnLst/>
            <a:rect l="l" t="t" r="r" b="b"/>
            <a:pathLst>
              <a:path w="459456" h="459456">
                <a:moveTo>
                  <a:pt x="98457" y="0"/>
                </a:moveTo>
                <a:lnTo>
                  <a:pt x="360999" y="0"/>
                </a:lnTo>
                <a:cubicBezTo>
                  <a:pt x="415339" y="0"/>
                  <a:pt x="459456" y="44117"/>
                  <a:pt x="459456" y="98457"/>
                </a:cubicBezTo>
                <a:lnTo>
                  <a:pt x="459456" y="360999"/>
                </a:lnTo>
                <a:cubicBezTo>
                  <a:pt x="459456" y="415376"/>
                  <a:pt x="415376" y="459456"/>
                  <a:pt x="360999" y="459456"/>
                </a:cubicBezTo>
                <a:lnTo>
                  <a:pt x="98457" y="459456"/>
                </a:lnTo>
                <a:cubicBezTo>
                  <a:pt x="44117" y="459456"/>
                  <a:pt x="0" y="415339"/>
                  <a:pt x="0" y="360999"/>
                </a:cubicBezTo>
                <a:lnTo>
                  <a:pt x="0" y="98457"/>
                </a:lnTo>
                <a:cubicBezTo>
                  <a:pt x="0" y="44117"/>
                  <a:pt x="44117" y="0"/>
                  <a:pt x="9845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</p:spPr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A7774545-C3BF-D21A-AEC1-447F1917599B}"/>
              </a:ext>
            </a:extLst>
          </p:cNvPr>
          <p:cNvSpPr/>
          <p:nvPr/>
        </p:nvSpPr>
        <p:spPr>
          <a:xfrm>
            <a:off x="631752" y="4929850"/>
            <a:ext cx="246137" cy="196910"/>
          </a:xfrm>
          <a:custGeom>
            <a:avLst/>
            <a:gdLst/>
            <a:ahLst/>
            <a:cxnLst/>
            <a:rect l="l" t="t" r="r" b="b"/>
            <a:pathLst>
              <a:path w="246137" h="196910">
                <a:moveTo>
                  <a:pt x="221524" y="18460"/>
                </a:moveTo>
                <a:cubicBezTo>
                  <a:pt x="221524" y="14191"/>
                  <a:pt x="219331" y="10230"/>
                  <a:pt x="215678" y="7999"/>
                </a:cubicBezTo>
                <a:cubicBezTo>
                  <a:pt x="212024" y="5769"/>
                  <a:pt x="207524" y="5538"/>
                  <a:pt x="203717" y="7461"/>
                </a:cubicBezTo>
                <a:lnTo>
                  <a:pt x="159028" y="29806"/>
                </a:lnTo>
                <a:lnTo>
                  <a:pt x="90032" y="6769"/>
                </a:lnTo>
                <a:cubicBezTo>
                  <a:pt x="86917" y="5730"/>
                  <a:pt x="83571" y="5961"/>
                  <a:pt x="80648" y="7423"/>
                </a:cubicBezTo>
                <a:lnTo>
                  <a:pt x="31421" y="32036"/>
                </a:lnTo>
                <a:cubicBezTo>
                  <a:pt x="27229" y="34152"/>
                  <a:pt x="24614" y="38420"/>
                  <a:pt x="24614" y="43074"/>
                </a:cubicBezTo>
                <a:lnTo>
                  <a:pt x="24614" y="178450"/>
                </a:lnTo>
                <a:cubicBezTo>
                  <a:pt x="24614" y="182718"/>
                  <a:pt x="26806" y="186680"/>
                  <a:pt x="30459" y="188910"/>
                </a:cubicBezTo>
                <a:cubicBezTo>
                  <a:pt x="34113" y="191141"/>
                  <a:pt x="38613" y="191372"/>
                  <a:pt x="42420" y="189449"/>
                </a:cubicBezTo>
                <a:lnTo>
                  <a:pt x="87071" y="167104"/>
                </a:lnTo>
                <a:lnTo>
                  <a:pt x="153720" y="189333"/>
                </a:lnTo>
                <a:cubicBezTo>
                  <a:pt x="152067" y="186872"/>
                  <a:pt x="150451" y="184295"/>
                  <a:pt x="148875" y="181680"/>
                </a:cubicBezTo>
                <a:cubicBezTo>
                  <a:pt x="144644" y="174642"/>
                  <a:pt x="140452" y="166566"/>
                  <a:pt x="137337" y="157912"/>
                </a:cubicBezTo>
                <a:lnTo>
                  <a:pt x="98416" y="144952"/>
                </a:lnTo>
                <a:lnTo>
                  <a:pt x="98416" y="35536"/>
                </a:lnTo>
                <a:lnTo>
                  <a:pt x="147644" y="51958"/>
                </a:lnTo>
                <a:lnTo>
                  <a:pt x="147644" y="90148"/>
                </a:lnTo>
                <a:cubicBezTo>
                  <a:pt x="159566" y="76379"/>
                  <a:pt x="177257" y="67688"/>
                  <a:pt x="196871" y="67688"/>
                </a:cubicBezTo>
                <a:cubicBezTo>
                  <a:pt x="205563" y="67688"/>
                  <a:pt x="213870" y="69380"/>
                  <a:pt x="221485" y="72495"/>
                </a:cubicBezTo>
                <a:lnTo>
                  <a:pt x="221524" y="18460"/>
                </a:lnTo>
                <a:close/>
                <a:moveTo>
                  <a:pt x="196910" y="86148"/>
                </a:moveTo>
                <a:cubicBezTo>
                  <a:pt x="171412" y="86148"/>
                  <a:pt x="150759" y="106454"/>
                  <a:pt x="150759" y="131491"/>
                </a:cubicBezTo>
                <a:cubicBezTo>
                  <a:pt x="150759" y="157989"/>
                  <a:pt x="175411" y="189333"/>
                  <a:pt x="188680" y="204294"/>
                </a:cubicBezTo>
                <a:cubicBezTo>
                  <a:pt x="193141" y="209294"/>
                  <a:pt x="200717" y="209294"/>
                  <a:pt x="205178" y="204294"/>
                </a:cubicBezTo>
                <a:cubicBezTo>
                  <a:pt x="218447" y="189333"/>
                  <a:pt x="243099" y="157989"/>
                  <a:pt x="243099" y="131491"/>
                </a:cubicBezTo>
                <a:cubicBezTo>
                  <a:pt x="243099" y="106454"/>
                  <a:pt x="222447" y="86148"/>
                  <a:pt x="196948" y="86148"/>
                </a:cubicBezTo>
                <a:close/>
                <a:moveTo>
                  <a:pt x="181526" y="132299"/>
                </a:moveTo>
                <a:cubicBezTo>
                  <a:pt x="181526" y="123808"/>
                  <a:pt x="188419" y="116915"/>
                  <a:pt x="196910" y="116915"/>
                </a:cubicBezTo>
                <a:cubicBezTo>
                  <a:pt x="205400" y="116915"/>
                  <a:pt x="212293" y="123808"/>
                  <a:pt x="212293" y="132299"/>
                </a:cubicBezTo>
                <a:cubicBezTo>
                  <a:pt x="212293" y="140789"/>
                  <a:pt x="205400" y="147682"/>
                  <a:pt x="196910" y="147682"/>
                </a:cubicBezTo>
                <a:cubicBezTo>
                  <a:pt x="188419" y="147682"/>
                  <a:pt x="181526" y="140789"/>
                  <a:pt x="181526" y="132299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E781711D-6D9F-422D-A7C3-909A1046AEE4}"/>
              </a:ext>
            </a:extLst>
          </p:cNvPr>
          <p:cNvSpPr/>
          <p:nvPr/>
        </p:nvSpPr>
        <p:spPr>
          <a:xfrm>
            <a:off x="1115822" y="4775280"/>
            <a:ext cx="3319991" cy="2625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Cloud Gateway</a:t>
            </a:r>
            <a:endParaRPr lang="en-US" sz="24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8072A90E-18F6-3E8B-3928-3684A872288E}"/>
              </a:ext>
            </a:extLst>
          </p:cNvPr>
          <p:cNvSpPr/>
          <p:nvPr/>
        </p:nvSpPr>
        <p:spPr>
          <a:xfrm>
            <a:off x="1115822" y="5044714"/>
            <a:ext cx="1698498" cy="196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网关服务</a:t>
            </a:r>
            <a:endParaRPr lang="en-US" sz="28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4619146B-3FEE-4571-8D0F-7DCD765F1EF2}"/>
              </a:ext>
            </a:extLst>
          </p:cNvPr>
          <p:cNvSpPr/>
          <p:nvPr/>
        </p:nvSpPr>
        <p:spPr>
          <a:xfrm>
            <a:off x="525093" y="5356488"/>
            <a:ext cx="5373997" cy="196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</a:t>
            </a:r>
            <a:r>
              <a:rPr lang="zh-CN" alt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会自动从注册中心</a:t>
            </a:r>
            <a:r>
              <a:rPr lang="en-US" altLang="zh-CN" sz="1600" dirty="0" err="1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Nacos</a:t>
            </a:r>
            <a:r>
              <a:rPr lang="zh-CN" alt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发现所有服务</a:t>
            </a:r>
            <a:endParaRPr lang="en-US" sz="32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85BF7A78-FD7E-2B57-498F-1A4954855C7C}"/>
              </a:ext>
            </a:extLst>
          </p:cNvPr>
          <p:cNvSpPr/>
          <p:nvPr/>
        </p:nvSpPr>
        <p:spPr>
          <a:xfrm>
            <a:off x="525093" y="5586216"/>
            <a:ext cx="5373997" cy="196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</a:t>
            </a:r>
            <a:r>
              <a:rPr lang="zh-CN" alt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灵活配置，路由规则从服务网关中抽离出来</a:t>
            </a:r>
            <a:endParaRPr lang="en-US" sz="32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0892331A-4093-1490-E5D9-FBC071E88F8E}"/>
              </a:ext>
            </a:extLst>
          </p:cNvPr>
          <p:cNvSpPr/>
          <p:nvPr/>
        </p:nvSpPr>
        <p:spPr>
          <a:xfrm>
            <a:off x="525093" y="5815944"/>
            <a:ext cx="5373997" cy="196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</a:t>
            </a:r>
            <a:r>
              <a:rPr lang="zh-CN" alt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后续可以进行流量限制和熔断配置</a:t>
            </a:r>
            <a:endParaRPr lang="en-US" sz="32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81000" y="1219200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0" y="0"/>
                </a:moveTo>
                <a:lnTo>
                  <a:pt x="914400" y="0"/>
                </a:lnTo>
                <a:lnTo>
                  <a:pt x="914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4" name="Text 1"/>
          <p:cNvSpPr/>
          <p:nvPr/>
        </p:nvSpPr>
        <p:spPr>
          <a:xfrm>
            <a:off x="381000" y="1447800"/>
            <a:ext cx="46767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133600"/>
            <a:ext cx="45053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6" name="Shape 3"/>
          <p:cNvSpPr/>
          <p:nvPr>
            <p:custDataLst>
              <p:tags r:id="rId1"/>
            </p:custDataLst>
          </p:nvPr>
        </p:nvSpPr>
        <p:spPr>
          <a:xfrm>
            <a:off x="600469" y="396871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7" name="Text 4"/>
          <p:cNvSpPr/>
          <p:nvPr>
            <p:custDataLst>
              <p:tags r:id="rId2"/>
            </p:custDataLst>
          </p:nvPr>
        </p:nvSpPr>
        <p:spPr>
          <a:xfrm>
            <a:off x="759537" y="4102066"/>
            <a:ext cx="438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1362469" y="3987766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项目概览</a:t>
            </a: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362469" y="4292447"/>
            <a:ext cx="1000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与核心职责</a:t>
            </a:r>
            <a:endParaRPr lang="en-US" sz="1600" dirty="0"/>
          </a:p>
        </p:txBody>
      </p:sp>
      <p:sp>
        <p:nvSpPr>
          <p:cNvPr id="14" name="Shape 11"/>
          <p:cNvSpPr/>
          <p:nvPr>
            <p:custDataLst>
              <p:tags r:id="rId5"/>
            </p:custDataLst>
          </p:nvPr>
        </p:nvSpPr>
        <p:spPr>
          <a:xfrm>
            <a:off x="3673173" y="401111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15" name="Text 12"/>
          <p:cNvSpPr/>
          <p:nvPr>
            <p:custDataLst>
              <p:tags r:id="rId6"/>
            </p:custDataLst>
          </p:nvPr>
        </p:nvSpPr>
        <p:spPr>
          <a:xfrm>
            <a:off x="3804380" y="4144468"/>
            <a:ext cx="4857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>
            <p:custDataLst>
              <p:tags r:id="rId7"/>
            </p:custDataLst>
          </p:nvPr>
        </p:nvSpPr>
        <p:spPr>
          <a:xfrm>
            <a:off x="4435173" y="4030168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7" name="Text 14"/>
          <p:cNvSpPr/>
          <p:nvPr>
            <p:custDataLst>
              <p:tags r:id="rId8"/>
            </p:custDataLst>
          </p:nvPr>
        </p:nvSpPr>
        <p:spPr>
          <a:xfrm>
            <a:off x="4435173" y="4334849"/>
            <a:ext cx="1000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与业务流程</a:t>
            </a:r>
            <a:endParaRPr lang="en-US" sz="1600" dirty="0"/>
          </a:p>
        </p:txBody>
      </p:sp>
      <p:sp>
        <p:nvSpPr>
          <p:cNvPr id="18" name="Shape 15"/>
          <p:cNvSpPr/>
          <p:nvPr>
            <p:custDataLst>
              <p:tags r:id="rId9"/>
            </p:custDataLst>
          </p:nvPr>
        </p:nvSpPr>
        <p:spPr>
          <a:xfrm>
            <a:off x="6562075" y="396814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19" name="Text 16"/>
          <p:cNvSpPr/>
          <p:nvPr>
            <p:custDataLst>
              <p:tags r:id="rId10"/>
            </p:custDataLst>
          </p:nvPr>
        </p:nvSpPr>
        <p:spPr>
          <a:xfrm>
            <a:off x="6693520" y="4101495"/>
            <a:ext cx="4857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>
            <p:custDataLst>
              <p:tags r:id="rId11"/>
            </p:custDataLst>
          </p:nvPr>
        </p:nvSpPr>
        <p:spPr>
          <a:xfrm>
            <a:off x="7324075" y="398719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技术亮点</a:t>
            </a:r>
            <a:endParaRPr lang="en-US" sz="1600" dirty="0"/>
          </a:p>
        </p:txBody>
      </p:sp>
      <p:sp>
        <p:nvSpPr>
          <p:cNvPr id="21" name="Text 18"/>
          <p:cNvSpPr/>
          <p:nvPr>
            <p:custDataLst>
              <p:tags r:id="rId12"/>
            </p:custDataLst>
          </p:nvPr>
        </p:nvSpPr>
        <p:spPr>
          <a:xfrm>
            <a:off x="7324075" y="4291876"/>
            <a:ext cx="1000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与解决方案</a:t>
            </a:r>
            <a:endParaRPr lang="en-US" sz="1600" dirty="0"/>
          </a:p>
        </p:txBody>
      </p:sp>
      <p:sp>
        <p:nvSpPr>
          <p:cNvPr id="22" name="Shape 19"/>
          <p:cNvSpPr/>
          <p:nvPr>
            <p:custDataLst>
              <p:tags r:id="rId13"/>
            </p:custDataLst>
          </p:nvPr>
        </p:nvSpPr>
        <p:spPr>
          <a:xfrm>
            <a:off x="9450978" y="396228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23" name="Text 20"/>
          <p:cNvSpPr/>
          <p:nvPr>
            <p:custDataLst>
              <p:tags r:id="rId14"/>
            </p:custDataLst>
          </p:nvPr>
        </p:nvSpPr>
        <p:spPr>
          <a:xfrm>
            <a:off x="9580875" y="4095631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>
            <p:custDataLst>
              <p:tags r:id="rId15"/>
            </p:custDataLst>
          </p:nvPr>
        </p:nvSpPr>
        <p:spPr>
          <a:xfrm>
            <a:off x="10212978" y="3981331"/>
            <a:ext cx="1257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问题与解决</a:t>
            </a:r>
            <a:endParaRPr lang="en-US" sz="1600" dirty="0"/>
          </a:p>
        </p:txBody>
      </p:sp>
      <p:sp>
        <p:nvSpPr>
          <p:cNvPr id="25" name="Text 22"/>
          <p:cNvSpPr/>
          <p:nvPr>
            <p:custDataLst>
              <p:tags r:id="rId16"/>
            </p:custDataLst>
          </p:nvPr>
        </p:nvSpPr>
        <p:spPr>
          <a:xfrm>
            <a:off x="10212978" y="4286012"/>
            <a:ext cx="122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思路总结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74850" y="487305"/>
            <a:ext cx="599760" cy="37485"/>
          </a:xfrm>
          <a:custGeom>
            <a:avLst/>
            <a:gdLst/>
            <a:ahLst/>
            <a:cxnLst/>
            <a:rect l="l" t="t" r="r" b="b"/>
            <a:pathLst>
              <a:path w="599760" h="37485">
                <a:moveTo>
                  <a:pt x="0" y="0"/>
                </a:moveTo>
                <a:lnTo>
                  <a:pt x="599760" y="0"/>
                </a:lnTo>
                <a:lnTo>
                  <a:pt x="599760" y="37485"/>
                </a:lnTo>
                <a:lnTo>
                  <a:pt x="0" y="37485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4" name="Text 1"/>
          <p:cNvSpPr/>
          <p:nvPr/>
        </p:nvSpPr>
        <p:spPr>
          <a:xfrm>
            <a:off x="1124550" y="374850"/>
            <a:ext cx="2370927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kern="0" spc="66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04-1 · PROBLEM SOLVING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4850" y="824670"/>
            <a:ext cx="5782063" cy="421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55" b="1" dirty="0" err="1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问题一：缓存一致性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65522" y="922247"/>
            <a:ext cx="5707093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5" dirty="0" err="1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如何保证数据一致性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93593" y="1381458"/>
            <a:ext cx="5594638" cy="3411069"/>
          </a:xfrm>
          <a:custGeom>
            <a:avLst/>
            <a:gdLst/>
            <a:ahLst/>
            <a:cxnLst/>
            <a:rect l="l" t="t" r="r" b="b"/>
            <a:pathLst>
              <a:path w="5594638" h="3776615">
                <a:moveTo>
                  <a:pt x="37485" y="0"/>
                </a:moveTo>
                <a:lnTo>
                  <a:pt x="5482170" y="0"/>
                </a:lnTo>
                <a:cubicBezTo>
                  <a:pt x="5544285" y="0"/>
                  <a:pt x="5594638" y="50353"/>
                  <a:pt x="5594638" y="112468"/>
                </a:cubicBezTo>
                <a:lnTo>
                  <a:pt x="5594638" y="3664147"/>
                </a:lnTo>
                <a:cubicBezTo>
                  <a:pt x="5594638" y="3726261"/>
                  <a:pt x="5544285" y="3776615"/>
                  <a:pt x="5482170" y="3776615"/>
                </a:cubicBezTo>
                <a:lnTo>
                  <a:pt x="37485" y="3776615"/>
                </a:lnTo>
                <a:cubicBezTo>
                  <a:pt x="16783" y="3776615"/>
                  <a:pt x="0" y="3759832"/>
                  <a:pt x="0" y="373913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8" name="Shape 5"/>
          <p:cNvSpPr/>
          <p:nvPr/>
        </p:nvSpPr>
        <p:spPr>
          <a:xfrm>
            <a:off x="393593" y="1381459"/>
            <a:ext cx="45719" cy="3411068"/>
          </a:xfrm>
          <a:custGeom>
            <a:avLst/>
            <a:gdLst/>
            <a:ahLst/>
            <a:cxnLst/>
            <a:rect l="l" t="t" r="r" b="b"/>
            <a:pathLst>
              <a:path w="37485" h="3776615">
                <a:moveTo>
                  <a:pt x="37485" y="0"/>
                </a:moveTo>
                <a:lnTo>
                  <a:pt x="37485" y="0"/>
                </a:lnTo>
                <a:lnTo>
                  <a:pt x="37485" y="3776615"/>
                </a:lnTo>
                <a:lnTo>
                  <a:pt x="37485" y="3776615"/>
                </a:lnTo>
                <a:cubicBezTo>
                  <a:pt x="16783" y="3776615"/>
                  <a:pt x="0" y="3759832"/>
                  <a:pt x="0" y="373913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9" name="Text 6"/>
          <p:cNvSpPr/>
          <p:nvPr/>
        </p:nvSpPr>
        <p:spPr>
          <a:xfrm>
            <a:off x="599760" y="1469138"/>
            <a:ext cx="5313500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问题场景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1006" y="1856698"/>
            <a:ext cx="5184177" cy="1293233"/>
          </a:xfrm>
          <a:custGeom>
            <a:avLst/>
            <a:gdLst/>
            <a:ahLst/>
            <a:cxnLst/>
            <a:rect l="l" t="t" r="r" b="b"/>
            <a:pathLst>
              <a:path w="5184177" h="1293233">
                <a:moveTo>
                  <a:pt x="22491" y="0"/>
                </a:moveTo>
                <a:lnTo>
                  <a:pt x="5109208" y="0"/>
                </a:lnTo>
                <a:cubicBezTo>
                  <a:pt x="5150612" y="0"/>
                  <a:pt x="5184177" y="33565"/>
                  <a:pt x="5184177" y="74969"/>
                </a:cubicBezTo>
                <a:lnTo>
                  <a:pt x="5184177" y="1218264"/>
                </a:lnTo>
                <a:cubicBezTo>
                  <a:pt x="5184177" y="1259668"/>
                  <a:pt x="5150612" y="1293233"/>
                  <a:pt x="5109208" y="1293233"/>
                </a:cubicBezTo>
                <a:lnTo>
                  <a:pt x="22491" y="1293233"/>
                </a:lnTo>
                <a:cubicBezTo>
                  <a:pt x="10070" y="1293233"/>
                  <a:pt x="0" y="1283163"/>
                  <a:pt x="0" y="1270742"/>
                </a:cubicBezTo>
                <a:lnTo>
                  <a:pt x="0" y="22491"/>
                </a:lnTo>
                <a:cubicBezTo>
                  <a:pt x="0" y="10078"/>
                  <a:pt x="10078" y="0"/>
                  <a:pt x="22491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611006" y="1856698"/>
            <a:ext cx="22491" cy="1293233"/>
          </a:xfrm>
          <a:custGeom>
            <a:avLst/>
            <a:gdLst/>
            <a:ahLst/>
            <a:cxnLst/>
            <a:rect l="l" t="t" r="r" b="b"/>
            <a:pathLst>
              <a:path w="22491" h="1293233">
                <a:moveTo>
                  <a:pt x="22491" y="0"/>
                </a:moveTo>
                <a:lnTo>
                  <a:pt x="22491" y="0"/>
                </a:lnTo>
                <a:lnTo>
                  <a:pt x="22491" y="1293233"/>
                </a:lnTo>
                <a:lnTo>
                  <a:pt x="22491" y="1293233"/>
                </a:lnTo>
                <a:cubicBezTo>
                  <a:pt x="10070" y="1293233"/>
                  <a:pt x="0" y="1283163"/>
                  <a:pt x="0" y="1270742"/>
                </a:cubicBezTo>
                <a:lnTo>
                  <a:pt x="0" y="22491"/>
                </a:lnTo>
                <a:cubicBezTo>
                  <a:pt x="0" y="10078"/>
                  <a:pt x="10078" y="0"/>
                  <a:pt x="22491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12" name="Shape 9"/>
          <p:cNvSpPr/>
          <p:nvPr/>
        </p:nvSpPr>
        <p:spPr>
          <a:xfrm>
            <a:off x="758134" y="2006638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84341" y="0"/>
                </a:moveTo>
                <a:cubicBezTo>
                  <a:pt x="89184" y="0"/>
                  <a:pt x="93632" y="2669"/>
                  <a:pt x="95938" y="6919"/>
                </a:cubicBezTo>
                <a:lnTo>
                  <a:pt x="167101" y="138702"/>
                </a:lnTo>
                <a:cubicBezTo>
                  <a:pt x="169309" y="142787"/>
                  <a:pt x="169210" y="147729"/>
                  <a:pt x="166838" y="151715"/>
                </a:cubicBezTo>
                <a:cubicBezTo>
                  <a:pt x="164465" y="155702"/>
                  <a:pt x="160150" y="158140"/>
                  <a:pt x="155504" y="158140"/>
                </a:cubicBezTo>
                <a:lnTo>
                  <a:pt x="13178" y="158140"/>
                </a:lnTo>
                <a:cubicBezTo>
                  <a:pt x="8533" y="158140"/>
                  <a:pt x="4250" y="155702"/>
                  <a:pt x="1845" y="151715"/>
                </a:cubicBezTo>
                <a:cubicBezTo>
                  <a:pt x="-560" y="147729"/>
                  <a:pt x="-626" y="142787"/>
                  <a:pt x="1581" y="138702"/>
                </a:cubicBezTo>
                <a:lnTo>
                  <a:pt x="72744" y="6919"/>
                </a:lnTo>
                <a:cubicBezTo>
                  <a:pt x="75051" y="2669"/>
                  <a:pt x="79498" y="0"/>
                  <a:pt x="84341" y="0"/>
                </a:cubicBezTo>
                <a:close/>
                <a:moveTo>
                  <a:pt x="84341" y="55349"/>
                </a:moveTo>
                <a:cubicBezTo>
                  <a:pt x="79959" y="55349"/>
                  <a:pt x="76434" y="58874"/>
                  <a:pt x="76434" y="63256"/>
                </a:cubicBezTo>
                <a:lnTo>
                  <a:pt x="76434" y="100155"/>
                </a:lnTo>
                <a:cubicBezTo>
                  <a:pt x="76434" y="104537"/>
                  <a:pt x="79959" y="108062"/>
                  <a:pt x="84341" y="108062"/>
                </a:cubicBezTo>
                <a:cubicBezTo>
                  <a:pt x="88723" y="108062"/>
                  <a:pt x="92248" y="104537"/>
                  <a:pt x="92248" y="100155"/>
                </a:cubicBezTo>
                <a:lnTo>
                  <a:pt x="92248" y="63256"/>
                </a:lnTo>
                <a:cubicBezTo>
                  <a:pt x="92248" y="58874"/>
                  <a:pt x="88723" y="55349"/>
                  <a:pt x="84341" y="55349"/>
                </a:cubicBezTo>
                <a:close/>
                <a:moveTo>
                  <a:pt x="93138" y="126512"/>
                </a:moveTo>
                <a:cubicBezTo>
                  <a:pt x="93338" y="123247"/>
                  <a:pt x="91710" y="120140"/>
                  <a:pt x="88911" y="118447"/>
                </a:cubicBezTo>
                <a:cubicBezTo>
                  <a:pt x="86111" y="116754"/>
                  <a:pt x="82604" y="116754"/>
                  <a:pt x="79805" y="118447"/>
                </a:cubicBezTo>
                <a:cubicBezTo>
                  <a:pt x="77006" y="120140"/>
                  <a:pt x="75378" y="123247"/>
                  <a:pt x="75578" y="126512"/>
                </a:cubicBezTo>
                <a:cubicBezTo>
                  <a:pt x="75378" y="129777"/>
                  <a:pt x="77006" y="132884"/>
                  <a:pt x="79805" y="134577"/>
                </a:cubicBezTo>
                <a:cubicBezTo>
                  <a:pt x="82604" y="136270"/>
                  <a:pt x="86111" y="136270"/>
                  <a:pt x="88911" y="134577"/>
                </a:cubicBezTo>
                <a:cubicBezTo>
                  <a:pt x="91710" y="132884"/>
                  <a:pt x="93338" y="129777"/>
                  <a:pt x="93138" y="126512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13" name="Text 10"/>
          <p:cNvSpPr/>
          <p:nvPr/>
        </p:nvSpPr>
        <p:spPr>
          <a:xfrm>
            <a:off x="1005565" y="1969153"/>
            <a:ext cx="4761504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挑战描述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4706" y="2306518"/>
            <a:ext cx="5022992" cy="730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 err="1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商品信息更新后，需同步清理多级缓存（Nginx、Redis</a:t>
            </a:r>
            <a:r>
              <a:rPr lang="en-US" sz="12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），保证用户看到最新数据，同时不能影响查询性能。如果采用同步清理，可能导致查询卡顿；如果异步清理，可能出现数据不一致。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601635" y="3210621"/>
            <a:ext cx="5184177" cy="1412464"/>
          </a:xfrm>
          <a:custGeom>
            <a:avLst/>
            <a:gdLst/>
            <a:ahLst/>
            <a:cxnLst/>
            <a:rect l="l" t="t" r="r" b="b"/>
            <a:pathLst>
              <a:path w="5184177" h="1311975">
                <a:moveTo>
                  <a:pt x="22491" y="0"/>
                </a:moveTo>
                <a:lnTo>
                  <a:pt x="5109211" y="0"/>
                </a:lnTo>
                <a:cubicBezTo>
                  <a:pt x="5150614" y="0"/>
                  <a:pt x="5184177" y="33564"/>
                  <a:pt x="5184177" y="74966"/>
                </a:cubicBezTo>
                <a:lnTo>
                  <a:pt x="5184177" y="1237009"/>
                </a:lnTo>
                <a:cubicBezTo>
                  <a:pt x="5184177" y="1278412"/>
                  <a:pt x="5150614" y="1311975"/>
                  <a:pt x="5109211" y="1311975"/>
                </a:cubicBezTo>
                <a:lnTo>
                  <a:pt x="22491" y="1311975"/>
                </a:lnTo>
                <a:cubicBezTo>
                  <a:pt x="10070" y="1311975"/>
                  <a:pt x="0" y="1301906"/>
                  <a:pt x="0" y="1289484"/>
                </a:cubicBezTo>
                <a:lnTo>
                  <a:pt x="0" y="22491"/>
                </a:lnTo>
                <a:cubicBezTo>
                  <a:pt x="0" y="10078"/>
                  <a:pt x="10078" y="0"/>
                  <a:pt x="22491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601635" y="3210620"/>
            <a:ext cx="45719" cy="1484401"/>
          </a:xfrm>
          <a:custGeom>
            <a:avLst/>
            <a:gdLst/>
            <a:ahLst/>
            <a:cxnLst/>
            <a:rect l="l" t="t" r="r" b="b"/>
            <a:pathLst>
              <a:path w="22491" h="1311975">
                <a:moveTo>
                  <a:pt x="22491" y="0"/>
                </a:moveTo>
                <a:lnTo>
                  <a:pt x="22491" y="0"/>
                </a:lnTo>
                <a:lnTo>
                  <a:pt x="22491" y="1311975"/>
                </a:lnTo>
                <a:lnTo>
                  <a:pt x="22491" y="1311975"/>
                </a:lnTo>
                <a:cubicBezTo>
                  <a:pt x="10070" y="1311975"/>
                  <a:pt x="0" y="1301906"/>
                  <a:pt x="0" y="1289484"/>
                </a:cubicBezTo>
                <a:lnTo>
                  <a:pt x="0" y="22491"/>
                </a:lnTo>
                <a:cubicBezTo>
                  <a:pt x="0" y="10078"/>
                  <a:pt x="10078" y="0"/>
                  <a:pt x="22491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17" name="Shape 14"/>
          <p:cNvSpPr/>
          <p:nvPr/>
        </p:nvSpPr>
        <p:spPr>
          <a:xfrm>
            <a:off x="748763" y="3360560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21085" y="21085"/>
                </a:moveTo>
                <a:cubicBezTo>
                  <a:pt x="21085" y="15254"/>
                  <a:pt x="16374" y="10543"/>
                  <a:pt x="10543" y="10543"/>
                </a:cubicBezTo>
                <a:cubicBezTo>
                  <a:pt x="4711" y="10543"/>
                  <a:pt x="0" y="15254"/>
                  <a:pt x="0" y="21085"/>
                </a:cubicBezTo>
                <a:lnTo>
                  <a:pt x="0" y="131783"/>
                </a:lnTo>
                <a:cubicBezTo>
                  <a:pt x="0" y="146345"/>
                  <a:pt x="11795" y="158140"/>
                  <a:pt x="26357" y="158140"/>
                </a:cubicBezTo>
                <a:lnTo>
                  <a:pt x="158140" y="158140"/>
                </a:lnTo>
                <a:cubicBezTo>
                  <a:pt x="163971" y="158140"/>
                  <a:pt x="168683" y="153429"/>
                  <a:pt x="168683" y="147597"/>
                </a:cubicBezTo>
                <a:cubicBezTo>
                  <a:pt x="168683" y="141766"/>
                  <a:pt x="163971" y="137055"/>
                  <a:pt x="158140" y="137055"/>
                </a:cubicBezTo>
                <a:lnTo>
                  <a:pt x="26357" y="137055"/>
                </a:lnTo>
                <a:cubicBezTo>
                  <a:pt x="23457" y="137055"/>
                  <a:pt x="21085" y="134682"/>
                  <a:pt x="21085" y="131783"/>
                </a:cubicBezTo>
                <a:lnTo>
                  <a:pt x="21085" y="21085"/>
                </a:lnTo>
                <a:close/>
                <a:moveTo>
                  <a:pt x="155043" y="49616"/>
                </a:moveTo>
                <a:cubicBezTo>
                  <a:pt x="159161" y="45498"/>
                  <a:pt x="159161" y="38810"/>
                  <a:pt x="155043" y="34692"/>
                </a:cubicBezTo>
                <a:cubicBezTo>
                  <a:pt x="150925" y="30574"/>
                  <a:pt x="144237" y="30574"/>
                  <a:pt x="140119" y="34692"/>
                </a:cubicBezTo>
                <a:lnTo>
                  <a:pt x="105427" y="69417"/>
                </a:lnTo>
                <a:lnTo>
                  <a:pt x="86516" y="50539"/>
                </a:lnTo>
                <a:cubicBezTo>
                  <a:pt x="82397" y="46421"/>
                  <a:pt x="75709" y="46421"/>
                  <a:pt x="71591" y="50539"/>
                </a:cubicBezTo>
                <a:lnTo>
                  <a:pt x="39963" y="82167"/>
                </a:lnTo>
                <a:cubicBezTo>
                  <a:pt x="35845" y="86285"/>
                  <a:pt x="35845" y="92973"/>
                  <a:pt x="39963" y="97091"/>
                </a:cubicBezTo>
                <a:cubicBezTo>
                  <a:pt x="44081" y="101210"/>
                  <a:pt x="50769" y="101210"/>
                  <a:pt x="54888" y="97091"/>
                </a:cubicBezTo>
                <a:lnTo>
                  <a:pt x="79070" y="72909"/>
                </a:lnTo>
                <a:lnTo>
                  <a:pt x="97981" y="91820"/>
                </a:lnTo>
                <a:cubicBezTo>
                  <a:pt x="102099" y="95938"/>
                  <a:pt x="108787" y="95938"/>
                  <a:pt x="112905" y="91820"/>
                </a:cubicBezTo>
                <a:lnTo>
                  <a:pt x="155076" y="49649"/>
                </a:lnTo>
                <a:close/>
              </a:path>
            </a:pathLst>
          </a:custGeom>
          <a:solidFill>
            <a:srgbClr val="F6AD55"/>
          </a:solidFill>
        </p:spPr>
      </p:sp>
      <p:sp>
        <p:nvSpPr>
          <p:cNvPr id="18" name="Text 15"/>
          <p:cNvSpPr/>
          <p:nvPr/>
        </p:nvSpPr>
        <p:spPr>
          <a:xfrm>
            <a:off x="996194" y="3323075"/>
            <a:ext cx="4761504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影响分析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25335" y="3660440"/>
            <a:ext cx="5022992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缓存不一致：用户看到过期数据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25335" y="4005149"/>
            <a:ext cx="5022992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性能下降：同步清理阻塞请求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25335" y="4349858"/>
            <a:ext cx="5022992" cy="22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用户体验：数据更新延迟感知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393593" y="5032137"/>
            <a:ext cx="5594638" cy="1464099"/>
          </a:xfrm>
          <a:custGeom>
            <a:avLst/>
            <a:gdLst/>
            <a:ahLst/>
            <a:cxnLst/>
            <a:rect l="l" t="t" r="r" b="b"/>
            <a:pathLst>
              <a:path w="5594638" h="3036286">
                <a:moveTo>
                  <a:pt x="37485" y="0"/>
                </a:moveTo>
                <a:lnTo>
                  <a:pt x="5482174" y="0"/>
                </a:lnTo>
                <a:cubicBezTo>
                  <a:pt x="5544286" y="0"/>
                  <a:pt x="5594638" y="50352"/>
                  <a:pt x="5594638" y="112464"/>
                </a:cubicBezTo>
                <a:lnTo>
                  <a:pt x="5594638" y="2923822"/>
                </a:lnTo>
                <a:cubicBezTo>
                  <a:pt x="5594638" y="2985934"/>
                  <a:pt x="5544286" y="3036286"/>
                  <a:pt x="5482174" y="3036286"/>
                </a:cubicBezTo>
                <a:lnTo>
                  <a:pt x="37485" y="3036286"/>
                </a:lnTo>
                <a:cubicBezTo>
                  <a:pt x="16783" y="3036286"/>
                  <a:pt x="0" y="3019503"/>
                  <a:pt x="0" y="2998801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29" name="Shape 26"/>
          <p:cNvSpPr/>
          <p:nvPr/>
        </p:nvSpPr>
        <p:spPr>
          <a:xfrm>
            <a:off x="393593" y="5032137"/>
            <a:ext cx="37485" cy="1464099"/>
          </a:xfrm>
          <a:custGeom>
            <a:avLst/>
            <a:gdLst/>
            <a:ahLst/>
            <a:cxnLst/>
            <a:rect l="l" t="t" r="r" b="b"/>
            <a:pathLst>
              <a:path w="37485" h="3036286">
                <a:moveTo>
                  <a:pt x="37485" y="0"/>
                </a:moveTo>
                <a:lnTo>
                  <a:pt x="37485" y="0"/>
                </a:lnTo>
                <a:lnTo>
                  <a:pt x="37485" y="3036286"/>
                </a:lnTo>
                <a:lnTo>
                  <a:pt x="37485" y="3036286"/>
                </a:lnTo>
                <a:cubicBezTo>
                  <a:pt x="16783" y="3036286"/>
                  <a:pt x="0" y="3019503"/>
                  <a:pt x="0" y="2998801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30" name="Text 27"/>
          <p:cNvSpPr/>
          <p:nvPr/>
        </p:nvSpPr>
        <p:spPr>
          <a:xfrm>
            <a:off x="599760" y="5219562"/>
            <a:ext cx="5313500" cy="1446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0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50336" y="5537309"/>
            <a:ext cx="4760596" cy="1265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Canal监听数据库变更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59707" y="5899809"/>
            <a:ext cx="4751225" cy="3451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通过Canal实时监听MySQL Binlog，捕获商品信息更新事件，无需修改业务代码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49842" y="454795"/>
            <a:ext cx="559747" cy="34984"/>
          </a:xfrm>
          <a:custGeom>
            <a:avLst/>
            <a:gdLst/>
            <a:ahLst/>
            <a:cxnLst/>
            <a:rect l="l" t="t" r="r" b="b"/>
            <a:pathLst>
              <a:path w="559747" h="34984">
                <a:moveTo>
                  <a:pt x="0" y="0"/>
                </a:moveTo>
                <a:lnTo>
                  <a:pt x="559747" y="0"/>
                </a:lnTo>
                <a:lnTo>
                  <a:pt x="559747" y="34984"/>
                </a:lnTo>
                <a:lnTo>
                  <a:pt x="0" y="34984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</p:spPr>
      </p:sp>
      <p:sp>
        <p:nvSpPr>
          <p:cNvPr id="4" name="Text 1"/>
          <p:cNvSpPr/>
          <p:nvPr/>
        </p:nvSpPr>
        <p:spPr>
          <a:xfrm>
            <a:off x="1049527" y="349842"/>
            <a:ext cx="2238990" cy="244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kern="0" spc="62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04-2 · PROBLEM SOLVING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9842" y="769653"/>
            <a:ext cx="5798634" cy="3935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8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问题二：高并发下的数据库保护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9842" y="1278838"/>
            <a:ext cx="5623713" cy="4071375"/>
          </a:xfrm>
          <a:custGeom>
            <a:avLst/>
            <a:gdLst/>
            <a:ahLst/>
            <a:cxnLst/>
            <a:rect l="l" t="t" r="r" b="b"/>
            <a:pathLst>
              <a:path w="5623713" h="4486726">
                <a:moveTo>
                  <a:pt x="34984" y="0"/>
                </a:moveTo>
                <a:lnTo>
                  <a:pt x="5518769" y="0"/>
                </a:lnTo>
                <a:cubicBezTo>
                  <a:pt x="5576728" y="0"/>
                  <a:pt x="5623713" y="46985"/>
                  <a:pt x="5623713" y="104945"/>
                </a:cubicBezTo>
                <a:lnTo>
                  <a:pt x="5623713" y="4381781"/>
                </a:lnTo>
                <a:cubicBezTo>
                  <a:pt x="5623713" y="4439741"/>
                  <a:pt x="5576728" y="4486726"/>
                  <a:pt x="5518769" y="4486726"/>
                </a:cubicBezTo>
                <a:lnTo>
                  <a:pt x="34984" y="4486726"/>
                </a:lnTo>
                <a:cubicBezTo>
                  <a:pt x="15663" y="4486726"/>
                  <a:pt x="0" y="4471063"/>
                  <a:pt x="0" y="445174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8" name="Shape 5"/>
          <p:cNvSpPr/>
          <p:nvPr/>
        </p:nvSpPr>
        <p:spPr>
          <a:xfrm>
            <a:off x="349841" y="1278838"/>
            <a:ext cx="45719" cy="4071375"/>
          </a:xfrm>
          <a:custGeom>
            <a:avLst/>
            <a:gdLst/>
            <a:ahLst/>
            <a:cxnLst/>
            <a:rect l="l" t="t" r="r" b="b"/>
            <a:pathLst>
              <a:path w="34984" h="4486726">
                <a:moveTo>
                  <a:pt x="34984" y="0"/>
                </a:moveTo>
                <a:lnTo>
                  <a:pt x="34984" y="0"/>
                </a:lnTo>
                <a:lnTo>
                  <a:pt x="34984" y="4486726"/>
                </a:lnTo>
                <a:lnTo>
                  <a:pt x="34984" y="4486726"/>
                </a:lnTo>
                <a:cubicBezTo>
                  <a:pt x="15663" y="4486726"/>
                  <a:pt x="0" y="4471063"/>
                  <a:pt x="0" y="445174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9" name="Text 6"/>
          <p:cNvSpPr/>
          <p:nvPr/>
        </p:nvSpPr>
        <p:spPr>
          <a:xfrm>
            <a:off x="612224" y="1410778"/>
            <a:ext cx="5361331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5" b="1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问题场景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8872" y="1813096"/>
            <a:ext cx="5240636" cy="1735078"/>
          </a:xfrm>
          <a:custGeom>
            <a:avLst/>
            <a:gdLst/>
            <a:ahLst/>
            <a:cxnLst/>
            <a:rect l="l" t="t" r="r" b="b"/>
            <a:pathLst>
              <a:path w="5240636" h="1206956">
                <a:moveTo>
                  <a:pt x="20991" y="0"/>
                </a:moveTo>
                <a:lnTo>
                  <a:pt x="5170669" y="0"/>
                </a:lnTo>
                <a:cubicBezTo>
                  <a:pt x="5209310" y="0"/>
                  <a:pt x="5240636" y="31325"/>
                  <a:pt x="5240636" y="69967"/>
                </a:cubicBezTo>
                <a:lnTo>
                  <a:pt x="5240636" y="1136988"/>
                </a:lnTo>
                <a:cubicBezTo>
                  <a:pt x="5240636" y="1175630"/>
                  <a:pt x="5209310" y="1206956"/>
                  <a:pt x="5170669" y="1206956"/>
                </a:cubicBezTo>
                <a:lnTo>
                  <a:pt x="20991" y="1206956"/>
                </a:lnTo>
                <a:cubicBezTo>
                  <a:pt x="9398" y="1206956"/>
                  <a:pt x="0" y="1197558"/>
                  <a:pt x="0" y="1185965"/>
                </a:cubicBezTo>
                <a:lnTo>
                  <a:pt x="0" y="20991"/>
                </a:lnTo>
                <a:cubicBezTo>
                  <a:pt x="0" y="9406"/>
                  <a:pt x="9406" y="0"/>
                  <a:pt x="20991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558872" y="1813095"/>
            <a:ext cx="45719" cy="1649045"/>
          </a:xfrm>
          <a:custGeom>
            <a:avLst/>
            <a:gdLst/>
            <a:ahLst/>
            <a:cxnLst/>
            <a:rect l="l" t="t" r="r" b="b"/>
            <a:pathLst>
              <a:path w="20991" h="1206956">
                <a:moveTo>
                  <a:pt x="20991" y="0"/>
                </a:moveTo>
                <a:lnTo>
                  <a:pt x="20991" y="0"/>
                </a:lnTo>
                <a:lnTo>
                  <a:pt x="20991" y="1206956"/>
                </a:lnTo>
                <a:lnTo>
                  <a:pt x="20991" y="1206956"/>
                </a:lnTo>
                <a:cubicBezTo>
                  <a:pt x="9398" y="1206956"/>
                  <a:pt x="0" y="1197558"/>
                  <a:pt x="0" y="1185965"/>
                </a:cubicBezTo>
                <a:lnTo>
                  <a:pt x="0" y="20991"/>
                </a:lnTo>
                <a:cubicBezTo>
                  <a:pt x="0" y="9406"/>
                  <a:pt x="9406" y="0"/>
                  <a:pt x="20991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12" name="Shape 9"/>
          <p:cNvSpPr/>
          <p:nvPr/>
        </p:nvSpPr>
        <p:spPr>
          <a:xfrm>
            <a:off x="706024" y="1953033"/>
            <a:ext cx="137750" cy="203499"/>
          </a:xfrm>
          <a:custGeom>
            <a:avLst/>
            <a:gdLst/>
            <a:ahLst/>
            <a:cxnLst/>
            <a:rect l="l" t="t" r="r" b="b"/>
            <a:pathLst>
              <a:path w="137750" h="157429">
                <a:moveTo>
                  <a:pt x="49350" y="-8117"/>
                </a:moveTo>
                <a:cubicBezTo>
                  <a:pt x="52210" y="-10516"/>
                  <a:pt x="56422" y="-10424"/>
                  <a:pt x="59159" y="-7841"/>
                </a:cubicBezTo>
                <a:cubicBezTo>
                  <a:pt x="62941" y="-4274"/>
                  <a:pt x="66323" y="-338"/>
                  <a:pt x="69582" y="3659"/>
                </a:cubicBezTo>
                <a:cubicBezTo>
                  <a:pt x="73733" y="8732"/>
                  <a:pt x="78714" y="15435"/>
                  <a:pt x="83511" y="23399"/>
                </a:cubicBezTo>
                <a:cubicBezTo>
                  <a:pt x="85110" y="21308"/>
                  <a:pt x="86586" y="19463"/>
                  <a:pt x="87877" y="17895"/>
                </a:cubicBezTo>
                <a:cubicBezTo>
                  <a:pt x="88216" y="17496"/>
                  <a:pt x="88554" y="17065"/>
                  <a:pt x="88892" y="16635"/>
                </a:cubicBezTo>
                <a:cubicBezTo>
                  <a:pt x="91321" y="13621"/>
                  <a:pt x="94334" y="9839"/>
                  <a:pt x="98362" y="9839"/>
                </a:cubicBezTo>
                <a:cubicBezTo>
                  <a:pt x="102483" y="9839"/>
                  <a:pt x="105373" y="13498"/>
                  <a:pt x="107833" y="16635"/>
                </a:cubicBezTo>
                <a:cubicBezTo>
                  <a:pt x="108232" y="17157"/>
                  <a:pt x="108632" y="17649"/>
                  <a:pt x="109032" y="18110"/>
                </a:cubicBezTo>
                <a:cubicBezTo>
                  <a:pt x="112199" y="21923"/>
                  <a:pt x="116411" y="27427"/>
                  <a:pt x="120624" y="34222"/>
                </a:cubicBezTo>
                <a:cubicBezTo>
                  <a:pt x="128987" y="47721"/>
                  <a:pt x="137720" y="66938"/>
                  <a:pt x="137720" y="88523"/>
                </a:cubicBezTo>
                <a:cubicBezTo>
                  <a:pt x="137720" y="126558"/>
                  <a:pt x="106880" y="157398"/>
                  <a:pt x="68844" y="157398"/>
                </a:cubicBezTo>
                <a:cubicBezTo>
                  <a:pt x="30809" y="157398"/>
                  <a:pt x="0" y="126589"/>
                  <a:pt x="0" y="88554"/>
                </a:cubicBezTo>
                <a:cubicBezTo>
                  <a:pt x="0" y="60543"/>
                  <a:pt x="12637" y="36282"/>
                  <a:pt x="24752" y="19371"/>
                </a:cubicBezTo>
                <a:cubicBezTo>
                  <a:pt x="30871" y="10854"/>
                  <a:pt x="36959" y="4028"/>
                  <a:pt x="41540" y="-646"/>
                </a:cubicBezTo>
                <a:cubicBezTo>
                  <a:pt x="44062" y="-3229"/>
                  <a:pt x="46614" y="-5781"/>
                  <a:pt x="49381" y="-8087"/>
                </a:cubicBezTo>
                <a:close/>
                <a:moveTo>
                  <a:pt x="69398" y="127911"/>
                </a:moveTo>
                <a:cubicBezTo>
                  <a:pt x="77177" y="127911"/>
                  <a:pt x="84065" y="125759"/>
                  <a:pt x="90552" y="121454"/>
                </a:cubicBezTo>
                <a:cubicBezTo>
                  <a:pt x="103497" y="112414"/>
                  <a:pt x="106972" y="94334"/>
                  <a:pt x="99193" y="80129"/>
                </a:cubicBezTo>
                <a:cubicBezTo>
                  <a:pt x="97809" y="77362"/>
                  <a:pt x="94273" y="77177"/>
                  <a:pt x="92274" y="79514"/>
                </a:cubicBezTo>
                <a:lnTo>
                  <a:pt x="84526" y="88523"/>
                </a:lnTo>
                <a:cubicBezTo>
                  <a:pt x="82496" y="90860"/>
                  <a:pt x="78837" y="90798"/>
                  <a:pt x="76931" y="88369"/>
                </a:cubicBezTo>
                <a:cubicBezTo>
                  <a:pt x="71612" y="81574"/>
                  <a:pt x="61834" y="69183"/>
                  <a:pt x="56853" y="62849"/>
                </a:cubicBezTo>
                <a:cubicBezTo>
                  <a:pt x="55192" y="60727"/>
                  <a:pt x="52179" y="60389"/>
                  <a:pt x="50242" y="62264"/>
                </a:cubicBezTo>
                <a:cubicBezTo>
                  <a:pt x="44615" y="67738"/>
                  <a:pt x="34407" y="79729"/>
                  <a:pt x="34407" y="94334"/>
                </a:cubicBezTo>
                <a:cubicBezTo>
                  <a:pt x="34407" y="115427"/>
                  <a:pt x="49965" y="127911"/>
                  <a:pt x="69367" y="127911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13" name="Text 10"/>
          <p:cNvSpPr/>
          <p:nvPr/>
        </p:nvSpPr>
        <p:spPr>
          <a:xfrm>
            <a:off x="923664" y="1918049"/>
            <a:ext cx="4849606" cy="316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热点商品冲击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74320" y="2232906"/>
            <a:ext cx="5090204" cy="11403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热点商品（如秒杀商品、明星同款）页面请求量巨大，每秒可能有数万次查询。如果缓存失效或未及时命中，大量请求会直接穿透到数据库，导致数据库连接池耗尽，系统整体不可用。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553625" y="3751223"/>
            <a:ext cx="5240636" cy="1443347"/>
          </a:xfrm>
          <a:custGeom>
            <a:avLst/>
            <a:gdLst/>
            <a:ahLst/>
            <a:cxnLst/>
            <a:rect l="l" t="t" r="r" b="b"/>
            <a:pathLst>
              <a:path w="5240636" h="1469337">
                <a:moveTo>
                  <a:pt x="20991" y="0"/>
                </a:moveTo>
                <a:lnTo>
                  <a:pt x="5170666" y="0"/>
                </a:lnTo>
                <a:cubicBezTo>
                  <a:pt x="5209309" y="0"/>
                  <a:pt x="5240636" y="31327"/>
                  <a:pt x="5240636" y="69970"/>
                </a:cubicBezTo>
                <a:lnTo>
                  <a:pt x="5240636" y="1399367"/>
                </a:lnTo>
                <a:cubicBezTo>
                  <a:pt x="5240636" y="1438011"/>
                  <a:pt x="5209309" y="1469337"/>
                  <a:pt x="5170666" y="1469337"/>
                </a:cubicBezTo>
                <a:lnTo>
                  <a:pt x="20991" y="1469337"/>
                </a:lnTo>
                <a:cubicBezTo>
                  <a:pt x="9398" y="1469337"/>
                  <a:pt x="0" y="1459939"/>
                  <a:pt x="0" y="1448347"/>
                </a:cubicBezTo>
                <a:lnTo>
                  <a:pt x="0" y="20991"/>
                </a:lnTo>
                <a:cubicBezTo>
                  <a:pt x="0" y="9406"/>
                  <a:pt x="9406" y="0"/>
                  <a:pt x="20991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553625" y="3720457"/>
            <a:ext cx="45719" cy="1443347"/>
          </a:xfrm>
          <a:custGeom>
            <a:avLst/>
            <a:gdLst/>
            <a:ahLst/>
            <a:cxnLst/>
            <a:rect l="l" t="t" r="r" b="b"/>
            <a:pathLst>
              <a:path w="20991" h="1469337">
                <a:moveTo>
                  <a:pt x="20991" y="0"/>
                </a:moveTo>
                <a:lnTo>
                  <a:pt x="20991" y="0"/>
                </a:lnTo>
                <a:lnTo>
                  <a:pt x="20991" y="1469337"/>
                </a:lnTo>
                <a:lnTo>
                  <a:pt x="20991" y="1469337"/>
                </a:lnTo>
                <a:cubicBezTo>
                  <a:pt x="9398" y="1469337"/>
                  <a:pt x="0" y="1459939"/>
                  <a:pt x="0" y="1448347"/>
                </a:cubicBezTo>
                <a:lnTo>
                  <a:pt x="0" y="20991"/>
                </a:lnTo>
                <a:cubicBezTo>
                  <a:pt x="0" y="9406"/>
                  <a:pt x="9406" y="0"/>
                  <a:pt x="20991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17" name="Shape 14"/>
          <p:cNvSpPr/>
          <p:nvPr/>
        </p:nvSpPr>
        <p:spPr>
          <a:xfrm>
            <a:off x="690938" y="3860394"/>
            <a:ext cx="157429" cy="157429"/>
          </a:xfrm>
          <a:custGeom>
            <a:avLst/>
            <a:gdLst/>
            <a:ahLst/>
            <a:cxnLst/>
            <a:rect l="l" t="t" r="r" b="b"/>
            <a:pathLst>
              <a:path w="157429" h="157429">
                <a:moveTo>
                  <a:pt x="9839" y="9839"/>
                </a:moveTo>
                <a:cubicBezTo>
                  <a:pt x="15282" y="9839"/>
                  <a:pt x="19679" y="14236"/>
                  <a:pt x="19679" y="19679"/>
                </a:cubicBezTo>
                <a:lnTo>
                  <a:pt x="19679" y="122991"/>
                </a:lnTo>
                <a:cubicBezTo>
                  <a:pt x="19679" y="125697"/>
                  <a:pt x="21892" y="127911"/>
                  <a:pt x="24598" y="127911"/>
                </a:cubicBezTo>
                <a:lnTo>
                  <a:pt x="147590" y="127911"/>
                </a:lnTo>
                <a:cubicBezTo>
                  <a:pt x="153032" y="127911"/>
                  <a:pt x="157429" y="132308"/>
                  <a:pt x="157429" y="137750"/>
                </a:cubicBezTo>
                <a:cubicBezTo>
                  <a:pt x="157429" y="143193"/>
                  <a:pt x="153032" y="147590"/>
                  <a:pt x="147590" y="147590"/>
                </a:cubicBezTo>
                <a:lnTo>
                  <a:pt x="24598" y="147590"/>
                </a:lnTo>
                <a:cubicBezTo>
                  <a:pt x="11008" y="147590"/>
                  <a:pt x="0" y="136582"/>
                  <a:pt x="0" y="122991"/>
                </a:cubicBezTo>
                <a:lnTo>
                  <a:pt x="0" y="19679"/>
                </a:lnTo>
                <a:cubicBezTo>
                  <a:pt x="0" y="14236"/>
                  <a:pt x="4397" y="9839"/>
                  <a:pt x="9839" y="9839"/>
                </a:cubicBezTo>
                <a:close/>
                <a:moveTo>
                  <a:pt x="73795" y="29518"/>
                </a:moveTo>
                <a:cubicBezTo>
                  <a:pt x="75855" y="29518"/>
                  <a:pt x="77823" y="30379"/>
                  <a:pt x="79237" y="31916"/>
                </a:cubicBezTo>
                <a:lnTo>
                  <a:pt x="101099" y="55746"/>
                </a:lnTo>
                <a:lnTo>
                  <a:pt x="115304" y="41510"/>
                </a:lnTo>
                <a:cubicBezTo>
                  <a:pt x="118195" y="38619"/>
                  <a:pt x="122868" y="38619"/>
                  <a:pt x="125728" y="41510"/>
                </a:cubicBezTo>
                <a:lnTo>
                  <a:pt x="145407" y="61188"/>
                </a:lnTo>
                <a:cubicBezTo>
                  <a:pt x="146790" y="62572"/>
                  <a:pt x="147559" y="64447"/>
                  <a:pt x="147559" y="66415"/>
                </a:cubicBezTo>
                <a:lnTo>
                  <a:pt x="147559" y="100853"/>
                </a:lnTo>
                <a:cubicBezTo>
                  <a:pt x="147559" y="104942"/>
                  <a:pt x="144269" y="108232"/>
                  <a:pt x="140179" y="108232"/>
                </a:cubicBezTo>
                <a:lnTo>
                  <a:pt x="46706" y="108232"/>
                </a:lnTo>
                <a:cubicBezTo>
                  <a:pt x="42617" y="108232"/>
                  <a:pt x="39326" y="104942"/>
                  <a:pt x="39326" y="100853"/>
                </a:cubicBezTo>
                <a:lnTo>
                  <a:pt x="39326" y="66415"/>
                </a:lnTo>
                <a:cubicBezTo>
                  <a:pt x="39326" y="64570"/>
                  <a:pt x="40034" y="62787"/>
                  <a:pt x="41264" y="61434"/>
                </a:cubicBezTo>
                <a:lnTo>
                  <a:pt x="68322" y="31916"/>
                </a:lnTo>
                <a:cubicBezTo>
                  <a:pt x="69705" y="30379"/>
                  <a:pt x="71704" y="29518"/>
                  <a:pt x="73764" y="29518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18" name="Text 15"/>
          <p:cNvSpPr/>
          <p:nvPr/>
        </p:nvSpPr>
        <p:spPr>
          <a:xfrm>
            <a:off x="918417" y="3825409"/>
            <a:ext cx="4849606" cy="244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流量洪峰场景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9073" y="4140267"/>
            <a:ext cx="5090204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</a:t>
            </a: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秒杀活动开始瞬间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69073" y="4385157"/>
            <a:ext cx="5090204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新品发布/限量发售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69073" y="4630046"/>
            <a:ext cx="5090204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促销活动期间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69073" y="4874936"/>
            <a:ext cx="5090204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社交媒体热点传播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6218448" y="3830272"/>
            <a:ext cx="5623713" cy="2278195"/>
          </a:xfrm>
          <a:custGeom>
            <a:avLst/>
            <a:gdLst/>
            <a:ahLst/>
            <a:cxnLst/>
            <a:rect l="l" t="t" r="r" b="b"/>
            <a:pathLst>
              <a:path w="5623713" h="3288516">
                <a:moveTo>
                  <a:pt x="34984" y="0"/>
                </a:moveTo>
                <a:lnTo>
                  <a:pt x="5518776" y="0"/>
                </a:lnTo>
                <a:cubicBezTo>
                  <a:pt x="5576731" y="0"/>
                  <a:pt x="5623713" y="46982"/>
                  <a:pt x="5623713" y="104937"/>
                </a:cubicBezTo>
                <a:lnTo>
                  <a:pt x="5623713" y="3183580"/>
                </a:lnTo>
                <a:cubicBezTo>
                  <a:pt x="5623713" y="3241535"/>
                  <a:pt x="5576731" y="3288516"/>
                  <a:pt x="5518776" y="3288516"/>
                </a:cubicBezTo>
                <a:lnTo>
                  <a:pt x="34984" y="3288516"/>
                </a:lnTo>
                <a:cubicBezTo>
                  <a:pt x="15663" y="3288516"/>
                  <a:pt x="0" y="3272854"/>
                  <a:pt x="0" y="325353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30" name="Shape 27"/>
          <p:cNvSpPr/>
          <p:nvPr/>
        </p:nvSpPr>
        <p:spPr>
          <a:xfrm>
            <a:off x="6218447" y="3830273"/>
            <a:ext cx="65595" cy="2278194"/>
          </a:xfrm>
          <a:custGeom>
            <a:avLst/>
            <a:gdLst/>
            <a:ahLst/>
            <a:cxnLst/>
            <a:rect l="l" t="t" r="r" b="b"/>
            <a:pathLst>
              <a:path w="34984" h="3288516">
                <a:moveTo>
                  <a:pt x="34984" y="0"/>
                </a:moveTo>
                <a:lnTo>
                  <a:pt x="34984" y="0"/>
                </a:lnTo>
                <a:lnTo>
                  <a:pt x="34984" y="3288516"/>
                </a:lnTo>
                <a:lnTo>
                  <a:pt x="34984" y="3288516"/>
                </a:lnTo>
                <a:cubicBezTo>
                  <a:pt x="15663" y="3288516"/>
                  <a:pt x="0" y="3272854"/>
                  <a:pt x="0" y="325353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31" name="Text 28"/>
          <p:cNvSpPr/>
          <p:nvPr/>
        </p:nvSpPr>
        <p:spPr>
          <a:xfrm>
            <a:off x="6410861" y="4005194"/>
            <a:ext cx="5361331" cy="2798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5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双层防护策略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421356" y="4389908"/>
            <a:ext cx="5240636" cy="1632523"/>
          </a:xfrm>
          <a:custGeom>
            <a:avLst/>
            <a:gdLst/>
            <a:ahLst/>
            <a:cxnLst/>
            <a:rect l="l" t="t" r="r" b="b"/>
            <a:pathLst>
              <a:path w="5240636" h="1224448">
                <a:moveTo>
                  <a:pt x="20991" y="0"/>
                </a:moveTo>
                <a:lnTo>
                  <a:pt x="5170671" y="0"/>
                </a:lnTo>
                <a:cubicBezTo>
                  <a:pt x="5209311" y="0"/>
                  <a:pt x="5240636" y="31324"/>
                  <a:pt x="5240636" y="69965"/>
                </a:cubicBezTo>
                <a:lnTo>
                  <a:pt x="5240636" y="1154483"/>
                </a:lnTo>
                <a:cubicBezTo>
                  <a:pt x="5240636" y="1193123"/>
                  <a:pt x="5209311" y="1224448"/>
                  <a:pt x="5170671" y="1224448"/>
                </a:cubicBezTo>
                <a:lnTo>
                  <a:pt x="20991" y="1224448"/>
                </a:lnTo>
                <a:cubicBezTo>
                  <a:pt x="9398" y="1224448"/>
                  <a:pt x="0" y="1215050"/>
                  <a:pt x="0" y="1203457"/>
                </a:cubicBezTo>
                <a:lnTo>
                  <a:pt x="0" y="20991"/>
                </a:lnTo>
                <a:cubicBezTo>
                  <a:pt x="0" y="9406"/>
                  <a:pt x="9406" y="0"/>
                  <a:pt x="20991" y="0"/>
                </a:cubicBezTo>
                <a:close/>
              </a:path>
            </a:pathLst>
          </a:custGeom>
          <a:solidFill>
            <a:srgbClr val="4FD1C5">
              <a:alpha val="5098"/>
            </a:srgb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33" name="Shape 30"/>
          <p:cNvSpPr/>
          <p:nvPr/>
        </p:nvSpPr>
        <p:spPr>
          <a:xfrm>
            <a:off x="6421356" y="4389908"/>
            <a:ext cx="20991" cy="1632523"/>
          </a:xfrm>
          <a:custGeom>
            <a:avLst/>
            <a:gdLst/>
            <a:ahLst/>
            <a:cxnLst/>
            <a:rect l="l" t="t" r="r" b="b"/>
            <a:pathLst>
              <a:path w="20991" h="1224448">
                <a:moveTo>
                  <a:pt x="20991" y="0"/>
                </a:moveTo>
                <a:lnTo>
                  <a:pt x="20991" y="0"/>
                </a:lnTo>
                <a:lnTo>
                  <a:pt x="20991" y="1224448"/>
                </a:lnTo>
                <a:lnTo>
                  <a:pt x="20991" y="1224448"/>
                </a:lnTo>
                <a:cubicBezTo>
                  <a:pt x="9398" y="1224448"/>
                  <a:pt x="0" y="1215050"/>
                  <a:pt x="0" y="1203457"/>
                </a:cubicBezTo>
                <a:lnTo>
                  <a:pt x="0" y="20991"/>
                </a:lnTo>
                <a:cubicBezTo>
                  <a:pt x="0" y="9406"/>
                  <a:pt x="9406" y="0"/>
                  <a:pt x="20991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34" name="Shape 31"/>
          <p:cNvSpPr/>
          <p:nvPr/>
        </p:nvSpPr>
        <p:spPr>
          <a:xfrm>
            <a:off x="6558670" y="4529846"/>
            <a:ext cx="157429" cy="209896"/>
          </a:xfrm>
          <a:custGeom>
            <a:avLst/>
            <a:gdLst/>
            <a:ahLst/>
            <a:cxnLst/>
            <a:rect l="l" t="t" r="r" b="b"/>
            <a:pathLst>
              <a:path w="157429" h="157429">
                <a:moveTo>
                  <a:pt x="71489" y="1599"/>
                </a:moveTo>
                <a:cubicBezTo>
                  <a:pt x="76070" y="-523"/>
                  <a:pt x="81359" y="-523"/>
                  <a:pt x="85940" y="1599"/>
                </a:cubicBezTo>
                <a:lnTo>
                  <a:pt x="153155" y="32654"/>
                </a:lnTo>
                <a:cubicBezTo>
                  <a:pt x="155769" y="33853"/>
                  <a:pt x="157429" y="36467"/>
                  <a:pt x="157429" y="39357"/>
                </a:cubicBezTo>
                <a:cubicBezTo>
                  <a:pt x="157429" y="42248"/>
                  <a:pt x="155769" y="44861"/>
                  <a:pt x="153155" y="46060"/>
                </a:cubicBezTo>
                <a:lnTo>
                  <a:pt x="85940" y="77116"/>
                </a:lnTo>
                <a:cubicBezTo>
                  <a:pt x="81359" y="79237"/>
                  <a:pt x="76070" y="79237"/>
                  <a:pt x="71489" y="77116"/>
                </a:cubicBezTo>
                <a:lnTo>
                  <a:pt x="4274" y="46060"/>
                </a:lnTo>
                <a:cubicBezTo>
                  <a:pt x="1660" y="44830"/>
                  <a:pt x="0" y="42217"/>
                  <a:pt x="0" y="39357"/>
                </a:cubicBezTo>
                <a:cubicBezTo>
                  <a:pt x="0" y="36498"/>
                  <a:pt x="1660" y="33853"/>
                  <a:pt x="4274" y="32654"/>
                </a:cubicBezTo>
                <a:lnTo>
                  <a:pt x="71489" y="1599"/>
                </a:lnTo>
                <a:close/>
                <a:moveTo>
                  <a:pt x="14790" y="67153"/>
                </a:moveTo>
                <a:lnTo>
                  <a:pt x="65308" y="90491"/>
                </a:lnTo>
                <a:cubicBezTo>
                  <a:pt x="73826" y="94427"/>
                  <a:pt x="83634" y="94427"/>
                  <a:pt x="92151" y="90491"/>
                </a:cubicBezTo>
                <a:lnTo>
                  <a:pt x="142670" y="67153"/>
                </a:lnTo>
                <a:lnTo>
                  <a:pt x="153155" y="72011"/>
                </a:lnTo>
                <a:cubicBezTo>
                  <a:pt x="155769" y="73211"/>
                  <a:pt x="157429" y="75824"/>
                  <a:pt x="157429" y="78714"/>
                </a:cubicBezTo>
                <a:cubicBezTo>
                  <a:pt x="157429" y="81605"/>
                  <a:pt x="155769" y="84218"/>
                  <a:pt x="153155" y="85418"/>
                </a:cubicBezTo>
                <a:lnTo>
                  <a:pt x="85940" y="116473"/>
                </a:lnTo>
                <a:cubicBezTo>
                  <a:pt x="81359" y="118594"/>
                  <a:pt x="76070" y="118594"/>
                  <a:pt x="71489" y="116473"/>
                </a:cubicBezTo>
                <a:lnTo>
                  <a:pt x="4274" y="85418"/>
                </a:lnTo>
                <a:cubicBezTo>
                  <a:pt x="1660" y="84188"/>
                  <a:pt x="0" y="81574"/>
                  <a:pt x="0" y="78714"/>
                </a:cubicBezTo>
                <a:cubicBezTo>
                  <a:pt x="0" y="75855"/>
                  <a:pt x="1660" y="73211"/>
                  <a:pt x="4274" y="72011"/>
                </a:cubicBezTo>
                <a:lnTo>
                  <a:pt x="14759" y="67153"/>
                </a:lnTo>
                <a:close/>
                <a:moveTo>
                  <a:pt x="4274" y="111369"/>
                </a:moveTo>
                <a:lnTo>
                  <a:pt x="14759" y="106511"/>
                </a:lnTo>
                <a:lnTo>
                  <a:pt x="65278" y="129848"/>
                </a:lnTo>
                <a:cubicBezTo>
                  <a:pt x="73795" y="133784"/>
                  <a:pt x="83603" y="133784"/>
                  <a:pt x="92121" y="129848"/>
                </a:cubicBezTo>
                <a:lnTo>
                  <a:pt x="142639" y="106511"/>
                </a:lnTo>
                <a:lnTo>
                  <a:pt x="153124" y="111369"/>
                </a:lnTo>
                <a:cubicBezTo>
                  <a:pt x="155738" y="112568"/>
                  <a:pt x="157398" y="115181"/>
                  <a:pt x="157398" y="118072"/>
                </a:cubicBezTo>
                <a:cubicBezTo>
                  <a:pt x="157398" y="120962"/>
                  <a:pt x="155738" y="123576"/>
                  <a:pt x="153124" y="124775"/>
                </a:cubicBezTo>
                <a:lnTo>
                  <a:pt x="85909" y="155830"/>
                </a:lnTo>
                <a:cubicBezTo>
                  <a:pt x="81328" y="157952"/>
                  <a:pt x="76039" y="157952"/>
                  <a:pt x="71458" y="155830"/>
                </a:cubicBezTo>
                <a:lnTo>
                  <a:pt x="4274" y="124775"/>
                </a:lnTo>
                <a:cubicBezTo>
                  <a:pt x="1660" y="123545"/>
                  <a:pt x="0" y="120931"/>
                  <a:pt x="0" y="118072"/>
                </a:cubicBezTo>
                <a:cubicBezTo>
                  <a:pt x="0" y="115212"/>
                  <a:pt x="1660" y="112568"/>
                  <a:pt x="4274" y="111369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35" name="Text 32"/>
          <p:cNvSpPr/>
          <p:nvPr/>
        </p:nvSpPr>
        <p:spPr>
          <a:xfrm>
            <a:off x="6786149" y="4494861"/>
            <a:ext cx="4849606" cy="326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Nginx层防护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6545551" y="5129000"/>
            <a:ext cx="5090204" cy="279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</a:t>
            </a:r>
            <a:r>
              <a:rPr lang="en-US" sz="1600" b="1" dirty="0" err="1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本地缓存：</a:t>
            </a:r>
            <a:r>
              <a:rPr lang="en-US" sz="1600" dirty="0" err="1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Lua脚本</a:t>
            </a:r>
            <a:r>
              <a:rPr lang="zh-CN" alt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配合</a:t>
            </a:r>
            <a:r>
              <a:rPr lang="en-US" altLang="zh-CN" sz="1600" dirty="0" err="1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nginx</a:t>
            </a:r>
            <a:r>
              <a:rPr lang="en-US" sz="1600" dirty="0" err="1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缓存热点数据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6545551" y="5467233"/>
            <a:ext cx="5090204" cy="279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</a:t>
            </a: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流量拦截：</a:t>
            </a: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将绝大多数请求拦截在最外层</a:t>
            </a:r>
            <a:endParaRPr lang="en-US" sz="2400" dirty="0"/>
          </a:p>
        </p:txBody>
      </p:sp>
      <p:sp>
        <p:nvSpPr>
          <p:cNvPr id="45" name="Text 42"/>
          <p:cNvSpPr/>
          <p:nvPr/>
        </p:nvSpPr>
        <p:spPr>
          <a:xfrm>
            <a:off x="6455466" y="5203808"/>
            <a:ext cx="5090204" cy="209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F4F11DE-96F8-FD10-5F5A-8388E27FC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866" y="869429"/>
            <a:ext cx="5907335" cy="276705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45872" y="449634"/>
            <a:ext cx="553396" cy="34587"/>
          </a:xfrm>
          <a:custGeom>
            <a:avLst/>
            <a:gdLst/>
            <a:ahLst/>
            <a:cxnLst/>
            <a:rect l="l" t="t" r="r" b="b"/>
            <a:pathLst>
              <a:path w="553396" h="34587">
                <a:moveTo>
                  <a:pt x="0" y="0"/>
                </a:moveTo>
                <a:lnTo>
                  <a:pt x="553396" y="0"/>
                </a:lnTo>
                <a:lnTo>
                  <a:pt x="553396" y="34587"/>
                </a:lnTo>
                <a:lnTo>
                  <a:pt x="0" y="34587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4" name="Text 1"/>
          <p:cNvSpPr/>
          <p:nvPr/>
        </p:nvSpPr>
        <p:spPr>
          <a:xfrm>
            <a:off x="1037617" y="345872"/>
            <a:ext cx="2213583" cy="242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5" b="1" kern="0" spc="6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04-3 · PROBLEM SOLVING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5872" y="760919"/>
            <a:ext cx="5802009" cy="3891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5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问题三：分布式事务选型与性能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5872" y="1253787"/>
            <a:ext cx="5732834" cy="242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如何平衡一致性与性能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3166" y="1605383"/>
            <a:ext cx="5629072" cy="2628520"/>
          </a:xfrm>
          <a:custGeom>
            <a:avLst/>
            <a:gdLst/>
            <a:ahLst/>
            <a:cxnLst/>
            <a:rect l="l" t="t" r="r" b="b"/>
            <a:pathLst>
              <a:path w="5629072" h="3182026">
                <a:moveTo>
                  <a:pt x="34587" y="0"/>
                </a:moveTo>
                <a:lnTo>
                  <a:pt x="5525306" y="0"/>
                </a:lnTo>
                <a:cubicBezTo>
                  <a:pt x="5582615" y="0"/>
                  <a:pt x="5629072" y="46458"/>
                  <a:pt x="5629072" y="103766"/>
                </a:cubicBezTo>
                <a:lnTo>
                  <a:pt x="5629072" y="3078260"/>
                </a:lnTo>
                <a:cubicBezTo>
                  <a:pt x="5629072" y="3135568"/>
                  <a:pt x="5582615" y="3182026"/>
                  <a:pt x="5525306" y="3182026"/>
                </a:cubicBezTo>
                <a:lnTo>
                  <a:pt x="34587" y="3182026"/>
                </a:lnTo>
                <a:cubicBezTo>
                  <a:pt x="15485" y="3182026"/>
                  <a:pt x="0" y="3166540"/>
                  <a:pt x="0" y="3147438"/>
                </a:cubicBezTo>
                <a:lnTo>
                  <a:pt x="0" y="34587"/>
                </a:lnTo>
                <a:cubicBezTo>
                  <a:pt x="0" y="15485"/>
                  <a:pt x="15485" y="0"/>
                  <a:pt x="34587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8" name="Shape 5"/>
          <p:cNvSpPr/>
          <p:nvPr/>
        </p:nvSpPr>
        <p:spPr>
          <a:xfrm>
            <a:off x="352034" y="1605383"/>
            <a:ext cx="45719" cy="2628520"/>
          </a:xfrm>
          <a:custGeom>
            <a:avLst/>
            <a:gdLst/>
            <a:ahLst/>
            <a:cxnLst/>
            <a:rect l="l" t="t" r="r" b="b"/>
            <a:pathLst>
              <a:path w="34587" h="3182026">
                <a:moveTo>
                  <a:pt x="34587" y="0"/>
                </a:moveTo>
                <a:lnTo>
                  <a:pt x="34587" y="0"/>
                </a:lnTo>
                <a:lnTo>
                  <a:pt x="34587" y="3182026"/>
                </a:lnTo>
                <a:lnTo>
                  <a:pt x="34587" y="3182026"/>
                </a:lnTo>
                <a:cubicBezTo>
                  <a:pt x="15485" y="3182026"/>
                  <a:pt x="0" y="3166540"/>
                  <a:pt x="0" y="3147438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9" name="Text 6"/>
          <p:cNvSpPr/>
          <p:nvPr/>
        </p:nvSpPr>
        <p:spPr>
          <a:xfrm>
            <a:off x="553396" y="1892568"/>
            <a:ext cx="5369668" cy="276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5" b="1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选型困境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63772" y="2272918"/>
            <a:ext cx="5250342" cy="1763949"/>
          </a:xfrm>
          <a:custGeom>
            <a:avLst/>
            <a:gdLst/>
            <a:ahLst/>
            <a:cxnLst/>
            <a:rect l="l" t="t" r="r" b="b"/>
            <a:pathLst>
              <a:path w="5250342" h="1763949">
                <a:moveTo>
                  <a:pt x="20752" y="0"/>
                </a:moveTo>
                <a:lnTo>
                  <a:pt x="5181160" y="0"/>
                </a:lnTo>
                <a:cubicBezTo>
                  <a:pt x="5219368" y="0"/>
                  <a:pt x="5250342" y="30974"/>
                  <a:pt x="5250342" y="69182"/>
                </a:cubicBezTo>
                <a:lnTo>
                  <a:pt x="5250342" y="1694767"/>
                </a:lnTo>
                <a:cubicBezTo>
                  <a:pt x="5250342" y="1732975"/>
                  <a:pt x="5219368" y="1763949"/>
                  <a:pt x="5181160" y="1763949"/>
                </a:cubicBezTo>
                <a:lnTo>
                  <a:pt x="20752" y="1763949"/>
                </a:lnTo>
                <a:cubicBezTo>
                  <a:pt x="9291" y="1763949"/>
                  <a:pt x="0" y="1754658"/>
                  <a:pt x="0" y="1743197"/>
                </a:cubicBezTo>
                <a:lnTo>
                  <a:pt x="0" y="20752"/>
                </a:lnTo>
                <a:cubicBezTo>
                  <a:pt x="0" y="9299"/>
                  <a:pt x="9299" y="0"/>
                  <a:pt x="20752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563772" y="2272918"/>
            <a:ext cx="20752" cy="1763949"/>
          </a:xfrm>
          <a:custGeom>
            <a:avLst/>
            <a:gdLst/>
            <a:ahLst/>
            <a:cxnLst/>
            <a:rect l="l" t="t" r="r" b="b"/>
            <a:pathLst>
              <a:path w="20752" h="1763949">
                <a:moveTo>
                  <a:pt x="20752" y="0"/>
                </a:moveTo>
                <a:lnTo>
                  <a:pt x="20752" y="0"/>
                </a:lnTo>
                <a:lnTo>
                  <a:pt x="20752" y="1763949"/>
                </a:lnTo>
                <a:lnTo>
                  <a:pt x="20752" y="1763949"/>
                </a:lnTo>
                <a:cubicBezTo>
                  <a:pt x="9291" y="1763949"/>
                  <a:pt x="0" y="1754658"/>
                  <a:pt x="0" y="1743197"/>
                </a:cubicBezTo>
                <a:lnTo>
                  <a:pt x="0" y="20752"/>
                </a:lnTo>
                <a:cubicBezTo>
                  <a:pt x="0" y="9299"/>
                  <a:pt x="9299" y="0"/>
                  <a:pt x="20752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12" name="Shape 9"/>
          <p:cNvSpPr/>
          <p:nvPr/>
        </p:nvSpPr>
        <p:spPr>
          <a:xfrm>
            <a:off x="680072" y="2411267"/>
            <a:ext cx="194553" cy="155643"/>
          </a:xfrm>
          <a:custGeom>
            <a:avLst/>
            <a:gdLst/>
            <a:ahLst/>
            <a:cxnLst/>
            <a:rect l="l" t="t" r="r" b="b"/>
            <a:pathLst>
              <a:path w="194553" h="155643">
                <a:moveTo>
                  <a:pt x="116732" y="9728"/>
                </a:moveTo>
                <a:lnTo>
                  <a:pt x="155643" y="9728"/>
                </a:lnTo>
                <a:cubicBezTo>
                  <a:pt x="161023" y="9728"/>
                  <a:pt x="165370" y="14075"/>
                  <a:pt x="165370" y="19455"/>
                </a:cubicBezTo>
                <a:cubicBezTo>
                  <a:pt x="165370" y="24836"/>
                  <a:pt x="161023" y="29183"/>
                  <a:pt x="155643" y="29183"/>
                </a:cubicBezTo>
                <a:lnTo>
                  <a:pt x="121109" y="29183"/>
                </a:lnTo>
                <a:cubicBezTo>
                  <a:pt x="119529" y="37026"/>
                  <a:pt x="114148" y="43501"/>
                  <a:pt x="107004" y="46602"/>
                </a:cubicBezTo>
                <a:lnTo>
                  <a:pt x="107004" y="136187"/>
                </a:lnTo>
                <a:lnTo>
                  <a:pt x="155643" y="136187"/>
                </a:lnTo>
                <a:cubicBezTo>
                  <a:pt x="161023" y="136187"/>
                  <a:pt x="165370" y="140534"/>
                  <a:pt x="165370" y="145915"/>
                </a:cubicBezTo>
                <a:cubicBezTo>
                  <a:pt x="165370" y="151296"/>
                  <a:pt x="161023" y="155643"/>
                  <a:pt x="155643" y="155643"/>
                </a:cubicBezTo>
                <a:lnTo>
                  <a:pt x="38911" y="155643"/>
                </a:lnTo>
                <a:cubicBezTo>
                  <a:pt x="33530" y="155643"/>
                  <a:pt x="29183" y="151296"/>
                  <a:pt x="29183" y="145915"/>
                </a:cubicBezTo>
                <a:cubicBezTo>
                  <a:pt x="29183" y="140534"/>
                  <a:pt x="33530" y="136187"/>
                  <a:pt x="38911" y="136187"/>
                </a:cubicBezTo>
                <a:lnTo>
                  <a:pt x="87549" y="136187"/>
                </a:lnTo>
                <a:lnTo>
                  <a:pt x="87549" y="46602"/>
                </a:lnTo>
                <a:cubicBezTo>
                  <a:pt x="80405" y="43470"/>
                  <a:pt x="75025" y="36996"/>
                  <a:pt x="73444" y="29183"/>
                </a:cubicBezTo>
                <a:lnTo>
                  <a:pt x="38911" y="29183"/>
                </a:lnTo>
                <a:cubicBezTo>
                  <a:pt x="33530" y="29183"/>
                  <a:pt x="29183" y="24836"/>
                  <a:pt x="29183" y="19455"/>
                </a:cubicBezTo>
                <a:cubicBezTo>
                  <a:pt x="29183" y="14075"/>
                  <a:pt x="33530" y="9728"/>
                  <a:pt x="38911" y="9728"/>
                </a:cubicBezTo>
                <a:lnTo>
                  <a:pt x="77821" y="9728"/>
                </a:lnTo>
                <a:cubicBezTo>
                  <a:pt x="82260" y="3830"/>
                  <a:pt x="89312" y="0"/>
                  <a:pt x="97277" y="0"/>
                </a:cubicBezTo>
                <a:cubicBezTo>
                  <a:pt x="105241" y="0"/>
                  <a:pt x="112294" y="3830"/>
                  <a:pt x="116732" y="9728"/>
                </a:cubicBezTo>
                <a:close/>
                <a:moveTo>
                  <a:pt x="133634" y="97277"/>
                </a:moveTo>
                <a:lnTo>
                  <a:pt x="177651" y="97277"/>
                </a:lnTo>
                <a:lnTo>
                  <a:pt x="155643" y="59521"/>
                </a:lnTo>
                <a:lnTo>
                  <a:pt x="133634" y="97277"/>
                </a:lnTo>
                <a:close/>
                <a:moveTo>
                  <a:pt x="155643" y="126460"/>
                </a:moveTo>
                <a:cubicBezTo>
                  <a:pt x="136522" y="126460"/>
                  <a:pt x="120623" y="116124"/>
                  <a:pt x="117340" y="102475"/>
                </a:cubicBezTo>
                <a:cubicBezTo>
                  <a:pt x="116550" y="99131"/>
                  <a:pt x="117644" y="95696"/>
                  <a:pt x="119377" y="92717"/>
                </a:cubicBezTo>
                <a:lnTo>
                  <a:pt x="148316" y="43106"/>
                </a:lnTo>
                <a:cubicBezTo>
                  <a:pt x="149836" y="40491"/>
                  <a:pt x="152633" y="38911"/>
                  <a:pt x="155643" y="38911"/>
                </a:cubicBezTo>
                <a:cubicBezTo>
                  <a:pt x="158652" y="38911"/>
                  <a:pt x="161449" y="40522"/>
                  <a:pt x="162969" y="43106"/>
                </a:cubicBezTo>
                <a:lnTo>
                  <a:pt x="191908" y="92717"/>
                </a:lnTo>
                <a:cubicBezTo>
                  <a:pt x="193641" y="95696"/>
                  <a:pt x="194736" y="99131"/>
                  <a:pt x="193945" y="102475"/>
                </a:cubicBezTo>
                <a:cubicBezTo>
                  <a:pt x="190662" y="116094"/>
                  <a:pt x="174763" y="126460"/>
                  <a:pt x="155643" y="126460"/>
                </a:cubicBezTo>
                <a:close/>
                <a:moveTo>
                  <a:pt x="38546" y="59521"/>
                </a:moveTo>
                <a:lnTo>
                  <a:pt x="16537" y="97277"/>
                </a:lnTo>
                <a:lnTo>
                  <a:pt x="60585" y="97277"/>
                </a:lnTo>
                <a:lnTo>
                  <a:pt x="38546" y="59521"/>
                </a:lnTo>
                <a:close/>
                <a:moveTo>
                  <a:pt x="274" y="102475"/>
                </a:moveTo>
                <a:cubicBezTo>
                  <a:pt x="-517" y="99131"/>
                  <a:pt x="578" y="95696"/>
                  <a:pt x="2310" y="92717"/>
                </a:cubicBezTo>
                <a:lnTo>
                  <a:pt x="31250" y="43106"/>
                </a:lnTo>
                <a:cubicBezTo>
                  <a:pt x="32770" y="40491"/>
                  <a:pt x="35567" y="38911"/>
                  <a:pt x="38576" y="38911"/>
                </a:cubicBezTo>
                <a:cubicBezTo>
                  <a:pt x="41586" y="38911"/>
                  <a:pt x="44382" y="40522"/>
                  <a:pt x="45902" y="43106"/>
                </a:cubicBezTo>
                <a:lnTo>
                  <a:pt x="74842" y="92717"/>
                </a:lnTo>
                <a:cubicBezTo>
                  <a:pt x="76575" y="95696"/>
                  <a:pt x="77669" y="99131"/>
                  <a:pt x="76879" y="102475"/>
                </a:cubicBezTo>
                <a:cubicBezTo>
                  <a:pt x="73596" y="116094"/>
                  <a:pt x="57697" y="126460"/>
                  <a:pt x="38576" y="126460"/>
                </a:cubicBezTo>
                <a:cubicBezTo>
                  <a:pt x="19455" y="126460"/>
                  <a:pt x="3557" y="116124"/>
                  <a:pt x="274" y="102475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13" name="Text 10"/>
          <p:cNvSpPr/>
          <p:nvPr/>
        </p:nvSpPr>
        <p:spPr>
          <a:xfrm>
            <a:off x="923884" y="2376680"/>
            <a:ext cx="4864290" cy="242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5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一致性与性能的权衡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7910" y="2687965"/>
            <a:ext cx="5101617" cy="4496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下单流程涉及多个服务，强一致性（如XA）性能差，最终一致性（如消息）开发复杂度高。需要根据不同业务特点选择合适的事务模式。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7910" y="3206773"/>
            <a:ext cx="2481634" cy="726332"/>
          </a:xfrm>
          <a:custGeom>
            <a:avLst/>
            <a:gdLst/>
            <a:ahLst/>
            <a:cxnLst/>
            <a:rect l="l" t="t" r="r" b="b"/>
            <a:pathLst>
              <a:path w="2481634" h="726332">
                <a:moveTo>
                  <a:pt x="34588" y="0"/>
                </a:moveTo>
                <a:lnTo>
                  <a:pt x="2447046" y="0"/>
                </a:lnTo>
                <a:cubicBezTo>
                  <a:pt x="2466149" y="0"/>
                  <a:pt x="2481634" y="15486"/>
                  <a:pt x="2481634" y="34588"/>
                </a:cubicBezTo>
                <a:lnTo>
                  <a:pt x="2481634" y="691744"/>
                </a:lnTo>
                <a:cubicBezTo>
                  <a:pt x="2481634" y="710846"/>
                  <a:pt x="2466149" y="726332"/>
                  <a:pt x="2447046" y="726332"/>
                </a:cubicBezTo>
                <a:lnTo>
                  <a:pt x="34588" y="726332"/>
                </a:lnTo>
                <a:cubicBezTo>
                  <a:pt x="15486" y="726332"/>
                  <a:pt x="0" y="710846"/>
                  <a:pt x="0" y="691744"/>
                </a:cubicBezTo>
                <a:lnTo>
                  <a:pt x="0" y="34588"/>
                </a:lnTo>
                <a:cubicBezTo>
                  <a:pt x="0" y="15498"/>
                  <a:pt x="15498" y="0"/>
                  <a:pt x="34588" y="0"/>
                </a:cubicBezTo>
                <a:close/>
              </a:path>
            </a:pathLst>
          </a:custGeom>
          <a:solidFill>
            <a:srgbClr val="F6AD55">
              <a:alpha val="10196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716820" y="3275948"/>
            <a:ext cx="2403813" cy="172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XA模式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3850" y="3448884"/>
            <a:ext cx="2429753" cy="242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0" b="1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强一致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16820" y="3690995"/>
            <a:ext cx="2403813" cy="172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性能差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230772" y="3206773"/>
            <a:ext cx="2481634" cy="726332"/>
          </a:xfrm>
          <a:custGeom>
            <a:avLst/>
            <a:gdLst/>
            <a:ahLst/>
            <a:cxnLst/>
            <a:rect l="l" t="t" r="r" b="b"/>
            <a:pathLst>
              <a:path w="2481634" h="726332">
                <a:moveTo>
                  <a:pt x="34588" y="0"/>
                </a:moveTo>
                <a:lnTo>
                  <a:pt x="2447046" y="0"/>
                </a:lnTo>
                <a:cubicBezTo>
                  <a:pt x="2466149" y="0"/>
                  <a:pt x="2481634" y="15486"/>
                  <a:pt x="2481634" y="34588"/>
                </a:cubicBezTo>
                <a:lnTo>
                  <a:pt x="2481634" y="691744"/>
                </a:lnTo>
                <a:cubicBezTo>
                  <a:pt x="2481634" y="710846"/>
                  <a:pt x="2466149" y="726332"/>
                  <a:pt x="2447046" y="726332"/>
                </a:cubicBezTo>
                <a:lnTo>
                  <a:pt x="34588" y="726332"/>
                </a:lnTo>
                <a:cubicBezTo>
                  <a:pt x="15486" y="726332"/>
                  <a:pt x="0" y="710846"/>
                  <a:pt x="0" y="691744"/>
                </a:cubicBezTo>
                <a:lnTo>
                  <a:pt x="0" y="34588"/>
                </a:lnTo>
                <a:cubicBezTo>
                  <a:pt x="0" y="15498"/>
                  <a:pt x="15498" y="0"/>
                  <a:pt x="34588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3269683" y="3275948"/>
            <a:ext cx="2403813" cy="172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消息队列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256712" y="3448884"/>
            <a:ext cx="2429753" cy="242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0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高性能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269683" y="3690995"/>
            <a:ext cx="2403813" cy="172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复杂度高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6198789" y="1628080"/>
            <a:ext cx="5629072" cy="3062792"/>
          </a:xfrm>
          <a:custGeom>
            <a:avLst/>
            <a:gdLst/>
            <a:ahLst/>
            <a:cxnLst/>
            <a:rect l="l" t="t" r="r" b="b"/>
            <a:pathLst>
              <a:path w="5629072" h="4020766">
                <a:moveTo>
                  <a:pt x="34587" y="0"/>
                </a:moveTo>
                <a:lnTo>
                  <a:pt x="5525296" y="0"/>
                </a:lnTo>
                <a:cubicBezTo>
                  <a:pt x="5582610" y="0"/>
                  <a:pt x="5629072" y="46462"/>
                  <a:pt x="5629072" y="103776"/>
                </a:cubicBezTo>
                <a:lnTo>
                  <a:pt x="5629072" y="3916990"/>
                </a:lnTo>
                <a:cubicBezTo>
                  <a:pt x="5629072" y="3974304"/>
                  <a:pt x="5582610" y="4020766"/>
                  <a:pt x="5525296" y="4020766"/>
                </a:cubicBezTo>
                <a:lnTo>
                  <a:pt x="34587" y="4020766"/>
                </a:lnTo>
                <a:cubicBezTo>
                  <a:pt x="15485" y="4020766"/>
                  <a:pt x="0" y="4005281"/>
                  <a:pt x="0" y="3986179"/>
                </a:cubicBezTo>
                <a:lnTo>
                  <a:pt x="0" y="34587"/>
                </a:lnTo>
                <a:cubicBezTo>
                  <a:pt x="0" y="15485"/>
                  <a:pt x="15485" y="0"/>
                  <a:pt x="34587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27" name="Shape 23"/>
          <p:cNvSpPr/>
          <p:nvPr/>
        </p:nvSpPr>
        <p:spPr>
          <a:xfrm>
            <a:off x="6216299" y="1628080"/>
            <a:ext cx="45719" cy="3062792"/>
          </a:xfrm>
          <a:custGeom>
            <a:avLst/>
            <a:gdLst/>
            <a:ahLst/>
            <a:cxnLst/>
            <a:rect l="l" t="t" r="r" b="b"/>
            <a:pathLst>
              <a:path w="34587" h="4020766">
                <a:moveTo>
                  <a:pt x="34587" y="0"/>
                </a:moveTo>
                <a:lnTo>
                  <a:pt x="34587" y="0"/>
                </a:lnTo>
                <a:lnTo>
                  <a:pt x="34587" y="4020766"/>
                </a:lnTo>
                <a:lnTo>
                  <a:pt x="34587" y="4020766"/>
                </a:lnTo>
                <a:cubicBezTo>
                  <a:pt x="15485" y="4020766"/>
                  <a:pt x="0" y="4005281"/>
                  <a:pt x="0" y="3986179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28" name="Text 24"/>
          <p:cNvSpPr/>
          <p:nvPr/>
        </p:nvSpPr>
        <p:spPr>
          <a:xfrm>
            <a:off x="6389018" y="1723086"/>
            <a:ext cx="5369668" cy="276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混合策略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399395" y="2103436"/>
            <a:ext cx="5250342" cy="1210553"/>
          </a:xfrm>
          <a:custGeom>
            <a:avLst/>
            <a:gdLst/>
            <a:ahLst/>
            <a:cxnLst/>
            <a:rect l="l" t="t" r="r" b="b"/>
            <a:pathLst>
              <a:path w="5250342" h="1210553">
                <a:moveTo>
                  <a:pt x="20752" y="0"/>
                </a:moveTo>
                <a:lnTo>
                  <a:pt x="5181171" y="0"/>
                </a:lnTo>
                <a:cubicBezTo>
                  <a:pt x="5219348" y="0"/>
                  <a:pt x="5250342" y="30994"/>
                  <a:pt x="5250342" y="69171"/>
                </a:cubicBezTo>
                <a:lnTo>
                  <a:pt x="5250342" y="1141382"/>
                </a:lnTo>
                <a:cubicBezTo>
                  <a:pt x="5250342" y="1179559"/>
                  <a:pt x="5219348" y="1210553"/>
                  <a:pt x="5181171" y="1210553"/>
                </a:cubicBezTo>
                <a:lnTo>
                  <a:pt x="20752" y="1210553"/>
                </a:lnTo>
                <a:cubicBezTo>
                  <a:pt x="9291" y="1210553"/>
                  <a:pt x="0" y="1201262"/>
                  <a:pt x="0" y="1189801"/>
                </a:cubicBezTo>
                <a:lnTo>
                  <a:pt x="0" y="20752"/>
                </a:lnTo>
                <a:cubicBezTo>
                  <a:pt x="0" y="9299"/>
                  <a:pt x="9299" y="0"/>
                  <a:pt x="20752" y="0"/>
                </a:cubicBezTo>
                <a:close/>
              </a:path>
            </a:pathLst>
          </a:custGeom>
          <a:solidFill>
            <a:srgbClr val="4FD1C5">
              <a:alpha val="5098"/>
            </a:srgbClr>
          </a:solidFill>
        </p:spPr>
      </p:sp>
      <p:sp>
        <p:nvSpPr>
          <p:cNvPr id="30" name="Shape 26"/>
          <p:cNvSpPr/>
          <p:nvPr/>
        </p:nvSpPr>
        <p:spPr>
          <a:xfrm>
            <a:off x="6399395" y="2103436"/>
            <a:ext cx="58798" cy="1210553"/>
          </a:xfrm>
          <a:custGeom>
            <a:avLst/>
            <a:gdLst/>
            <a:ahLst/>
            <a:cxnLst/>
            <a:rect l="l" t="t" r="r" b="b"/>
            <a:pathLst>
              <a:path w="20752" h="1210553">
                <a:moveTo>
                  <a:pt x="20752" y="0"/>
                </a:moveTo>
                <a:lnTo>
                  <a:pt x="20752" y="0"/>
                </a:lnTo>
                <a:lnTo>
                  <a:pt x="20752" y="1210553"/>
                </a:lnTo>
                <a:lnTo>
                  <a:pt x="20752" y="1210553"/>
                </a:lnTo>
                <a:cubicBezTo>
                  <a:pt x="9291" y="1210553"/>
                  <a:pt x="0" y="1201262"/>
                  <a:pt x="0" y="1189801"/>
                </a:cubicBezTo>
                <a:lnTo>
                  <a:pt x="0" y="20752"/>
                </a:lnTo>
                <a:cubicBezTo>
                  <a:pt x="0" y="9299"/>
                  <a:pt x="9299" y="0"/>
                  <a:pt x="20752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31" name="Shape 27"/>
          <p:cNvSpPr/>
          <p:nvPr/>
        </p:nvSpPr>
        <p:spPr>
          <a:xfrm>
            <a:off x="6544877" y="2241785"/>
            <a:ext cx="136187" cy="155643"/>
          </a:xfrm>
          <a:custGeom>
            <a:avLst/>
            <a:gdLst/>
            <a:ahLst/>
            <a:cxnLst/>
            <a:rect l="l" t="t" r="r" b="b"/>
            <a:pathLst>
              <a:path w="136187" h="155643">
                <a:moveTo>
                  <a:pt x="102992" y="-3009"/>
                </a:moveTo>
                <a:cubicBezTo>
                  <a:pt x="106609" y="-395"/>
                  <a:pt x="107947" y="4347"/>
                  <a:pt x="106305" y="8481"/>
                </a:cubicBezTo>
                <a:lnTo>
                  <a:pt x="82472" y="68094"/>
                </a:lnTo>
                <a:lnTo>
                  <a:pt x="126460" y="68094"/>
                </a:lnTo>
                <a:cubicBezTo>
                  <a:pt x="130563" y="68094"/>
                  <a:pt x="134211" y="70647"/>
                  <a:pt x="135610" y="74508"/>
                </a:cubicBezTo>
                <a:cubicBezTo>
                  <a:pt x="137008" y="78368"/>
                  <a:pt x="135822" y="82685"/>
                  <a:pt x="132691" y="85299"/>
                </a:cubicBezTo>
                <a:lnTo>
                  <a:pt x="45142" y="158257"/>
                </a:lnTo>
                <a:cubicBezTo>
                  <a:pt x="41707" y="161114"/>
                  <a:pt x="36813" y="161266"/>
                  <a:pt x="33196" y="158652"/>
                </a:cubicBezTo>
                <a:cubicBezTo>
                  <a:pt x="29578" y="156038"/>
                  <a:pt x="28241" y="151296"/>
                  <a:pt x="29882" y="147161"/>
                </a:cubicBezTo>
                <a:lnTo>
                  <a:pt x="53715" y="87549"/>
                </a:lnTo>
                <a:lnTo>
                  <a:pt x="9728" y="87549"/>
                </a:lnTo>
                <a:cubicBezTo>
                  <a:pt x="5624" y="87549"/>
                  <a:pt x="1976" y="84995"/>
                  <a:pt x="578" y="81135"/>
                </a:cubicBezTo>
                <a:cubicBezTo>
                  <a:pt x="-821" y="77274"/>
                  <a:pt x="365" y="72957"/>
                  <a:pt x="3496" y="70343"/>
                </a:cubicBezTo>
                <a:lnTo>
                  <a:pt x="91045" y="-2614"/>
                </a:lnTo>
                <a:cubicBezTo>
                  <a:pt x="94480" y="-5472"/>
                  <a:pt x="99374" y="-5624"/>
                  <a:pt x="102992" y="-3009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32" name="Text 28"/>
          <p:cNvSpPr/>
          <p:nvPr/>
        </p:nvSpPr>
        <p:spPr>
          <a:xfrm>
            <a:off x="6759507" y="2207198"/>
            <a:ext cx="4864290" cy="242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AT模式 - 核心链路</a:t>
            </a:r>
            <a:endParaRPr lang="en-US" sz="2400" dirty="0"/>
          </a:p>
        </p:txBody>
      </p:sp>
      <p:sp>
        <p:nvSpPr>
          <p:cNvPr id="33" name="Text 29"/>
          <p:cNvSpPr/>
          <p:nvPr/>
        </p:nvSpPr>
        <p:spPr>
          <a:xfrm>
            <a:off x="6513533" y="2587658"/>
            <a:ext cx="5101617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</a:t>
            </a: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场景：</a:t>
            </a: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下单、支付等性能敏感场景</a:t>
            </a:r>
            <a:endParaRPr lang="en-US" sz="2800" dirty="0"/>
          </a:p>
        </p:txBody>
      </p:sp>
      <p:sp>
        <p:nvSpPr>
          <p:cNvPr id="34" name="Text 30"/>
          <p:cNvSpPr/>
          <p:nvPr/>
        </p:nvSpPr>
        <p:spPr>
          <a:xfrm>
            <a:off x="6523043" y="2892130"/>
            <a:ext cx="5101617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</a:t>
            </a: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优势：</a:t>
            </a: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开发简单、性能较好</a:t>
            </a:r>
            <a:endParaRPr lang="en-US" sz="2800" dirty="0"/>
          </a:p>
        </p:txBody>
      </p:sp>
      <p:sp>
        <p:nvSpPr>
          <p:cNvPr id="36" name="Shape 32"/>
          <p:cNvSpPr/>
          <p:nvPr/>
        </p:nvSpPr>
        <p:spPr>
          <a:xfrm>
            <a:off x="6399395" y="3417751"/>
            <a:ext cx="5250342" cy="948335"/>
          </a:xfrm>
          <a:custGeom>
            <a:avLst/>
            <a:gdLst/>
            <a:ahLst/>
            <a:cxnLst/>
            <a:rect l="l" t="t" r="r" b="b"/>
            <a:pathLst>
              <a:path w="5250342" h="1210553">
                <a:moveTo>
                  <a:pt x="20752" y="0"/>
                </a:moveTo>
                <a:lnTo>
                  <a:pt x="5181171" y="0"/>
                </a:lnTo>
                <a:cubicBezTo>
                  <a:pt x="5219348" y="0"/>
                  <a:pt x="5250342" y="30994"/>
                  <a:pt x="5250342" y="69171"/>
                </a:cubicBezTo>
                <a:lnTo>
                  <a:pt x="5250342" y="1141382"/>
                </a:lnTo>
                <a:cubicBezTo>
                  <a:pt x="5250342" y="1179559"/>
                  <a:pt x="5219348" y="1210553"/>
                  <a:pt x="5181171" y="1210553"/>
                </a:cubicBezTo>
                <a:lnTo>
                  <a:pt x="20752" y="1210553"/>
                </a:lnTo>
                <a:cubicBezTo>
                  <a:pt x="9291" y="1210553"/>
                  <a:pt x="0" y="1201262"/>
                  <a:pt x="0" y="1189801"/>
                </a:cubicBezTo>
                <a:lnTo>
                  <a:pt x="0" y="20752"/>
                </a:lnTo>
                <a:cubicBezTo>
                  <a:pt x="0" y="9299"/>
                  <a:pt x="9299" y="0"/>
                  <a:pt x="20752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Shape 33"/>
          <p:cNvSpPr/>
          <p:nvPr/>
        </p:nvSpPr>
        <p:spPr>
          <a:xfrm>
            <a:off x="6399394" y="3417751"/>
            <a:ext cx="67445" cy="948335"/>
          </a:xfrm>
          <a:custGeom>
            <a:avLst/>
            <a:gdLst/>
            <a:ahLst/>
            <a:cxnLst/>
            <a:rect l="l" t="t" r="r" b="b"/>
            <a:pathLst>
              <a:path w="20752" h="1210553">
                <a:moveTo>
                  <a:pt x="20752" y="0"/>
                </a:moveTo>
                <a:lnTo>
                  <a:pt x="20752" y="0"/>
                </a:lnTo>
                <a:lnTo>
                  <a:pt x="20752" y="1210553"/>
                </a:lnTo>
                <a:lnTo>
                  <a:pt x="20752" y="1210553"/>
                </a:lnTo>
                <a:cubicBezTo>
                  <a:pt x="9291" y="1210553"/>
                  <a:pt x="0" y="1201262"/>
                  <a:pt x="0" y="1189801"/>
                </a:cubicBezTo>
                <a:lnTo>
                  <a:pt x="0" y="20752"/>
                </a:lnTo>
                <a:cubicBezTo>
                  <a:pt x="0" y="9299"/>
                  <a:pt x="9299" y="0"/>
                  <a:pt x="20752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38" name="Shape 34"/>
          <p:cNvSpPr/>
          <p:nvPr/>
        </p:nvSpPr>
        <p:spPr>
          <a:xfrm>
            <a:off x="6515694" y="3556100"/>
            <a:ext cx="194553" cy="155643"/>
          </a:xfrm>
          <a:custGeom>
            <a:avLst/>
            <a:gdLst/>
            <a:ahLst/>
            <a:cxnLst/>
            <a:rect l="l" t="t" r="r" b="b"/>
            <a:pathLst>
              <a:path w="194553" h="155643">
                <a:moveTo>
                  <a:pt x="126429" y="63990"/>
                </a:moveTo>
                <a:cubicBezTo>
                  <a:pt x="130138" y="62987"/>
                  <a:pt x="134029" y="64750"/>
                  <a:pt x="135701" y="68185"/>
                </a:cubicBezTo>
                <a:lnTo>
                  <a:pt x="141355" y="79615"/>
                </a:lnTo>
                <a:cubicBezTo>
                  <a:pt x="144486" y="80040"/>
                  <a:pt x="147556" y="80892"/>
                  <a:pt x="150444" y="82077"/>
                </a:cubicBezTo>
                <a:lnTo>
                  <a:pt x="161084" y="74994"/>
                </a:lnTo>
                <a:cubicBezTo>
                  <a:pt x="164276" y="72866"/>
                  <a:pt x="168501" y="73292"/>
                  <a:pt x="171207" y="75997"/>
                </a:cubicBezTo>
                <a:lnTo>
                  <a:pt x="177043" y="81834"/>
                </a:lnTo>
                <a:cubicBezTo>
                  <a:pt x="179749" y="84539"/>
                  <a:pt x="180174" y="88795"/>
                  <a:pt x="178047" y="91957"/>
                </a:cubicBezTo>
                <a:lnTo>
                  <a:pt x="170964" y="102566"/>
                </a:lnTo>
                <a:cubicBezTo>
                  <a:pt x="171541" y="103995"/>
                  <a:pt x="172058" y="105484"/>
                  <a:pt x="172484" y="107035"/>
                </a:cubicBezTo>
                <a:cubicBezTo>
                  <a:pt x="172909" y="108585"/>
                  <a:pt x="173183" y="110105"/>
                  <a:pt x="173396" y="111655"/>
                </a:cubicBezTo>
                <a:lnTo>
                  <a:pt x="184856" y="117309"/>
                </a:lnTo>
                <a:cubicBezTo>
                  <a:pt x="188291" y="119012"/>
                  <a:pt x="190054" y="122903"/>
                  <a:pt x="189051" y="126581"/>
                </a:cubicBezTo>
                <a:lnTo>
                  <a:pt x="186923" y="134546"/>
                </a:lnTo>
                <a:cubicBezTo>
                  <a:pt x="185920" y="138224"/>
                  <a:pt x="182485" y="140717"/>
                  <a:pt x="178655" y="140473"/>
                </a:cubicBezTo>
                <a:lnTo>
                  <a:pt x="165887" y="139653"/>
                </a:lnTo>
                <a:cubicBezTo>
                  <a:pt x="163972" y="142115"/>
                  <a:pt x="161753" y="144395"/>
                  <a:pt x="159230" y="146340"/>
                </a:cubicBezTo>
                <a:lnTo>
                  <a:pt x="160050" y="159078"/>
                </a:lnTo>
                <a:cubicBezTo>
                  <a:pt x="160294" y="162908"/>
                  <a:pt x="157801" y="166373"/>
                  <a:pt x="154123" y="167346"/>
                </a:cubicBezTo>
                <a:lnTo>
                  <a:pt x="146158" y="169474"/>
                </a:lnTo>
                <a:cubicBezTo>
                  <a:pt x="142449" y="170477"/>
                  <a:pt x="138589" y="168714"/>
                  <a:pt x="136886" y="165279"/>
                </a:cubicBezTo>
                <a:lnTo>
                  <a:pt x="131232" y="153849"/>
                </a:lnTo>
                <a:cubicBezTo>
                  <a:pt x="128101" y="153423"/>
                  <a:pt x="125031" y="152572"/>
                  <a:pt x="122143" y="151387"/>
                </a:cubicBezTo>
                <a:lnTo>
                  <a:pt x="111503" y="158470"/>
                </a:lnTo>
                <a:cubicBezTo>
                  <a:pt x="108311" y="160598"/>
                  <a:pt x="104086" y="160172"/>
                  <a:pt x="101380" y="157466"/>
                </a:cubicBezTo>
                <a:lnTo>
                  <a:pt x="95544" y="151630"/>
                </a:lnTo>
                <a:cubicBezTo>
                  <a:pt x="92838" y="148924"/>
                  <a:pt x="92413" y="144699"/>
                  <a:pt x="94541" y="141507"/>
                </a:cubicBezTo>
                <a:lnTo>
                  <a:pt x="101624" y="130867"/>
                </a:lnTo>
                <a:cubicBezTo>
                  <a:pt x="101046" y="129439"/>
                  <a:pt x="100529" y="127949"/>
                  <a:pt x="100104" y="126399"/>
                </a:cubicBezTo>
                <a:cubicBezTo>
                  <a:pt x="99678" y="124848"/>
                  <a:pt x="99405" y="123298"/>
                  <a:pt x="99192" y="121778"/>
                </a:cubicBezTo>
                <a:lnTo>
                  <a:pt x="87731" y="116124"/>
                </a:lnTo>
                <a:cubicBezTo>
                  <a:pt x="84296" y="114422"/>
                  <a:pt x="82564" y="110531"/>
                  <a:pt x="83536" y="106852"/>
                </a:cubicBezTo>
                <a:lnTo>
                  <a:pt x="85664" y="98888"/>
                </a:lnTo>
                <a:cubicBezTo>
                  <a:pt x="86667" y="95209"/>
                  <a:pt x="90102" y="92717"/>
                  <a:pt x="93933" y="92960"/>
                </a:cubicBezTo>
                <a:lnTo>
                  <a:pt x="106670" y="93781"/>
                </a:lnTo>
                <a:cubicBezTo>
                  <a:pt x="108585" y="91318"/>
                  <a:pt x="110804" y="89038"/>
                  <a:pt x="113327" y="87093"/>
                </a:cubicBezTo>
                <a:lnTo>
                  <a:pt x="112506" y="74386"/>
                </a:lnTo>
                <a:cubicBezTo>
                  <a:pt x="112263" y="70556"/>
                  <a:pt x="114756" y="67090"/>
                  <a:pt x="118434" y="66118"/>
                </a:cubicBezTo>
                <a:lnTo>
                  <a:pt x="126399" y="63990"/>
                </a:lnTo>
                <a:close/>
                <a:moveTo>
                  <a:pt x="136309" y="103356"/>
                </a:moveTo>
                <a:cubicBezTo>
                  <a:pt x="128927" y="103365"/>
                  <a:pt x="122940" y="109365"/>
                  <a:pt x="122948" y="116747"/>
                </a:cubicBezTo>
                <a:cubicBezTo>
                  <a:pt x="122957" y="124129"/>
                  <a:pt x="128957" y="130116"/>
                  <a:pt x="136339" y="130107"/>
                </a:cubicBezTo>
                <a:cubicBezTo>
                  <a:pt x="143721" y="130099"/>
                  <a:pt x="149708" y="124099"/>
                  <a:pt x="149700" y="116717"/>
                </a:cubicBezTo>
                <a:cubicBezTo>
                  <a:pt x="149691" y="109335"/>
                  <a:pt x="143691" y="103348"/>
                  <a:pt x="136309" y="103356"/>
                </a:cubicBezTo>
                <a:close/>
                <a:moveTo>
                  <a:pt x="68367" y="-13832"/>
                </a:moveTo>
                <a:lnTo>
                  <a:pt x="76332" y="-11704"/>
                </a:lnTo>
                <a:cubicBezTo>
                  <a:pt x="80010" y="-10700"/>
                  <a:pt x="82503" y="-7235"/>
                  <a:pt x="82260" y="-3435"/>
                </a:cubicBezTo>
                <a:lnTo>
                  <a:pt x="81439" y="9272"/>
                </a:lnTo>
                <a:cubicBezTo>
                  <a:pt x="83962" y="11217"/>
                  <a:pt x="86181" y="13467"/>
                  <a:pt x="88096" y="15959"/>
                </a:cubicBezTo>
                <a:lnTo>
                  <a:pt x="100864" y="15139"/>
                </a:lnTo>
                <a:cubicBezTo>
                  <a:pt x="104664" y="14895"/>
                  <a:pt x="108129" y="17388"/>
                  <a:pt x="109132" y="21066"/>
                </a:cubicBezTo>
                <a:lnTo>
                  <a:pt x="111260" y="29031"/>
                </a:lnTo>
                <a:cubicBezTo>
                  <a:pt x="112233" y="32709"/>
                  <a:pt x="110500" y="36600"/>
                  <a:pt x="107065" y="38303"/>
                </a:cubicBezTo>
                <a:lnTo>
                  <a:pt x="95605" y="43957"/>
                </a:lnTo>
                <a:cubicBezTo>
                  <a:pt x="95392" y="45507"/>
                  <a:pt x="95088" y="47058"/>
                  <a:pt x="94693" y="48577"/>
                </a:cubicBezTo>
                <a:cubicBezTo>
                  <a:pt x="94298" y="50097"/>
                  <a:pt x="93750" y="51617"/>
                  <a:pt x="93173" y="53046"/>
                </a:cubicBezTo>
                <a:lnTo>
                  <a:pt x="100256" y="63686"/>
                </a:lnTo>
                <a:cubicBezTo>
                  <a:pt x="102384" y="66878"/>
                  <a:pt x="101958" y="71103"/>
                  <a:pt x="99253" y="73809"/>
                </a:cubicBezTo>
                <a:lnTo>
                  <a:pt x="93416" y="79645"/>
                </a:lnTo>
                <a:cubicBezTo>
                  <a:pt x="90710" y="82351"/>
                  <a:pt x="86485" y="82776"/>
                  <a:pt x="83293" y="80648"/>
                </a:cubicBezTo>
                <a:lnTo>
                  <a:pt x="72653" y="73565"/>
                </a:lnTo>
                <a:cubicBezTo>
                  <a:pt x="69766" y="74751"/>
                  <a:pt x="66695" y="75602"/>
                  <a:pt x="63564" y="76028"/>
                </a:cubicBezTo>
                <a:lnTo>
                  <a:pt x="57910" y="87458"/>
                </a:lnTo>
                <a:cubicBezTo>
                  <a:pt x="56208" y="90893"/>
                  <a:pt x="52317" y="92626"/>
                  <a:pt x="48638" y="91653"/>
                </a:cubicBezTo>
                <a:lnTo>
                  <a:pt x="40674" y="89525"/>
                </a:lnTo>
                <a:cubicBezTo>
                  <a:pt x="36965" y="88522"/>
                  <a:pt x="34503" y="85056"/>
                  <a:pt x="34746" y="81256"/>
                </a:cubicBezTo>
                <a:lnTo>
                  <a:pt x="35567" y="68519"/>
                </a:lnTo>
                <a:cubicBezTo>
                  <a:pt x="33044" y="66574"/>
                  <a:pt x="30825" y="64324"/>
                  <a:pt x="28909" y="61831"/>
                </a:cubicBezTo>
                <a:lnTo>
                  <a:pt x="16142" y="62652"/>
                </a:lnTo>
                <a:cubicBezTo>
                  <a:pt x="12342" y="62895"/>
                  <a:pt x="8876" y="60403"/>
                  <a:pt x="7873" y="56724"/>
                </a:cubicBezTo>
                <a:lnTo>
                  <a:pt x="5745" y="48760"/>
                </a:lnTo>
                <a:cubicBezTo>
                  <a:pt x="4773" y="45082"/>
                  <a:pt x="6505" y="41191"/>
                  <a:pt x="9940" y="39488"/>
                </a:cubicBezTo>
                <a:lnTo>
                  <a:pt x="21401" y="33834"/>
                </a:lnTo>
                <a:cubicBezTo>
                  <a:pt x="21614" y="32284"/>
                  <a:pt x="21918" y="30764"/>
                  <a:pt x="22313" y="29213"/>
                </a:cubicBezTo>
                <a:cubicBezTo>
                  <a:pt x="22738" y="27663"/>
                  <a:pt x="23225" y="26173"/>
                  <a:pt x="23833" y="24745"/>
                </a:cubicBezTo>
                <a:lnTo>
                  <a:pt x="16750" y="14136"/>
                </a:lnTo>
                <a:cubicBezTo>
                  <a:pt x="14622" y="10944"/>
                  <a:pt x="15047" y="6718"/>
                  <a:pt x="17753" y="4013"/>
                </a:cubicBezTo>
                <a:lnTo>
                  <a:pt x="23590" y="-1824"/>
                </a:lnTo>
                <a:cubicBezTo>
                  <a:pt x="26295" y="-4529"/>
                  <a:pt x="30521" y="-4955"/>
                  <a:pt x="33712" y="-2827"/>
                </a:cubicBezTo>
                <a:lnTo>
                  <a:pt x="44352" y="4256"/>
                </a:lnTo>
                <a:cubicBezTo>
                  <a:pt x="47240" y="3070"/>
                  <a:pt x="50310" y="2219"/>
                  <a:pt x="53441" y="1794"/>
                </a:cubicBezTo>
                <a:lnTo>
                  <a:pt x="59096" y="-9636"/>
                </a:lnTo>
                <a:cubicBezTo>
                  <a:pt x="60798" y="-13072"/>
                  <a:pt x="64659" y="-14804"/>
                  <a:pt x="68367" y="-13832"/>
                </a:cubicBezTo>
                <a:close/>
                <a:moveTo>
                  <a:pt x="58488" y="25535"/>
                </a:moveTo>
                <a:cubicBezTo>
                  <a:pt x="51105" y="25535"/>
                  <a:pt x="45112" y="31528"/>
                  <a:pt x="45112" y="38911"/>
                </a:cubicBezTo>
                <a:cubicBezTo>
                  <a:pt x="45112" y="46293"/>
                  <a:pt x="51105" y="52286"/>
                  <a:pt x="58488" y="52286"/>
                </a:cubicBezTo>
                <a:cubicBezTo>
                  <a:pt x="65870" y="52286"/>
                  <a:pt x="71863" y="46293"/>
                  <a:pt x="71863" y="38911"/>
                </a:cubicBezTo>
                <a:cubicBezTo>
                  <a:pt x="71863" y="31528"/>
                  <a:pt x="65870" y="25535"/>
                  <a:pt x="58488" y="25535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39" name="Text 35"/>
          <p:cNvSpPr/>
          <p:nvPr/>
        </p:nvSpPr>
        <p:spPr>
          <a:xfrm>
            <a:off x="6759507" y="3521513"/>
            <a:ext cx="4864290" cy="242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TCC模式 - 复杂业务</a:t>
            </a:r>
            <a:endParaRPr lang="en-US" sz="2400" dirty="0"/>
          </a:p>
        </p:txBody>
      </p:sp>
      <p:sp>
        <p:nvSpPr>
          <p:cNvPr id="40" name="Text 36"/>
          <p:cNvSpPr/>
          <p:nvPr/>
        </p:nvSpPr>
        <p:spPr>
          <a:xfrm>
            <a:off x="6513533" y="3863601"/>
            <a:ext cx="5101617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</a:t>
            </a: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场景：</a:t>
            </a: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积分兑换等需要自定义回滚</a:t>
            </a:r>
            <a:endParaRPr lang="en-US" sz="2800" dirty="0"/>
          </a:p>
        </p:txBody>
      </p:sp>
      <p:sp>
        <p:nvSpPr>
          <p:cNvPr id="41" name="Text 37"/>
          <p:cNvSpPr/>
          <p:nvPr/>
        </p:nvSpPr>
        <p:spPr>
          <a:xfrm>
            <a:off x="6523043" y="4157592"/>
            <a:ext cx="5101617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· </a:t>
            </a:r>
            <a:r>
              <a:rPr lang="en-US" sz="16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优势：</a:t>
            </a:r>
            <a:r>
              <a:rPr lang="en-US" sz="16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灵活性高、一致性强</a:t>
            </a:r>
            <a:endParaRPr lang="en-US" sz="2800" dirty="0"/>
          </a:p>
        </p:txBody>
      </p:sp>
      <p:sp>
        <p:nvSpPr>
          <p:cNvPr id="43" name="Shape 39"/>
          <p:cNvSpPr/>
          <p:nvPr/>
        </p:nvSpPr>
        <p:spPr>
          <a:xfrm>
            <a:off x="345872" y="4404679"/>
            <a:ext cx="5646366" cy="2282757"/>
          </a:xfrm>
          <a:custGeom>
            <a:avLst/>
            <a:gdLst/>
            <a:ahLst/>
            <a:cxnLst/>
            <a:rect l="l" t="t" r="r" b="b"/>
            <a:pathLst>
              <a:path w="5646366" h="2282757">
                <a:moveTo>
                  <a:pt x="103751" y="0"/>
                </a:moveTo>
                <a:lnTo>
                  <a:pt x="5542615" y="0"/>
                </a:lnTo>
                <a:cubicBezTo>
                  <a:pt x="5599915" y="0"/>
                  <a:pt x="5646366" y="46451"/>
                  <a:pt x="5646366" y="103751"/>
                </a:cubicBezTo>
                <a:lnTo>
                  <a:pt x="5646366" y="2179006"/>
                </a:lnTo>
                <a:cubicBezTo>
                  <a:pt x="5646366" y="2236306"/>
                  <a:pt x="5599915" y="2282757"/>
                  <a:pt x="5542615" y="2282757"/>
                </a:cubicBezTo>
                <a:lnTo>
                  <a:pt x="103751" y="2282757"/>
                </a:lnTo>
                <a:cubicBezTo>
                  <a:pt x="46451" y="2282757"/>
                  <a:pt x="0" y="2236306"/>
                  <a:pt x="0" y="2179006"/>
                </a:cubicBezTo>
                <a:lnTo>
                  <a:pt x="0" y="103751"/>
                </a:lnTo>
                <a:cubicBezTo>
                  <a:pt x="0" y="46489"/>
                  <a:pt x="46489" y="0"/>
                  <a:pt x="103751" y="0"/>
                </a:cubicBezTo>
                <a:close/>
              </a:path>
            </a:pathLst>
          </a:custGeom>
          <a:solidFill>
            <a:srgbClr val="2D3748"/>
          </a:solidFill>
        </p:spPr>
      </p:sp>
      <p:sp>
        <p:nvSpPr>
          <p:cNvPr id="44" name="Text 40"/>
          <p:cNvSpPr/>
          <p:nvPr/>
        </p:nvSpPr>
        <p:spPr>
          <a:xfrm>
            <a:off x="518808" y="4577615"/>
            <a:ext cx="5386962" cy="242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F6AD5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优化措施</a:t>
            </a:r>
            <a:endParaRPr lang="en-US" sz="1600" dirty="0"/>
          </a:p>
        </p:txBody>
      </p:sp>
      <p:sp>
        <p:nvSpPr>
          <p:cNvPr id="45" name="Shape 41"/>
          <p:cNvSpPr/>
          <p:nvPr/>
        </p:nvSpPr>
        <p:spPr>
          <a:xfrm>
            <a:off x="518808" y="4923487"/>
            <a:ext cx="5300494" cy="345872"/>
          </a:xfrm>
          <a:custGeom>
            <a:avLst/>
            <a:gdLst/>
            <a:ahLst/>
            <a:cxnLst/>
            <a:rect l="l" t="t" r="r" b="b"/>
            <a:pathLst>
              <a:path w="5300494" h="345872">
                <a:moveTo>
                  <a:pt x="69174" y="0"/>
                </a:moveTo>
                <a:lnTo>
                  <a:pt x="5231319" y="0"/>
                </a:lnTo>
                <a:cubicBezTo>
                  <a:pt x="5269523" y="0"/>
                  <a:pt x="5300494" y="30970"/>
                  <a:pt x="5300494" y="69174"/>
                </a:cubicBezTo>
                <a:lnTo>
                  <a:pt x="5300494" y="276698"/>
                </a:lnTo>
                <a:cubicBezTo>
                  <a:pt x="5300494" y="314902"/>
                  <a:pt x="5269523" y="345872"/>
                  <a:pt x="5231319" y="345872"/>
                </a:cubicBezTo>
                <a:lnTo>
                  <a:pt x="69174" y="345872"/>
                </a:lnTo>
                <a:cubicBezTo>
                  <a:pt x="30970" y="345872"/>
                  <a:pt x="0" y="314902"/>
                  <a:pt x="0" y="276698"/>
                </a:cubicBezTo>
                <a:lnTo>
                  <a:pt x="0" y="69174"/>
                </a:lnTo>
                <a:cubicBezTo>
                  <a:pt x="0" y="30970"/>
                  <a:pt x="30970" y="0"/>
                  <a:pt x="69174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46" name="Shape 42"/>
          <p:cNvSpPr/>
          <p:nvPr/>
        </p:nvSpPr>
        <p:spPr>
          <a:xfrm>
            <a:off x="613923" y="5027249"/>
            <a:ext cx="121055" cy="138349"/>
          </a:xfrm>
          <a:custGeom>
            <a:avLst/>
            <a:gdLst/>
            <a:ahLst/>
            <a:cxnLst/>
            <a:rect l="l" t="t" r="r" b="b"/>
            <a:pathLst>
              <a:path w="121055" h="138349">
                <a:moveTo>
                  <a:pt x="121055" y="55610"/>
                </a:moveTo>
                <a:cubicBezTo>
                  <a:pt x="117056" y="58258"/>
                  <a:pt x="112463" y="60393"/>
                  <a:pt x="107680" y="62095"/>
                </a:cubicBezTo>
                <a:cubicBezTo>
                  <a:pt x="94980" y="66634"/>
                  <a:pt x="78308" y="69174"/>
                  <a:pt x="60528" y="69174"/>
                </a:cubicBezTo>
                <a:cubicBezTo>
                  <a:pt x="42748" y="69174"/>
                  <a:pt x="26049" y="66607"/>
                  <a:pt x="13376" y="62095"/>
                </a:cubicBezTo>
                <a:cubicBezTo>
                  <a:pt x="8620" y="60393"/>
                  <a:pt x="3999" y="58258"/>
                  <a:pt x="0" y="55610"/>
                </a:cubicBezTo>
                <a:lnTo>
                  <a:pt x="0" y="77821"/>
                </a:lnTo>
                <a:cubicBezTo>
                  <a:pt x="0" y="89765"/>
                  <a:pt x="27102" y="99438"/>
                  <a:pt x="60528" y="99438"/>
                </a:cubicBezTo>
                <a:cubicBezTo>
                  <a:pt x="93953" y="99438"/>
                  <a:pt x="121055" y="89765"/>
                  <a:pt x="121055" y="77821"/>
                </a:cubicBezTo>
                <a:lnTo>
                  <a:pt x="121055" y="55610"/>
                </a:lnTo>
                <a:close/>
                <a:moveTo>
                  <a:pt x="121055" y="34587"/>
                </a:moveTo>
                <a:lnTo>
                  <a:pt x="121055" y="21617"/>
                </a:lnTo>
                <a:cubicBezTo>
                  <a:pt x="121055" y="9674"/>
                  <a:pt x="93953" y="0"/>
                  <a:pt x="60528" y="0"/>
                </a:cubicBezTo>
                <a:cubicBezTo>
                  <a:pt x="27102" y="0"/>
                  <a:pt x="0" y="9674"/>
                  <a:pt x="0" y="21617"/>
                </a:cubicBezTo>
                <a:lnTo>
                  <a:pt x="0" y="34587"/>
                </a:lnTo>
                <a:cubicBezTo>
                  <a:pt x="0" y="46531"/>
                  <a:pt x="27102" y="56204"/>
                  <a:pt x="60528" y="56204"/>
                </a:cubicBezTo>
                <a:cubicBezTo>
                  <a:pt x="93953" y="56204"/>
                  <a:pt x="121055" y="46531"/>
                  <a:pt x="121055" y="34587"/>
                </a:cubicBezTo>
                <a:close/>
                <a:moveTo>
                  <a:pt x="107680" y="105329"/>
                </a:moveTo>
                <a:cubicBezTo>
                  <a:pt x="95007" y="109841"/>
                  <a:pt x="78335" y="112409"/>
                  <a:pt x="60528" y="112409"/>
                </a:cubicBezTo>
                <a:cubicBezTo>
                  <a:pt x="42721" y="112409"/>
                  <a:pt x="26049" y="109841"/>
                  <a:pt x="13376" y="105329"/>
                </a:cubicBezTo>
                <a:cubicBezTo>
                  <a:pt x="8620" y="103627"/>
                  <a:pt x="3999" y="101492"/>
                  <a:pt x="0" y="98844"/>
                </a:cubicBezTo>
                <a:lnTo>
                  <a:pt x="0" y="116732"/>
                </a:lnTo>
                <a:cubicBezTo>
                  <a:pt x="0" y="128675"/>
                  <a:pt x="27102" y="138349"/>
                  <a:pt x="60528" y="138349"/>
                </a:cubicBezTo>
                <a:cubicBezTo>
                  <a:pt x="93953" y="138349"/>
                  <a:pt x="121055" y="128675"/>
                  <a:pt x="121055" y="116732"/>
                </a:cubicBezTo>
                <a:lnTo>
                  <a:pt x="121055" y="98844"/>
                </a:lnTo>
                <a:cubicBezTo>
                  <a:pt x="117056" y="101492"/>
                  <a:pt x="112463" y="103627"/>
                  <a:pt x="107680" y="105329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47" name="Text 43"/>
          <p:cNvSpPr/>
          <p:nvPr/>
        </p:nvSpPr>
        <p:spPr>
          <a:xfrm>
            <a:off x="864681" y="4992662"/>
            <a:ext cx="1175966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精心设计事务边界</a:t>
            </a:r>
            <a:endParaRPr lang="en-US" sz="1600" dirty="0"/>
          </a:p>
        </p:txBody>
      </p:sp>
      <p:sp>
        <p:nvSpPr>
          <p:cNvPr id="48" name="Shape 44"/>
          <p:cNvSpPr/>
          <p:nvPr/>
        </p:nvSpPr>
        <p:spPr>
          <a:xfrm>
            <a:off x="518808" y="5338534"/>
            <a:ext cx="5300494" cy="345872"/>
          </a:xfrm>
          <a:custGeom>
            <a:avLst/>
            <a:gdLst/>
            <a:ahLst/>
            <a:cxnLst/>
            <a:rect l="l" t="t" r="r" b="b"/>
            <a:pathLst>
              <a:path w="5300494" h="345872">
                <a:moveTo>
                  <a:pt x="69174" y="0"/>
                </a:moveTo>
                <a:lnTo>
                  <a:pt x="5231319" y="0"/>
                </a:lnTo>
                <a:cubicBezTo>
                  <a:pt x="5269523" y="0"/>
                  <a:pt x="5300494" y="30970"/>
                  <a:pt x="5300494" y="69174"/>
                </a:cubicBezTo>
                <a:lnTo>
                  <a:pt x="5300494" y="276698"/>
                </a:lnTo>
                <a:cubicBezTo>
                  <a:pt x="5300494" y="314902"/>
                  <a:pt x="5269523" y="345872"/>
                  <a:pt x="5231319" y="345872"/>
                </a:cubicBezTo>
                <a:lnTo>
                  <a:pt x="69174" y="345872"/>
                </a:lnTo>
                <a:cubicBezTo>
                  <a:pt x="30970" y="345872"/>
                  <a:pt x="0" y="314902"/>
                  <a:pt x="0" y="276698"/>
                </a:cubicBezTo>
                <a:lnTo>
                  <a:pt x="0" y="69174"/>
                </a:lnTo>
                <a:cubicBezTo>
                  <a:pt x="0" y="30970"/>
                  <a:pt x="30970" y="0"/>
                  <a:pt x="69174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49" name="Shape 45"/>
          <p:cNvSpPr/>
          <p:nvPr/>
        </p:nvSpPr>
        <p:spPr>
          <a:xfrm>
            <a:off x="605276" y="5442296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17807" y="61744"/>
                </a:moveTo>
                <a:cubicBezTo>
                  <a:pt x="21401" y="36614"/>
                  <a:pt x="43045" y="17294"/>
                  <a:pt x="69174" y="17294"/>
                </a:cubicBezTo>
                <a:cubicBezTo>
                  <a:pt x="83496" y="17294"/>
                  <a:pt x="96466" y="23103"/>
                  <a:pt x="105869" y="32480"/>
                </a:cubicBezTo>
                <a:cubicBezTo>
                  <a:pt x="105923" y="32534"/>
                  <a:pt x="105977" y="32588"/>
                  <a:pt x="106031" y="32642"/>
                </a:cubicBezTo>
                <a:lnTo>
                  <a:pt x="108085" y="34587"/>
                </a:lnTo>
                <a:lnTo>
                  <a:pt x="95142" y="34587"/>
                </a:lnTo>
                <a:cubicBezTo>
                  <a:pt x="90359" y="34587"/>
                  <a:pt x="86495" y="38451"/>
                  <a:pt x="86495" y="43234"/>
                </a:cubicBezTo>
                <a:cubicBezTo>
                  <a:pt x="86495" y="48017"/>
                  <a:pt x="90359" y="51881"/>
                  <a:pt x="95142" y="51881"/>
                </a:cubicBezTo>
                <a:lnTo>
                  <a:pt x="129729" y="51881"/>
                </a:lnTo>
                <a:cubicBezTo>
                  <a:pt x="134512" y="51881"/>
                  <a:pt x="138376" y="48017"/>
                  <a:pt x="138376" y="43234"/>
                </a:cubicBezTo>
                <a:lnTo>
                  <a:pt x="138376" y="8647"/>
                </a:lnTo>
                <a:cubicBezTo>
                  <a:pt x="138376" y="3864"/>
                  <a:pt x="134512" y="0"/>
                  <a:pt x="129729" y="0"/>
                </a:cubicBezTo>
                <a:cubicBezTo>
                  <a:pt x="124946" y="0"/>
                  <a:pt x="121082" y="3864"/>
                  <a:pt x="121082" y="8647"/>
                </a:cubicBezTo>
                <a:lnTo>
                  <a:pt x="121082" y="23076"/>
                </a:lnTo>
                <a:lnTo>
                  <a:pt x="118029" y="20185"/>
                </a:lnTo>
                <a:cubicBezTo>
                  <a:pt x="105518" y="7728"/>
                  <a:pt x="88224" y="0"/>
                  <a:pt x="69174" y="0"/>
                </a:cubicBezTo>
                <a:cubicBezTo>
                  <a:pt x="34317" y="0"/>
                  <a:pt x="5485" y="25778"/>
                  <a:pt x="703" y="59312"/>
                </a:cubicBezTo>
                <a:cubicBezTo>
                  <a:pt x="27" y="64040"/>
                  <a:pt x="3297" y="68418"/>
                  <a:pt x="8025" y="69093"/>
                </a:cubicBezTo>
                <a:cubicBezTo>
                  <a:pt x="12754" y="69769"/>
                  <a:pt x="17131" y="66472"/>
                  <a:pt x="17807" y="61771"/>
                </a:cubicBezTo>
                <a:close/>
                <a:moveTo>
                  <a:pt x="137646" y="79037"/>
                </a:moveTo>
                <a:cubicBezTo>
                  <a:pt x="138322" y="74309"/>
                  <a:pt x="135025" y="69931"/>
                  <a:pt x="130324" y="69256"/>
                </a:cubicBezTo>
                <a:cubicBezTo>
                  <a:pt x="125622" y="68580"/>
                  <a:pt x="121217" y="71877"/>
                  <a:pt x="120542" y="76578"/>
                </a:cubicBezTo>
                <a:cubicBezTo>
                  <a:pt x="116948" y="101708"/>
                  <a:pt x="95304" y="121028"/>
                  <a:pt x="69174" y="121028"/>
                </a:cubicBezTo>
                <a:cubicBezTo>
                  <a:pt x="54853" y="121028"/>
                  <a:pt x="41883" y="115219"/>
                  <a:pt x="32480" y="105842"/>
                </a:cubicBezTo>
                <a:cubicBezTo>
                  <a:pt x="32426" y="105788"/>
                  <a:pt x="32371" y="105734"/>
                  <a:pt x="32317" y="105680"/>
                </a:cubicBezTo>
                <a:lnTo>
                  <a:pt x="30264" y="103735"/>
                </a:lnTo>
                <a:lnTo>
                  <a:pt x="43207" y="103735"/>
                </a:lnTo>
                <a:cubicBezTo>
                  <a:pt x="47990" y="103735"/>
                  <a:pt x="51854" y="99871"/>
                  <a:pt x="51854" y="95088"/>
                </a:cubicBezTo>
                <a:cubicBezTo>
                  <a:pt x="51854" y="90305"/>
                  <a:pt x="47990" y="86441"/>
                  <a:pt x="43207" y="86441"/>
                </a:cubicBezTo>
                <a:lnTo>
                  <a:pt x="8647" y="86468"/>
                </a:lnTo>
                <a:cubicBezTo>
                  <a:pt x="6350" y="86468"/>
                  <a:pt x="4134" y="87387"/>
                  <a:pt x="2513" y="89035"/>
                </a:cubicBezTo>
                <a:cubicBezTo>
                  <a:pt x="892" y="90683"/>
                  <a:pt x="-27" y="92872"/>
                  <a:pt x="0" y="95196"/>
                </a:cubicBezTo>
                <a:lnTo>
                  <a:pt x="270" y="129513"/>
                </a:lnTo>
                <a:cubicBezTo>
                  <a:pt x="297" y="134296"/>
                  <a:pt x="4215" y="138133"/>
                  <a:pt x="8998" y="138079"/>
                </a:cubicBezTo>
                <a:cubicBezTo>
                  <a:pt x="13781" y="138025"/>
                  <a:pt x="17618" y="134134"/>
                  <a:pt x="17564" y="129351"/>
                </a:cubicBezTo>
                <a:lnTo>
                  <a:pt x="17456" y="115435"/>
                </a:lnTo>
                <a:lnTo>
                  <a:pt x="20347" y="118164"/>
                </a:lnTo>
                <a:cubicBezTo>
                  <a:pt x="32858" y="130621"/>
                  <a:pt x="50124" y="138349"/>
                  <a:pt x="69174" y="138349"/>
                </a:cubicBezTo>
                <a:cubicBezTo>
                  <a:pt x="104032" y="138349"/>
                  <a:pt x="132864" y="112571"/>
                  <a:pt x="137646" y="79037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50" name="Text 46"/>
          <p:cNvSpPr/>
          <p:nvPr/>
        </p:nvSpPr>
        <p:spPr>
          <a:xfrm>
            <a:off x="864681" y="5407708"/>
            <a:ext cx="1037617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优化数据库索引</a:t>
            </a:r>
            <a:endParaRPr lang="en-US" sz="1600" dirty="0"/>
          </a:p>
        </p:txBody>
      </p:sp>
      <p:sp>
        <p:nvSpPr>
          <p:cNvPr id="51" name="Shape 47"/>
          <p:cNvSpPr/>
          <p:nvPr/>
        </p:nvSpPr>
        <p:spPr>
          <a:xfrm>
            <a:off x="518808" y="5753581"/>
            <a:ext cx="5300494" cy="345872"/>
          </a:xfrm>
          <a:custGeom>
            <a:avLst/>
            <a:gdLst/>
            <a:ahLst/>
            <a:cxnLst/>
            <a:rect l="l" t="t" r="r" b="b"/>
            <a:pathLst>
              <a:path w="5300494" h="345872">
                <a:moveTo>
                  <a:pt x="69174" y="0"/>
                </a:moveTo>
                <a:lnTo>
                  <a:pt x="5231319" y="0"/>
                </a:lnTo>
                <a:cubicBezTo>
                  <a:pt x="5269523" y="0"/>
                  <a:pt x="5300494" y="30970"/>
                  <a:pt x="5300494" y="69174"/>
                </a:cubicBezTo>
                <a:lnTo>
                  <a:pt x="5300494" y="276698"/>
                </a:lnTo>
                <a:cubicBezTo>
                  <a:pt x="5300494" y="314902"/>
                  <a:pt x="5269523" y="345872"/>
                  <a:pt x="5231319" y="345872"/>
                </a:cubicBezTo>
                <a:lnTo>
                  <a:pt x="69174" y="345872"/>
                </a:lnTo>
                <a:cubicBezTo>
                  <a:pt x="30970" y="345872"/>
                  <a:pt x="0" y="314902"/>
                  <a:pt x="0" y="276698"/>
                </a:cubicBezTo>
                <a:lnTo>
                  <a:pt x="0" y="69174"/>
                </a:lnTo>
                <a:cubicBezTo>
                  <a:pt x="0" y="30970"/>
                  <a:pt x="30970" y="0"/>
                  <a:pt x="69174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52" name="Shape 48"/>
          <p:cNvSpPr/>
          <p:nvPr/>
        </p:nvSpPr>
        <p:spPr>
          <a:xfrm>
            <a:off x="605276" y="5857343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0"/>
                </a:moveTo>
                <a:cubicBezTo>
                  <a:pt x="107353" y="0"/>
                  <a:pt x="138349" y="30996"/>
                  <a:pt x="138349" y="69174"/>
                </a:cubicBezTo>
                <a:cubicBezTo>
                  <a:pt x="138349" y="107353"/>
                  <a:pt x="107353" y="138349"/>
                  <a:pt x="69174" y="138349"/>
                </a:cubicBezTo>
                <a:cubicBezTo>
                  <a:pt x="30996" y="138349"/>
                  <a:pt x="0" y="107353"/>
                  <a:pt x="0" y="69174"/>
                </a:cubicBezTo>
                <a:cubicBezTo>
                  <a:pt x="0" y="30996"/>
                  <a:pt x="30996" y="0"/>
                  <a:pt x="69174" y="0"/>
                </a:cubicBezTo>
                <a:close/>
                <a:moveTo>
                  <a:pt x="62689" y="32426"/>
                </a:moveTo>
                <a:lnTo>
                  <a:pt x="62689" y="69174"/>
                </a:lnTo>
                <a:cubicBezTo>
                  <a:pt x="62689" y="71336"/>
                  <a:pt x="63770" y="73363"/>
                  <a:pt x="65581" y="74579"/>
                </a:cubicBezTo>
                <a:lnTo>
                  <a:pt x="91521" y="91872"/>
                </a:lnTo>
                <a:cubicBezTo>
                  <a:pt x="94493" y="93872"/>
                  <a:pt x="98520" y="93061"/>
                  <a:pt x="100519" y="90062"/>
                </a:cubicBezTo>
                <a:cubicBezTo>
                  <a:pt x="102519" y="87063"/>
                  <a:pt x="101708" y="83063"/>
                  <a:pt x="98709" y="81064"/>
                </a:cubicBezTo>
                <a:lnTo>
                  <a:pt x="75660" y="65716"/>
                </a:lnTo>
                <a:lnTo>
                  <a:pt x="75660" y="32426"/>
                </a:lnTo>
                <a:cubicBezTo>
                  <a:pt x="75660" y="28832"/>
                  <a:pt x="72768" y="25940"/>
                  <a:pt x="69174" y="25940"/>
                </a:cubicBezTo>
                <a:cubicBezTo>
                  <a:pt x="65581" y="25940"/>
                  <a:pt x="62689" y="28832"/>
                  <a:pt x="62689" y="32426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53" name="Text 49"/>
          <p:cNvSpPr/>
          <p:nvPr/>
        </p:nvSpPr>
        <p:spPr>
          <a:xfrm>
            <a:off x="864681" y="5822755"/>
            <a:ext cx="1175966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减少事务锁定时间</a:t>
            </a:r>
            <a:endParaRPr lang="en-US" sz="1600" dirty="0"/>
          </a:p>
        </p:txBody>
      </p:sp>
      <p:sp>
        <p:nvSpPr>
          <p:cNvPr id="54" name="Shape 50"/>
          <p:cNvSpPr/>
          <p:nvPr/>
        </p:nvSpPr>
        <p:spPr>
          <a:xfrm>
            <a:off x="518808" y="6168628"/>
            <a:ext cx="5300494" cy="345872"/>
          </a:xfrm>
          <a:custGeom>
            <a:avLst/>
            <a:gdLst/>
            <a:ahLst/>
            <a:cxnLst/>
            <a:rect l="l" t="t" r="r" b="b"/>
            <a:pathLst>
              <a:path w="5300494" h="345872">
                <a:moveTo>
                  <a:pt x="69174" y="0"/>
                </a:moveTo>
                <a:lnTo>
                  <a:pt x="5231319" y="0"/>
                </a:lnTo>
                <a:cubicBezTo>
                  <a:pt x="5269523" y="0"/>
                  <a:pt x="5300494" y="30970"/>
                  <a:pt x="5300494" y="69174"/>
                </a:cubicBezTo>
                <a:lnTo>
                  <a:pt x="5300494" y="276698"/>
                </a:lnTo>
                <a:cubicBezTo>
                  <a:pt x="5300494" y="314902"/>
                  <a:pt x="5269523" y="345872"/>
                  <a:pt x="5231319" y="345872"/>
                </a:cubicBezTo>
                <a:lnTo>
                  <a:pt x="69174" y="345872"/>
                </a:lnTo>
                <a:cubicBezTo>
                  <a:pt x="30970" y="345872"/>
                  <a:pt x="0" y="314902"/>
                  <a:pt x="0" y="276698"/>
                </a:cubicBezTo>
                <a:lnTo>
                  <a:pt x="0" y="69174"/>
                </a:lnTo>
                <a:cubicBezTo>
                  <a:pt x="0" y="30970"/>
                  <a:pt x="30970" y="0"/>
                  <a:pt x="69174" y="0"/>
                </a:cubicBezTo>
                <a:close/>
              </a:path>
            </a:pathLst>
          </a:custGeom>
          <a:solidFill>
            <a:srgbClr val="F6AD55">
              <a:alpha val="5098"/>
            </a:srgbClr>
          </a:solidFill>
        </p:spPr>
      </p:sp>
      <p:sp>
        <p:nvSpPr>
          <p:cNvPr id="55" name="Shape 51"/>
          <p:cNvSpPr/>
          <p:nvPr/>
        </p:nvSpPr>
        <p:spPr>
          <a:xfrm>
            <a:off x="605276" y="6272389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17294" y="17294"/>
                </a:moveTo>
                <a:cubicBezTo>
                  <a:pt x="7755" y="17294"/>
                  <a:pt x="0" y="25049"/>
                  <a:pt x="0" y="34587"/>
                </a:cubicBezTo>
                <a:lnTo>
                  <a:pt x="0" y="36587"/>
                </a:lnTo>
                <a:cubicBezTo>
                  <a:pt x="0" y="38424"/>
                  <a:pt x="1189" y="39991"/>
                  <a:pt x="2729" y="40991"/>
                </a:cubicBezTo>
                <a:cubicBezTo>
                  <a:pt x="6296" y="43315"/>
                  <a:pt x="8647" y="47314"/>
                  <a:pt x="8647" y="51881"/>
                </a:cubicBezTo>
                <a:cubicBezTo>
                  <a:pt x="8647" y="56447"/>
                  <a:pt x="6296" y="60447"/>
                  <a:pt x="2729" y="62770"/>
                </a:cubicBezTo>
                <a:cubicBezTo>
                  <a:pt x="1189" y="63770"/>
                  <a:pt x="0" y="65337"/>
                  <a:pt x="0" y="67175"/>
                </a:cubicBezTo>
                <a:lnTo>
                  <a:pt x="0" y="82145"/>
                </a:lnTo>
                <a:lnTo>
                  <a:pt x="138349" y="82145"/>
                </a:lnTo>
                <a:lnTo>
                  <a:pt x="138349" y="67175"/>
                </a:lnTo>
                <a:cubicBezTo>
                  <a:pt x="138349" y="65337"/>
                  <a:pt x="137160" y="63770"/>
                  <a:pt x="135620" y="62770"/>
                </a:cubicBezTo>
                <a:cubicBezTo>
                  <a:pt x="132053" y="60447"/>
                  <a:pt x="129702" y="56447"/>
                  <a:pt x="129702" y="51881"/>
                </a:cubicBezTo>
                <a:cubicBezTo>
                  <a:pt x="129702" y="47314"/>
                  <a:pt x="132053" y="43315"/>
                  <a:pt x="135620" y="40991"/>
                </a:cubicBezTo>
                <a:cubicBezTo>
                  <a:pt x="137160" y="39991"/>
                  <a:pt x="138349" y="38424"/>
                  <a:pt x="138349" y="36587"/>
                </a:cubicBezTo>
                <a:lnTo>
                  <a:pt x="138349" y="34587"/>
                </a:lnTo>
                <a:cubicBezTo>
                  <a:pt x="138349" y="25049"/>
                  <a:pt x="130594" y="17294"/>
                  <a:pt x="121055" y="17294"/>
                </a:cubicBezTo>
                <a:lnTo>
                  <a:pt x="17294" y="17294"/>
                </a:lnTo>
                <a:close/>
                <a:moveTo>
                  <a:pt x="138349" y="112409"/>
                </a:moveTo>
                <a:lnTo>
                  <a:pt x="138349" y="95115"/>
                </a:lnTo>
                <a:lnTo>
                  <a:pt x="0" y="95115"/>
                </a:lnTo>
                <a:lnTo>
                  <a:pt x="0" y="112409"/>
                </a:lnTo>
                <a:cubicBezTo>
                  <a:pt x="0" y="117191"/>
                  <a:pt x="3864" y="121055"/>
                  <a:pt x="8647" y="121055"/>
                </a:cubicBezTo>
                <a:lnTo>
                  <a:pt x="25940" y="121055"/>
                </a:lnTo>
                <a:lnTo>
                  <a:pt x="25940" y="114570"/>
                </a:lnTo>
                <a:cubicBezTo>
                  <a:pt x="25940" y="110976"/>
                  <a:pt x="28832" y="108085"/>
                  <a:pt x="32426" y="108085"/>
                </a:cubicBezTo>
                <a:cubicBezTo>
                  <a:pt x="36019" y="108085"/>
                  <a:pt x="38911" y="110976"/>
                  <a:pt x="38911" y="114570"/>
                </a:cubicBezTo>
                <a:lnTo>
                  <a:pt x="38911" y="121055"/>
                </a:lnTo>
                <a:lnTo>
                  <a:pt x="62689" y="121055"/>
                </a:lnTo>
                <a:lnTo>
                  <a:pt x="62689" y="114570"/>
                </a:lnTo>
                <a:cubicBezTo>
                  <a:pt x="62689" y="110976"/>
                  <a:pt x="65581" y="108085"/>
                  <a:pt x="69174" y="108085"/>
                </a:cubicBezTo>
                <a:cubicBezTo>
                  <a:pt x="72768" y="108085"/>
                  <a:pt x="75660" y="110976"/>
                  <a:pt x="75660" y="114570"/>
                </a:cubicBezTo>
                <a:lnTo>
                  <a:pt x="75660" y="121055"/>
                </a:lnTo>
                <a:lnTo>
                  <a:pt x="99438" y="121055"/>
                </a:lnTo>
                <a:lnTo>
                  <a:pt x="99438" y="114570"/>
                </a:lnTo>
                <a:cubicBezTo>
                  <a:pt x="99438" y="110976"/>
                  <a:pt x="102330" y="108085"/>
                  <a:pt x="105923" y="108085"/>
                </a:cubicBezTo>
                <a:cubicBezTo>
                  <a:pt x="109517" y="108085"/>
                  <a:pt x="112409" y="110976"/>
                  <a:pt x="112409" y="114570"/>
                </a:cubicBezTo>
                <a:lnTo>
                  <a:pt x="112409" y="121055"/>
                </a:lnTo>
                <a:lnTo>
                  <a:pt x="129702" y="121055"/>
                </a:lnTo>
                <a:cubicBezTo>
                  <a:pt x="134485" y="121055"/>
                  <a:pt x="138349" y="117191"/>
                  <a:pt x="138349" y="112409"/>
                </a:cubicBezTo>
                <a:close/>
                <a:moveTo>
                  <a:pt x="43234" y="43234"/>
                </a:moveTo>
                <a:lnTo>
                  <a:pt x="43234" y="60528"/>
                </a:lnTo>
                <a:cubicBezTo>
                  <a:pt x="43234" y="65310"/>
                  <a:pt x="39370" y="69174"/>
                  <a:pt x="34587" y="69174"/>
                </a:cubicBezTo>
                <a:cubicBezTo>
                  <a:pt x="29804" y="69174"/>
                  <a:pt x="25940" y="65310"/>
                  <a:pt x="25940" y="60528"/>
                </a:cubicBezTo>
                <a:lnTo>
                  <a:pt x="25940" y="43234"/>
                </a:lnTo>
                <a:cubicBezTo>
                  <a:pt x="25940" y="38451"/>
                  <a:pt x="29804" y="34587"/>
                  <a:pt x="34587" y="34587"/>
                </a:cubicBezTo>
                <a:cubicBezTo>
                  <a:pt x="39370" y="34587"/>
                  <a:pt x="43234" y="38451"/>
                  <a:pt x="43234" y="43234"/>
                </a:cubicBezTo>
                <a:close/>
                <a:moveTo>
                  <a:pt x="77821" y="43234"/>
                </a:moveTo>
                <a:lnTo>
                  <a:pt x="77821" y="60528"/>
                </a:lnTo>
                <a:cubicBezTo>
                  <a:pt x="77821" y="65310"/>
                  <a:pt x="73957" y="69174"/>
                  <a:pt x="69174" y="69174"/>
                </a:cubicBezTo>
                <a:cubicBezTo>
                  <a:pt x="64392" y="69174"/>
                  <a:pt x="60528" y="65310"/>
                  <a:pt x="60528" y="60528"/>
                </a:cubicBezTo>
                <a:lnTo>
                  <a:pt x="60528" y="43234"/>
                </a:lnTo>
                <a:cubicBezTo>
                  <a:pt x="60528" y="38451"/>
                  <a:pt x="64392" y="34587"/>
                  <a:pt x="69174" y="34587"/>
                </a:cubicBezTo>
                <a:cubicBezTo>
                  <a:pt x="73957" y="34587"/>
                  <a:pt x="77821" y="38451"/>
                  <a:pt x="77821" y="43234"/>
                </a:cubicBezTo>
                <a:close/>
                <a:moveTo>
                  <a:pt x="112409" y="43234"/>
                </a:moveTo>
                <a:lnTo>
                  <a:pt x="112409" y="60528"/>
                </a:lnTo>
                <a:cubicBezTo>
                  <a:pt x="112409" y="65310"/>
                  <a:pt x="108544" y="69174"/>
                  <a:pt x="103762" y="69174"/>
                </a:cubicBezTo>
                <a:cubicBezTo>
                  <a:pt x="98979" y="69174"/>
                  <a:pt x="95115" y="65310"/>
                  <a:pt x="95115" y="60528"/>
                </a:cubicBezTo>
                <a:lnTo>
                  <a:pt x="95115" y="43234"/>
                </a:lnTo>
                <a:cubicBezTo>
                  <a:pt x="95115" y="38451"/>
                  <a:pt x="98979" y="34587"/>
                  <a:pt x="103762" y="34587"/>
                </a:cubicBezTo>
                <a:cubicBezTo>
                  <a:pt x="108544" y="34587"/>
                  <a:pt x="112409" y="38451"/>
                  <a:pt x="112409" y="43234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56" name="Text 52"/>
          <p:cNvSpPr/>
          <p:nvPr/>
        </p:nvSpPr>
        <p:spPr>
          <a:xfrm>
            <a:off x="864681" y="6237802"/>
            <a:ext cx="1314315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异步处理非关键操作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6:17:05-d2t9p0dnfo2stf9dj890.jpg"/>
          <p:cNvPicPr>
            <a:picLocks noChangeAspect="1"/>
          </p:cNvPicPr>
          <p:nvPr/>
        </p:nvPicPr>
        <p:blipFill>
          <a:blip r:embed="rId3"/>
          <a:srcRect b="2016"/>
          <a:stretch>
            <a:fillRect/>
          </a:stretch>
        </p:blipFill>
        <p:spPr>
          <a:xfrm>
            <a:off x="-183515" y="-146050"/>
            <a:ext cx="12633325" cy="7023100"/>
          </a:xfrm>
          <a:prstGeom prst="rect">
            <a:avLst/>
          </a:prstGeom>
        </p:spPr>
      </p:pic>
      <p:pic>
        <p:nvPicPr>
          <p:cNvPr id="3" name="Image 1" descr="https://kimi-web-img.moonshot.cn/img/miro.medium.com/5957975516121a6f53a33714325d6276041417fb.jpeg"/>
          <p:cNvPicPr>
            <a:picLocks noChangeAspect="1"/>
          </p:cNvPicPr>
          <p:nvPr/>
        </p:nvPicPr>
        <p:blipFill>
          <a:blip r:embed="rId4">
            <a:alphaModFix amt="30000"/>
          </a:blip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5" name="Shape 1"/>
          <p:cNvSpPr/>
          <p:nvPr/>
        </p:nvSpPr>
        <p:spPr>
          <a:xfrm>
            <a:off x="381000" y="4953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</p:spPr>
      </p:sp>
      <p:sp>
        <p:nvSpPr>
          <p:cNvPr id="6" name="Text 2"/>
          <p:cNvSpPr/>
          <p:nvPr/>
        </p:nvSpPr>
        <p:spPr>
          <a:xfrm>
            <a:off x="1143000" y="381000"/>
            <a:ext cx="990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4FD1C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81000" y="7620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2E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架构设计的核心思考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81000" y="1295400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从实践中总结的设计原则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00050" y="1790700"/>
            <a:ext cx="5600700" cy="1447800"/>
          </a:xfrm>
          <a:custGeom>
            <a:avLst/>
            <a:gdLst/>
            <a:ahLst/>
            <a:cxnLst/>
            <a:rect l="l" t="t" r="r" b="b"/>
            <a:pathLst>
              <a:path w="5600700" h="1447800">
                <a:moveTo>
                  <a:pt x="38100" y="0"/>
                </a:moveTo>
                <a:lnTo>
                  <a:pt x="5486396" y="0"/>
                </a:lnTo>
                <a:cubicBezTo>
                  <a:pt x="5549524" y="0"/>
                  <a:pt x="5600700" y="51176"/>
                  <a:pt x="5600700" y="114304"/>
                </a:cubicBezTo>
                <a:lnTo>
                  <a:pt x="5600700" y="1333496"/>
                </a:lnTo>
                <a:cubicBezTo>
                  <a:pt x="5600700" y="1396624"/>
                  <a:pt x="5549524" y="1447800"/>
                  <a:pt x="5486396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</p:spPr>
      </p:sp>
      <p:sp>
        <p:nvSpPr>
          <p:cNvPr id="10" name="Shape 6"/>
          <p:cNvSpPr/>
          <p:nvPr/>
        </p:nvSpPr>
        <p:spPr>
          <a:xfrm>
            <a:off x="400050" y="17907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11" name="Shape 7"/>
          <p:cNvSpPr/>
          <p:nvPr/>
        </p:nvSpPr>
        <p:spPr>
          <a:xfrm>
            <a:off x="609600" y="1981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12" name="Shape 8"/>
          <p:cNvSpPr/>
          <p:nvPr/>
        </p:nvSpPr>
        <p:spPr>
          <a:xfrm>
            <a:off x="752475" y="20955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1A202C"/>
          </a:solidFill>
        </p:spPr>
      </p:sp>
      <p:sp>
        <p:nvSpPr>
          <p:cNvPr id="13" name="Text 9"/>
          <p:cNvSpPr/>
          <p:nvPr/>
        </p:nvSpPr>
        <p:spPr>
          <a:xfrm>
            <a:off x="1181100" y="2057400"/>
            <a:ext cx="1714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合适的技术选型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09600" y="2552700"/>
            <a:ext cx="52768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没有最好的技术，只有最适合的技术。根据业务特点选择AT或TCC模式，根据并发量设计缓存策略，根据数据规模选择存储方案。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00050" y="3390900"/>
            <a:ext cx="5600700" cy="1447800"/>
          </a:xfrm>
          <a:custGeom>
            <a:avLst/>
            <a:gdLst/>
            <a:ahLst/>
            <a:cxnLst/>
            <a:rect l="l" t="t" r="r" b="b"/>
            <a:pathLst>
              <a:path w="5600700" h="1447800">
                <a:moveTo>
                  <a:pt x="38100" y="0"/>
                </a:moveTo>
                <a:lnTo>
                  <a:pt x="5486396" y="0"/>
                </a:lnTo>
                <a:cubicBezTo>
                  <a:pt x="5549524" y="0"/>
                  <a:pt x="5600700" y="51176"/>
                  <a:pt x="5600700" y="114304"/>
                </a:cubicBezTo>
                <a:lnTo>
                  <a:pt x="5600700" y="1333496"/>
                </a:lnTo>
                <a:cubicBezTo>
                  <a:pt x="5600700" y="1396624"/>
                  <a:pt x="5549524" y="1447800"/>
                  <a:pt x="5486396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</p:spPr>
      </p:sp>
      <p:sp>
        <p:nvSpPr>
          <p:cNvPr id="16" name="Shape 12"/>
          <p:cNvSpPr/>
          <p:nvPr/>
        </p:nvSpPr>
        <p:spPr>
          <a:xfrm>
            <a:off x="400050" y="33909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17" name="Shape 13"/>
          <p:cNvSpPr/>
          <p:nvPr/>
        </p:nvSpPr>
        <p:spPr>
          <a:xfrm>
            <a:off x="609600" y="3581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18" name="Shape 14"/>
          <p:cNvSpPr/>
          <p:nvPr/>
        </p:nvSpPr>
        <p:spPr>
          <a:xfrm>
            <a:off x="695325" y="36957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1A202C"/>
          </a:solidFill>
        </p:spPr>
      </p:sp>
      <p:sp>
        <p:nvSpPr>
          <p:cNvPr id="19" name="Text 15"/>
          <p:cNvSpPr/>
          <p:nvPr/>
        </p:nvSpPr>
        <p:spPr>
          <a:xfrm>
            <a:off x="1181100" y="3657600"/>
            <a:ext cx="2171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缓存与一致性的权衡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09600" y="4152900"/>
            <a:ext cx="52768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在高并发场景下，性能与一致性往往难以兼得。通过多级缓存、异步同步、最终一致性等策略，找到适合业务场景的最佳平衡点。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210300" y="1790700"/>
            <a:ext cx="5600700" cy="1447800"/>
          </a:xfrm>
          <a:custGeom>
            <a:avLst/>
            <a:gdLst/>
            <a:ahLst/>
            <a:cxnLst/>
            <a:rect l="l" t="t" r="r" b="b"/>
            <a:pathLst>
              <a:path w="5600700" h="1447800">
                <a:moveTo>
                  <a:pt x="38100" y="0"/>
                </a:moveTo>
                <a:lnTo>
                  <a:pt x="5486396" y="0"/>
                </a:lnTo>
                <a:cubicBezTo>
                  <a:pt x="5549524" y="0"/>
                  <a:pt x="5600700" y="51176"/>
                  <a:pt x="5600700" y="114304"/>
                </a:cubicBezTo>
                <a:lnTo>
                  <a:pt x="5600700" y="1333496"/>
                </a:lnTo>
                <a:cubicBezTo>
                  <a:pt x="5600700" y="1396624"/>
                  <a:pt x="5549524" y="1447800"/>
                  <a:pt x="5486396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</p:spPr>
      </p:sp>
      <p:sp>
        <p:nvSpPr>
          <p:cNvPr id="22" name="Shape 18"/>
          <p:cNvSpPr/>
          <p:nvPr/>
        </p:nvSpPr>
        <p:spPr>
          <a:xfrm>
            <a:off x="6210300" y="17907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23" name="Shape 19"/>
          <p:cNvSpPr/>
          <p:nvPr/>
        </p:nvSpPr>
        <p:spPr>
          <a:xfrm>
            <a:off x="6419850" y="1981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FD1C5"/>
          </a:solidFill>
        </p:spPr>
      </p:sp>
      <p:sp>
        <p:nvSpPr>
          <p:cNvPr id="24" name="Shape 20"/>
          <p:cNvSpPr/>
          <p:nvPr/>
        </p:nvSpPr>
        <p:spPr>
          <a:xfrm>
            <a:off x="6534150" y="2095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1A202C"/>
          </a:solidFill>
        </p:spPr>
      </p:sp>
      <p:sp>
        <p:nvSpPr>
          <p:cNvPr id="25" name="Text 21"/>
          <p:cNvSpPr/>
          <p:nvPr/>
        </p:nvSpPr>
        <p:spPr>
          <a:xfrm>
            <a:off x="6991350" y="2057400"/>
            <a:ext cx="2400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分布式事务的灵活应对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419850" y="2552700"/>
            <a:ext cx="52768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混合使用AT和TCC模式，根据业务对性能和一致性的不同需求，灵活选择事务策略，避免一刀切的设计。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210300" y="3390900"/>
            <a:ext cx="5600700" cy="1447800"/>
          </a:xfrm>
          <a:custGeom>
            <a:avLst/>
            <a:gdLst/>
            <a:ahLst/>
            <a:cxnLst/>
            <a:rect l="l" t="t" r="r" b="b"/>
            <a:pathLst>
              <a:path w="5600700" h="1447800">
                <a:moveTo>
                  <a:pt x="38100" y="0"/>
                </a:moveTo>
                <a:lnTo>
                  <a:pt x="5486396" y="0"/>
                </a:lnTo>
                <a:cubicBezTo>
                  <a:pt x="5549524" y="0"/>
                  <a:pt x="5600700" y="51176"/>
                  <a:pt x="5600700" y="114304"/>
                </a:cubicBezTo>
                <a:lnTo>
                  <a:pt x="5600700" y="1333496"/>
                </a:lnTo>
                <a:cubicBezTo>
                  <a:pt x="5600700" y="1396624"/>
                  <a:pt x="5549524" y="1447800"/>
                  <a:pt x="5486396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</p:spPr>
      </p:sp>
      <p:sp>
        <p:nvSpPr>
          <p:cNvPr id="28" name="Shape 24"/>
          <p:cNvSpPr/>
          <p:nvPr/>
        </p:nvSpPr>
        <p:spPr>
          <a:xfrm>
            <a:off x="6210300" y="33909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29" name="Shape 25"/>
          <p:cNvSpPr/>
          <p:nvPr/>
        </p:nvSpPr>
        <p:spPr>
          <a:xfrm>
            <a:off x="6419850" y="3581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6AD55"/>
          </a:solidFill>
        </p:spPr>
      </p:sp>
      <p:sp>
        <p:nvSpPr>
          <p:cNvPr id="30" name="Shape 26"/>
          <p:cNvSpPr/>
          <p:nvPr/>
        </p:nvSpPr>
        <p:spPr>
          <a:xfrm>
            <a:off x="6534150" y="3695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1A202C"/>
          </a:solidFill>
        </p:spPr>
      </p:sp>
      <p:sp>
        <p:nvSpPr>
          <p:cNvPr id="31" name="Text 27"/>
          <p:cNvSpPr/>
          <p:nvPr/>
        </p:nvSpPr>
        <p:spPr>
          <a:xfrm>
            <a:off x="6991350" y="3657600"/>
            <a:ext cx="2400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高可用系统的分层防护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6419850" y="4152900"/>
            <a:ext cx="52768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5B8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从Nginx到Gateway，从缓存到数据库，每一层都需要有防护机制。流量在到达数据库之前，应该被层层削弱和过滤。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388620" y="5425559"/>
            <a:ext cx="11416665" cy="1043940"/>
          </a:xfrm>
          <a:custGeom>
            <a:avLst/>
            <a:gdLst/>
            <a:ahLst/>
            <a:cxnLst/>
            <a:rect l="l" t="t" r="r" b="b"/>
            <a:pathLst>
              <a:path w="11416665" h="1043940">
                <a:moveTo>
                  <a:pt x="114301" y="0"/>
                </a:moveTo>
                <a:lnTo>
                  <a:pt x="11302364" y="0"/>
                </a:lnTo>
                <a:cubicBezTo>
                  <a:pt x="11365491" y="0"/>
                  <a:pt x="11416665" y="51174"/>
                  <a:pt x="11416665" y="114301"/>
                </a:cubicBezTo>
                <a:lnTo>
                  <a:pt x="11416665" y="929639"/>
                </a:lnTo>
                <a:cubicBezTo>
                  <a:pt x="11416665" y="992766"/>
                  <a:pt x="11365491" y="1043940"/>
                  <a:pt x="11302364" y="1043940"/>
                </a:cubicBezTo>
                <a:lnTo>
                  <a:pt x="114301" y="1043940"/>
                </a:lnTo>
                <a:cubicBezTo>
                  <a:pt x="51174" y="1043940"/>
                  <a:pt x="0" y="992766"/>
                  <a:pt x="0" y="92963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20320">
            <a:solidFill>
              <a:srgbClr val="4FD1C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01065" y="5623685"/>
            <a:ext cx="107632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37" name="文本框 36"/>
          <p:cNvSpPr txBox="1"/>
          <p:nvPr/>
        </p:nvSpPr>
        <p:spPr>
          <a:xfrm>
            <a:off x="2133600" y="5605319"/>
            <a:ext cx="8372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感谢老师们和同学们的聆听，谢谢大家</a:t>
            </a: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.84543307086615,&quot;left&quot;:47.28102362204724,&quot;top&quot;:311.9906299212598,&quot;width&quot;:855.8904724409449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940</Words>
  <Application>Microsoft Office PowerPoint</Application>
  <PresentationFormat>宽屏</PresentationFormat>
  <Paragraphs>295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MiSans</vt:lpstr>
      <vt:lpstr>Noto Sans SC</vt:lpstr>
      <vt:lpstr>等线</vt:lpstr>
      <vt:lpstr>Arial</vt:lpstr>
      <vt:lpstr>Calibri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尚品云购电子商城 - 高并发微服务架构技术分享</dc:title>
  <dc:subject>尚品云购电子商城 - 高并发微服务架构技术分享</dc:subject>
  <dc:creator>Kimi</dc:creator>
  <cp:lastModifiedBy>zzzz Ye</cp:lastModifiedBy>
  <cp:revision>40</cp:revision>
  <dcterms:created xsi:type="dcterms:W3CDTF">2026-01-15T08:09:00Z</dcterms:created>
  <dcterms:modified xsi:type="dcterms:W3CDTF">2026-01-16T03:16:56Z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{"Label":"尚品云购电子商城 - 高并发微服务架构技术分享","ContentProducer":"001191110108MACG2KBH8F10000","ProduceID":"19bc08f1-e2d2-860e-8000-0000354973d6","ReservedCode1":"","ContentPropagator":"001191110108MACG2KBH8F20000","PropagateID":"19bc08f1-e2d2-860e-8000-0000354973d6","ReservedCode2":""}</vt:lpwstr>
  </property>
  <property fmtid="{D5CDD505-2E9C-101B-9397-08002B2CF9AE}" pid="3" name="KSOProductBuildVer">
    <vt:lpwstr>2052-12.1.0.24657</vt:lpwstr>
  </property>
  <property fmtid="{D5CDD505-2E9C-101B-9397-08002B2CF9AE}" pid="4" name="ICV">
    <vt:lpwstr>2081756BD67F4CF1819112BDE2C6DA6D_13</vt:lpwstr>
  </property>
</Properties>
</file>